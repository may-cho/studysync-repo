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76" r:id="rId4"/>
    <p:sldId id="277" r:id="rId5"/>
    <p:sldId id="278" r:id="rId6"/>
    <p:sldId id="300" r:id="rId7"/>
    <p:sldId id="299" r:id="rId8"/>
    <p:sldId id="301" r:id="rId9"/>
    <p:sldId id="280" r:id="rId10"/>
    <p:sldId id="279" r:id="rId11"/>
    <p:sldId id="281" r:id="rId12"/>
    <p:sldId id="282" r:id="rId13"/>
    <p:sldId id="283" r:id="rId14"/>
    <p:sldId id="284" r:id="rId15"/>
    <p:sldId id="292" r:id="rId16"/>
    <p:sldId id="291" r:id="rId17"/>
    <p:sldId id="293" r:id="rId18"/>
    <p:sldId id="294" r:id="rId19"/>
    <p:sldId id="290" r:id="rId20"/>
    <p:sldId id="295" r:id="rId21"/>
    <p:sldId id="296" r:id="rId22"/>
    <p:sldId id="297" r:id="rId23"/>
    <p:sldId id="298" r:id="rId24"/>
    <p:sldId id="289" r:id="rId25"/>
    <p:sldId id="259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061" autoAdjust="0"/>
  </p:normalViewPr>
  <p:slideViewPr>
    <p:cSldViewPr snapToGrid="0">
      <p:cViewPr varScale="1">
        <p:scale>
          <a:sx n="70" d="100"/>
          <a:sy n="70" d="100"/>
        </p:scale>
        <p:origin x="7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DE828-60DC-4C36-9BDD-B494D3B83F60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A45BED-A9DB-4516-92E7-E0840927E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8819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A45BED-A9DB-4516-92E7-E0840927ECC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6165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Pip is a package-management system written in python.</a:t>
            </a:r>
          </a:p>
          <a:p>
            <a:r>
              <a:rPr lang="en-US" dirty="0"/>
              <a:t>- To install and manage software packages.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A45BED-A9DB-4516-92E7-E0840927ECC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8192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To do that, press </a:t>
            </a:r>
            <a:r>
              <a:rPr lang="en-US" b="1" dirty="0" err="1">
                <a:solidFill>
                  <a:srgbClr val="FF0000"/>
                </a:solidFill>
              </a:rPr>
              <a:t>Ctrl+Alt+R</a:t>
            </a:r>
            <a:r>
              <a:rPr lang="en-US" dirty="0"/>
              <a:t> and type migrate followed by Enter in the </a:t>
            </a:r>
            <a:r>
              <a:rPr lang="en-US" b="1" i="1" dirty="0"/>
              <a:t>manage.py</a:t>
            </a:r>
            <a:r>
              <a:rPr lang="en-US" dirty="0"/>
              <a:t> console, that opens and run a migration as run the command </a:t>
            </a:r>
            <a:r>
              <a:rPr lang="en-US" i="1" dirty="0" err="1"/>
              <a:t>makemigrations</a:t>
            </a:r>
            <a:r>
              <a:rPr lang="en-US" i="1" dirty="0"/>
              <a:t> polls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A45BED-A9DB-4516-92E7-E0840927ECC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6521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baseline="0" dirty="0">
                <a:latin typeface="+mn-lt"/>
              </a:rPr>
              <a:t>Test Django Database Connection and Build Django Base Tables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A45BED-A9DB-4516-92E7-E0840927ECC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3911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http://127.0.0.1:8000/admin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A45BED-A9DB-4516-92E7-E0840927ECC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4750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A45BED-A9DB-4516-92E7-E0840927ECC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8314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A45BED-A9DB-4516-92E7-E0840927ECC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2310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As project grows, admin site can be a vital tool to administer the growing body of information in the database connected to a project.</a:t>
            </a:r>
          </a:p>
          <a:p>
            <a:r>
              <a:rPr lang="en-US" b="0" i="0" dirty="0">
                <a:solidFill>
                  <a:srgbClr val="202124"/>
                </a:solidFill>
                <a:effectLst/>
                <a:latin typeface="Helvetica Neue"/>
              </a:rPr>
              <a:t>CRUD is the acronym for </a:t>
            </a:r>
            <a:r>
              <a:rPr lang="en-US" b="0" i="0" dirty="0">
                <a:solidFill>
                  <a:srgbClr val="040C28"/>
                </a:solidFill>
                <a:effectLst/>
                <a:latin typeface="Helvetica Neue"/>
              </a:rPr>
              <a:t>CREATE, READ, UPDATE and DELETE</a:t>
            </a:r>
            <a:r>
              <a:rPr lang="en-US" b="0" i="0" dirty="0">
                <a:solidFill>
                  <a:srgbClr val="202124"/>
                </a:solidFill>
                <a:effectLst/>
                <a:latin typeface="Helvetica Neue"/>
              </a:rPr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A45BED-A9DB-4516-92E7-E0840927ECC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2793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9E55B-4E6A-48EF-BF9C-B9D00258BD7F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5CFCA-20EB-46DA-A746-B8DBBED35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816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9E55B-4E6A-48EF-BF9C-B9D00258BD7F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5CFCA-20EB-46DA-A746-B8DBBED35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457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9E55B-4E6A-48EF-BF9C-B9D00258BD7F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5CFCA-20EB-46DA-A746-B8DBBED35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3768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9E55B-4E6A-48EF-BF9C-B9D00258BD7F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5CFCA-20EB-46DA-A746-B8DBBED35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201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9E55B-4E6A-48EF-BF9C-B9D00258BD7F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5CFCA-20EB-46DA-A746-B8DBBED35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212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9E55B-4E6A-48EF-BF9C-B9D00258BD7F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5CFCA-20EB-46DA-A746-B8DBBED35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345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9E55B-4E6A-48EF-BF9C-B9D00258BD7F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5CFCA-20EB-46DA-A746-B8DBBED35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849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9E55B-4E6A-48EF-BF9C-B9D00258BD7F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5CFCA-20EB-46DA-A746-B8DBBED35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1352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9E55B-4E6A-48EF-BF9C-B9D00258BD7F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5CFCA-20EB-46DA-A746-B8DBBED35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1159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9E55B-4E6A-48EF-BF9C-B9D00258BD7F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5CFCA-20EB-46DA-A746-B8DBBED35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375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9E55B-4E6A-48EF-BF9C-B9D00258BD7F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5CFCA-20EB-46DA-A746-B8DBBED35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936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A9E55B-4E6A-48EF-BF9C-B9D00258BD7F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E5CFCA-20EB-46DA-A746-B8DBBED35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87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://127.0.0.1:8000/admin/" TargetMode="Externa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221592"/>
          </a:xfrm>
        </p:spPr>
        <p:txBody>
          <a:bodyPr>
            <a:normAutofit/>
          </a:bodyPr>
          <a:lstStyle/>
          <a:p>
            <a:r>
              <a:rPr lang="en-US" sz="4400" b="1" dirty="0">
                <a:latin typeface="+mn-lt"/>
              </a:rPr>
              <a:t>Setup Django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90255" y="5735637"/>
            <a:ext cx="9144000" cy="734923"/>
          </a:xfrm>
        </p:spPr>
        <p:txBody>
          <a:bodyPr>
            <a:normAutofit/>
          </a:bodyPr>
          <a:lstStyle/>
          <a:p>
            <a:r>
              <a:rPr lang="en-US" sz="3200" b="1" dirty="0"/>
              <a:t>University of Computer Studies, Yangon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E174E3-CB25-86C5-50A2-25AD0697D7D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228" y="517617"/>
            <a:ext cx="1214776" cy="1364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383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3696" y="244699"/>
            <a:ext cx="9144000" cy="901521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+mn-lt"/>
              </a:rPr>
              <a:t>Outlines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98489" y="1751527"/>
            <a:ext cx="10251583" cy="3760631"/>
          </a:xfrm>
        </p:spPr>
        <p:txBody>
          <a:bodyPr/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Set up a Database for a Django project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Set up Content: Understand URLs, Templates and Apps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Set up the Django admin site</a:t>
            </a:r>
          </a:p>
        </p:txBody>
      </p:sp>
    </p:spTree>
    <p:extLst>
      <p:ext uri="{BB962C8B-B14F-4D97-AF65-F5344CB8AC3E}">
        <p14:creationId xmlns:p14="http://schemas.microsoft.com/office/powerpoint/2010/main" val="15968317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3696" y="244699"/>
            <a:ext cx="9144000" cy="901521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+mn-lt"/>
              </a:rPr>
              <a:t>Install Python Database Packages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98489" y="1751527"/>
            <a:ext cx="10251583" cy="3760631"/>
          </a:xfrm>
        </p:spPr>
        <p:txBody>
          <a:bodyPr>
            <a:norm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To connect to a database in Django, it is necessary to install Python package to communicate with user database brand.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Each database relies on different packages, but installation process is straightforward with the pip package manager.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By default, PyCharm </a:t>
            </a:r>
            <a:r>
              <a:rPr lang="en-US" dirty="0">
                <a:solidFill>
                  <a:srgbClr val="FF0000"/>
                </a:solidFill>
              </a:rPr>
              <a:t>automatically creates an SQLite database for a Django project.</a:t>
            </a:r>
          </a:p>
        </p:txBody>
      </p:sp>
    </p:spTree>
    <p:extLst>
      <p:ext uri="{BB962C8B-B14F-4D97-AF65-F5344CB8AC3E}">
        <p14:creationId xmlns:p14="http://schemas.microsoft.com/office/powerpoint/2010/main" val="28586168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3696" y="244699"/>
            <a:ext cx="9144000" cy="901521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+mn-lt"/>
              </a:rPr>
              <a:t>Python Packages for Different Database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9359110"/>
              </p:ext>
            </p:extLst>
          </p:nvPr>
        </p:nvGraphicFramePr>
        <p:xfrm>
          <a:off x="1249251" y="2189406"/>
          <a:ext cx="8564451" cy="32358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48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48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48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7164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Python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pip installation syntax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164">
                <a:tc>
                  <a:txBody>
                    <a:bodyPr/>
                    <a:lstStyle/>
                    <a:p>
                      <a:r>
                        <a:rPr lang="en-US" dirty="0" err="1"/>
                        <a:t>PostgreSQL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psycopg2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pip install psycopg2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164">
                <a:tc>
                  <a:txBody>
                    <a:bodyPr/>
                    <a:lstStyle/>
                    <a:p>
                      <a:r>
                        <a:rPr lang="en-US" dirty="0"/>
                        <a:t>MySQL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mysql</a:t>
                      </a:r>
                      <a:r>
                        <a:rPr lang="en-US" dirty="0"/>
                        <a:t>-python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pip install </a:t>
                      </a:r>
                      <a:r>
                        <a:rPr lang="en-US" dirty="0" err="1"/>
                        <a:t>mysql</a:t>
                      </a:r>
                      <a:r>
                        <a:rPr lang="en-US" dirty="0"/>
                        <a:t>-python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164">
                <a:tc>
                  <a:txBody>
                    <a:bodyPr/>
                    <a:lstStyle/>
                    <a:p>
                      <a:r>
                        <a:rPr lang="fr-FR" dirty="0"/>
                        <a:t>Oracle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cx_Oracle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pip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install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cx_Oracle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7164">
                <a:tc>
                  <a:txBody>
                    <a:bodyPr/>
                    <a:lstStyle/>
                    <a:p>
                      <a:r>
                        <a:rPr lang="en-US" dirty="0"/>
                        <a:t>SQLite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Included with Python 2.5+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95310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3696" y="244699"/>
            <a:ext cx="9144000" cy="901521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+mn-lt"/>
              </a:rPr>
              <a:t>Creating a database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8498" y="1455313"/>
            <a:ext cx="10692882" cy="1474499"/>
          </a:xfrm>
        </p:spPr>
        <p:txBody>
          <a:bodyPr>
            <a:normAutofit/>
          </a:bodyPr>
          <a:lstStyle/>
          <a:p>
            <a:pPr marL="342900" indent="-342900" algn="just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Django configuration to connect to a database is done inside the </a:t>
            </a:r>
            <a:r>
              <a:rPr lang="en-US" dirty="0">
                <a:solidFill>
                  <a:schemeClr val="accent5"/>
                </a:solidFill>
              </a:rPr>
              <a:t>settting.py file </a:t>
            </a:r>
            <a:r>
              <a:rPr lang="en-US" dirty="0"/>
              <a:t>of a Django project in the DATABASES variable.</a:t>
            </a:r>
          </a:p>
          <a:p>
            <a:pPr algn="just">
              <a:lnSpc>
                <a:spcPct val="150000"/>
              </a:lnSpc>
            </a:pPr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FB7ED97-4B66-A503-8792-BEFD8206448D}"/>
              </a:ext>
            </a:extLst>
          </p:cNvPr>
          <p:cNvGrpSpPr/>
          <p:nvPr/>
        </p:nvGrpSpPr>
        <p:grpSpPr>
          <a:xfrm>
            <a:off x="2192694" y="3079364"/>
            <a:ext cx="6755363" cy="2323323"/>
            <a:chOff x="1035698" y="3004457"/>
            <a:chExt cx="6755363" cy="232332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58AA17F-976B-7AF5-DA83-4B3D2D0BFB57}"/>
                </a:ext>
              </a:extLst>
            </p:cNvPr>
            <p:cNvSpPr/>
            <p:nvPr/>
          </p:nvSpPr>
          <p:spPr>
            <a:xfrm>
              <a:off x="1035698" y="3004457"/>
              <a:ext cx="6755363" cy="232332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7D6D546-6A06-F94E-EB6C-E47C3DFBEEE5}"/>
                </a:ext>
              </a:extLst>
            </p:cNvPr>
            <p:cNvSpPr txBox="1"/>
            <p:nvPr/>
          </p:nvSpPr>
          <p:spPr>
            <a:xfrm>
              <a:off x="1632857" y="3238905"/>
              <a:ext cx="5859625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dirty="0">
                  <a:solidFill>
                    <a:srgbClr val="080808"/>
                  </a:solidFill>
                  <a:effectLst/>
                  <a:latin typeface="JetBrains Mono"/>
                </a:rPr>
                <a:t>DATABASES = {</a:t>
              </a:r>
              <a:br>
                <a:rPr lang="en-US" sz="1800" dirty="0">
                  <a:solidFill>
                    <a:srgbClr val="080808"/>
                  </a:solidFill>
                  <a:effectLst/>
                  <a:latin typeface="JetBrains Mono"/>
                </a:rPr>
              </a:br>
              <a:r>
                <a:rPr lang="en-US" sz="1800" dirty="0">
                  <a:solidFill>
                    <a:srgbClr val="080808"/>
                  </a:solidFill>
                  <a:effectLst/>
                  <a:latin typeface="JetBrains Mono"/>
                </a:rPr>
                <a:t>    </a:t>
              </a:r>
              <a:r>
                <a:rPr lang="en-US" sz="1800" dirty="0">
                  <a:solidFill>
                    <a:srgbClr val="067D17"/>
                  </a:solidFill>
                  <a:effectLst/>
                  <a:latin typeface="JetBrains Mono"/>
                </a:rPr>
                <a:t>'default'</a:t>
              </a:r>
              <a:r>
                <a:rPr lang="en-US" sz="1800" dirty="0">
                  <a:solidFill>
                    <a:srgbClr val="080808"/>
                  </a:solidFill>
                  <a:effectLst/>
                  <a:latin typeface="JetBrains Mono"/>
                </a:rPr>
                <a:t>: {</a:t>
              </a:r>
              <a:br>
                <a:rPr lang="en-US" sz="1800" dirty="0">
                  <a:solidFill>
                    <a:srgbClr val="080808"/>
                  </a:solidFill>
                  <a:effectLst/>
                  <a:latin typeface="JetBrains Mono"/>
                </a:rPr>
              </a:br>
              <a:r>
                <a:rPr lang="en-US" sz="1800" dirty="0">
                  <a:solidFill>
                    <a:srgbClr val="080808"/>
                  </a:solidFill>
                  <a:effectLst/>
                  <a:latin typeface="JetBrains Mono"/>
                </a:rPr>
                <a:t>        </a:t>
              </a:r>
              <a:r>
                <a:rPr lang="en-US" sz="1800" dirty="0">
                  <a:solidFill>
                    <a:srgbClr val="067D17"/>
                  </a:solidFill>
                  <a:effectLst/>
                  <a:latin typeface="JetBrains Mono"/>
                </a:rPr>
                <a:t>'ENGINE'</a:t>
              </a:r>
              <a:r>
                <a:rPr lang="en-US" sz="1800" dirty="0">
                  <a:solidFill>
                    <a:srgbClr val="080808"/>
                  </a:solidFill>
                  <a:effectLst/>
                  <a:latin typeface="JetBrains Mono"/>
                </a:rPr>
                <a:t>: </a:t>
              </a:r>
              <a:r>
                <a:rPr lang="en-US" sz="1800" dirty="0">
                  <a:solidFill>
                    <a:srgbClr val="067D17"/>
                  </a:solidFill>
                  <a:effectLst/>
                  <a:latin typeface="JetBrains Mono"/>
                </a:rPr>
                <a:t>'django.db.backends.sqlite3'</a:t>
              </a:r>
              <a:r>
                <a:rPr lang="en-US" sz="1800" dirty="0">
                  <a:solidFill>
                    <a:srgbClr val="080808"/>
                  </a:solidFill>
                  <a:effectLst/>
                  <a:latin typeface="JetBrains Mono"/>
                </a:rPr>
                <a:t>,</a:t>
              </a:r>
              <a:br>
                <a:rPr lang="en-US" sz="1800" dirty="0">
                  <a:solidFill>
                    <a:srgbClr val="080808"/>
                  </a:solidFill>
                  <a:effectLst/>
                  <a:latin typeface="JetBrains Mono"/>
                </a:rPr>
              </a:br>
              <a:r>
                <a:rPr lang="en-US" sz="1800" dirty="0">
                  <a:solidFill>
                    <a:srgbClr val="080808"/>
                  </a:solidFill>
                  <a:effectLst/>
                  <a:latin typeface="JetBrains Mono"/>
                </a:rPr>
                <a:t>        </a:t>
              </a:r>
              <a:r>
                <a:rPr lang="en-US" sz="1800" dirty="0">
                  <a:solidFill>
                    <a:srgbClr val="067D17"/>
                  </a:solidFill>
                  <a:effectLst/>
                  <a:latin typeface="JetBrains Mono"/>
                </a:rPr>
                <a:t>'NAME'</a:t>
              </a:r>
              <a:r>
                <a:rPr lang="en-US" sz="1800" dirty="0">
                  <a:solidFill>
                    <a:srgbClr val="080808"/>
                  </a:solidFill>
                  <a:effectLst/>
                  <a:latin typeface="JetBrains Mono"/>
                </a:rPr>
                <a:t>: BASE_DIR / </a:t>
              </a:r>
              <a:r>
                <a:rPr lang="en-US" sz="1800" dirty="0">
                  <a:solidFill>
                    <a:srgbClr val="067D17"/>
                  </a:solidFill>
                  <a:effectLst/>
                  <a:latin typeface="JetBrains Mono"/>
                </a:rPr>
                <a:t>'db.sqlite3'</a:t>
              </a:r>
              <a:r>
                <a:rPr lang="en-US" sz="1800" dirty="0">
                  <a:solidFill>
                    <a:srgbClr val="080808"/>
                  </a:solidFill>
                  <a:effectLst/>
                  <a:latin typeface="JetBrains Mono"/>
                </a:rPr>
                <a:t>,</a:t>
              </a:r>
              <a:br>
                <a:rPr lang="en-US" sz="1800" dirty="0">
                  <a:solidFill>
                    <a:srgbClr val="080808"/>
                  </a:solidFill>
                  <a:effectLst/>
                  <a:latin typeface="JetBrains Mono"/>
                </a:rPr>
              </a:br>
              <a:r>
                <a:rPr lang="en-US" sz="1800" dirty="0">
                  <a:solidFill>
                    <a:srgbClr val="080808"/>
                  </a:solidFill>
                  <a:effectLst/>
                  <a:latin typeface="JetBrains Mono"/>
                </a:rPr>
                <a:t>    }</a:t>
              </a:r>
              <a:br>
                <a:rPr lang="en-US" sz="1800" dirty="0">
                  <a:solidFill>
                    <a:srgbClr val="080808"/>
                  </a:solidFill>
                  <a:effectLst/>
                  <a:latin typeface="JetBrains Mono"/>
                </a:rPr>
              </a:br>
              <a:r>
                <a:rPr lang="en-US" sz="1800" dirty="0">
                  <a:solidFill>
                    <a:srgbClr val="080808"/>
                  </a:solidFill>
                  <a:effectLst/>
                  <a:latin typeface="JetBrains Mono"/>
                </a:rPr>
                <a:t>}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914631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3696" y="244699"/>
            <a:ext cx="9144000" cy="901521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+mn-lt"/>
              </a:rPr>
              <a:t>Creating a database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3812" y="1492636"/>
            <a:ext cx="10636898" cy="1474499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0" i="0" u="none" strike="noStrike" baseline="0" dirty="0"/>
              <a:t>ENGINE and NAME</a:t>
            </a:r>
            <a:r>
              <a:rPr lang="en-US" dirty="0"/>
              <a:t> </a:t>
            </a:r>
            <a:r>
              <a:rPr lang="en-US" b="0" i="0" u="none" strike="noStrike" baseline="0" dirty="0"/>
              <a:t>which represent a database engine (i.e., brand) and the name of the database instance, respectively.</a:t>
            </a:r>
            <a:endParaRPr lang="en-US" b="0" i="1" u="none" strike="noStrike" baseline="0" dirty="0"/>
          </a:p>
          <a:p>
            <a:pPr marL="342900" indent="-342900" algn="just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b="0" i="1" u="none" strike="noStrike" baseline="0" dirty="0"/>
              <a:t>Django ENGINE value for different databases.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26332E4-36F2-CEC3-6C89-72BC9D81510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5828"/>
          <a:stretch/>
        </p:blipFill>
        <p:spPr>
          <a:xfrm>
            <a:off x="1381106" y="3357809"/>
            <a:ext cx="7856200" cy="2726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3965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3695" y="244699"/>
            <a:ext cx="9395839" cy="901521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+mn-lt"/>
              </a:rPr>
              <a:t>Creating a database with SQLite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8539" y="1455313"/>
            <a:ext cx="11206065" cy="5293217"/>
          </a:xfrm>
        </p:spPr>
        <p:txBody>
          <a:bodyPr>
            <a:norm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One of the most common tasks that can do right now to test a database connection is to </a:t>
            </a:r>
            <a:r>
              <a:rPr lang="en-US" dirty="0">
                <a:solidFill>
                  <a:srgbClr val="FF0000"/>
                </a:solidFill>
              </a:rPr>
              <a:t>migrate the project’s data structures to the database</a:t>
            </a:r>
            <a:r>
              <a:rPr lang="en-US" dirty="0"/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Django database migration process ensures all Django project logic associated with a database is reflected in the database itself.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When you start a Django project, there are a series of migrations Django requires that create tables to keep track of administrators and sessions.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2269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6211" y="425560"/>
            <a:ext cx="10590720" cy="1118228"/>
          </a:xfrm>
        </p:spPr>
        <p:txBody>
          <a:bodyPr anchor="ctr" anchorCtr="0">
            <a:noAutofit/>
          </a:bodyPr>
          <a:lstStyle/>
          <a:p>
            <a:r>
              <a:rPr lang="en-US" sz="4200" dirty="0">
                <a:latin typeface="+mn-lt"/>
              </a:rPr>
              <a:t>Connect </a:t>
            </a:r>
            <a:r>
              <a:rPr lang="en-US" sz="4200" b="0" i="0" u="none" strike="noStrike" baseline="0" dirty="0">
                <a:latin typeface="+mn-lt"/>
              </a:rPr>
              <a:t>Django Database</a:t>
            </a:r>
            <a:endParaRPr lang="en-US" sz="4200" dirty="0"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46985" y="1719729"/>
            <a:ext cx="5275384" cy="2514203"/>
          </a:xfrm>
        </p:spPr>
        <p:txBody>
          <a:bodyPr>
            <a:normAutofit fontScale="92500" lnSpcReduction="10000"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If </a:t>
            </a:r>
            <a:r>
              <a:rPr lang="en-US" b="0" i="0" u="none" strike="noStrike" baseline="0" dirty="0"/>
              <a:t>connection to the database is successful, Django applies a series of migrations that create database tables to manage users, groups, permissions, and sessions for a project.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A25B14-1ACD-7E5A-1329-AE4055F1A0D7}"/>
              </a:ext>
            </a:extLst>
          </p:cNvPr>
          <p:cNvSpPr txBox="1"/>
          <p:nvPr/>
        </p:nvSpPr>
        <p:spPr>
          <a:xfrm>
            <a:off x="381450" y="1719729"/>
            <a:ext cx="68878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[</a:t>
            </a:r>
            <a:r>
              <a:rPr lang="en-US" sz="2400" dirty="0" err="1"/>
              <a:t>user@ucsy</a:t>
            </a:r>
            <a:r>
              <a:rPr lang="en-US" sz="2400" dirty="0"/>
              <a:t> ~]$ </a:t>
            </a:r>
            <a:r>
              <a:rPr lang="en-US" sz="2400" dirty="0">
                <a:solidFill>
                  <a:schemeClr val="accent5"/>
                </a:solidFill>
              </a:rPr>
              <a:t>python manage.py migrate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D608BE-C2F1-0503-B390-83F68086C36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13"/>
          <a:stretch/>
        </p:blipFill>
        <p:spPr>
          <a:xfrm>
            <a:off x="649756" y="2754924"/>
            <a:ext cx="5258080" cy="3573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9548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3696" y="244699"/>
            <a:ext cx="9144000" cy="901521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+mn-lt"/>
              </a:rPr>
              <a:t>Creating a database with SQLite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1820" y="1455314"/>
            <a:ext cx="11835684" cy="1893194"/>
          </a:xfrm>
        </p:spPr>
        <p:txBody>
          <a:bodyPr>
            <a:norm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Migrations are human-editable files, in which Django stores changes to data models.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To apply changes and create tables in the database for the two new models, run the migrate command again: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458" y="3515932"/>
            <a:ext cx="11389403" cy="291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3957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82333" y="180306"/>
            <a:ext cx="9144000" cy="901521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+mn-lt"/>
              </a:rPr>
              <a:t>Creating a database with SQLite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6316" y="1268570"/>
            <a:ext cx="11835684" cy="746974"/>
          </a:xfrm>
        </p:spPr>
        <p:txBody>
          <a:bodyPr>
            <a:norm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polls/migrations directory now contains the migration file 0001_initial.py: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2870" y="2045662"/>
            <a:ext cx="4095482" cy="4632032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0481282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3696" y="244699"/>
            <a:ext cx="10105622" cy="901521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+mn-lt"/>
              </a:rPr>
              <a:t>Set Up Content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5636" y="1287887"/>
            <a:ext cx="11430000" cy="5293217"/>
          </a:xfrm>
        </p:spPr>
        <p:txBody>
          <a:bodyPr>
            <a:norm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Content in Django projects works with three major building blocks:</a:t>
            </a:r>
            <a:r>
              <a:rPr lang="en-US" dirty="0">
                <a:solidFill>
                  <a:schemeClr val="accent5"/>
                </a:solidFill>
              </a:rPr>
              <a:t> </a:t>
            </a:r>
            <a:r>
              <a:rPr lang="en-US" dirty="0" err="1">
                <a:solidFill>
                  <a:schemeClr val="accent5"/>
                </a:solidFill>
              </a:rPr>
              <a:t>urls</a:t>
            </a:r>
            <a:r>
              <a:rPr lang="en-US" dirty="0">
                <a:solidFill>
                  <a:schemeClr val="accent5"/>
                </a:solidFill>
              </a:rPr>
              <a:t>, templates, and apps.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Create and configure Django </a:t>
            </a:r>
            <a:r>
              <a:rPr lang="en-US" dirty="0" err="1"/>
              <a:t>urls</a:t>
            </a:r>
            <a:r>
              <a:rPr lang="en-US" dirty="0"/>
              <a:t>, templates, and apps separately, which is part of </a:t>
            </a:r>
            <a:r>
              <a:rPr lang="en-US" dirty="0" err="1"/>
              <a:t>Django’s</a:t>
            </a:r>
            <a:r>
              <a:rPr lang="en-US" dirty="0"/>
              <a:t> loosely coupled architecture design principles.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/>
              <a:t>Urls</a:t>
            </a:r>
            <a:r>
              <a:rPr lang="en-US" dirty="0"/>
              <a:t> define the entry points or where to access content.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Templates</a:t>
            </a:r>
            <a:r>
              <a:rPr lang="en-US" dirty="0"/>
              <a:t> define the end points that give form to the final content.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Apps</a:t>
            </a:r>
            <a:r>
              <a:rPr lang="en-US" dirty="0"/>
              <a:t> serve as the middleware between </a:t>
            </a:r>
            <a:r>
              <a:rPr lang="en-US" dirty="0" err="1"/>
              <a:t>urls</a:t>
            </a:r>
            <a:r>
              <a:rPr lang="en-US" dirty="0"/>
              <a:t> and templates, altering or adding content from a database or user interactions.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14256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3696" y="535644"/>
            <a:ext cx="10105622" cy="901521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+mn-lt"/>
              </a:rPr>
              <a:t>Static Content </a:t>
            </a:r>
            <a:r>
              <a:rPr lang="en-US" sz="4400" dirty="0" err="1">
                <a:latin typeface="+mn-lt"/>
              </a:rPr>
              <a:t>Vs</a:t>
            </a:r>
            <a:r>
              <a:rPr lang="en-US" sz="4400" dirty="0">
                <a:latin typeface="+mn-lt"/>
              </a:rPr>
              <a:t> Dynamic Content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4464" y="1874171"/>
            <a:ext cx="11222182" cy="2537138"/>
          </a:xfrm>
        </p:spPr>
        <p:txBody>
          <a:bodyPr>
            <a:norm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To run static content you only need to create and configure Django </a:t>
            </a:r>
            <a:r>
              <a:rPr lang="en-US" dirty="0" err="1"/>
              <a:t>urls</a:t>
            </a:r>
            <a:r>
              <a:rPr lang="en-US" dirty="0"/>
              <a:t> and templates.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To run dynamic content - built from a database or user interactions - you need to create and configure Django apps, in addition to </a:t>
            </a:r>
            <a:r>
              <a:rPr lang="en-US" dirty="0" err="1"/>
              <a:t>urls</a:t>
            </a:r>
            <a:r>
              <a:rPr lang="en-US" dirty="0"/>
              <a:t> and templates.</a:t>
            </a:r>
          </a:p>
          <a:p>
            <a:pPr algn="just"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52420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3696" y="244699"/>
            <a:ext cx="10105622" cy="901521"/>
          </a:xfrm>
        </p:spPr>
        <p:txBody>
          <a:bodyPr>
            <a:normAutofit fontScale="90000"/>
          </a:bodyPr>
          <a:lstStyle/>
          <a:p>
            <a:br>
              <a:rPr lang="en-US" sz="4400" dirty="0">
                <a:latin typeface="+mn-lt"/>
              </a:rPr>
            </a:br>
            <a:br>
              <a:rPr lang="en-US" sz="4400" dirty="0">
                <a:latin typeface="+mn-lt"/>
              </a:rPr>
            </a:br>
            <a:br>
              <a:rPr lang="en-US" sz="4400" dirty="0">
                <a:latin typeface="+mn-lt"/>
              </a:rPr>
            </a:br>
            <a:br>
              <a:rPr lang="en-US" sz="4400" dirty="0">
                <a:latin typeface="+mn-lt"/>
              </a:rPr>
            </a:br>
            <a:br>
              <a:rPr lang="en-US" sz="4400" dirty="0">
                <a:latin typeface="+mn-lt"/>
              </a:rPr>
            </a:br>
            <a:r>
              <a:rPr lang="en-US" sz="4400" dirty="0">
                <a:latin typeface="+mn-lt"/>
              </a:rPr>
              <a:t>Django workflow for </a:t>
            </a:r>
            <a:r>
              <a:rPr lang="en-US" sz="4400" dirty="0" err="1">
                <a:latin typeface="+mn-lt"/>
              </a:rPr>
              <a:t>urls</a:t>
            </a:r>
            <a:r>
              <a:rPr lang="en-US" sz="4400" dirty="0">
                <a:latin typeface="+mn-lt"/>
              </a:rPr>
              <a:t>, templates, and apps</a:t>
            </a:r>
            <a:br>
              <a:rPr lang="en-US" sz="4400" dirty="0">
                <a:latin typeface="+mn-lt"/>
              </a:rPr>
            </a:br>
            <a:br>
              <a:rPr lang="en-US" sz="4400" dirty="0">
                <a:latin typeface="+mn-lt"/>
              </a:rPr>
            </a:br>
            <a:br>
              <a:rPr lang="en-US" sz="4400" dirty="0">
                <a:latin typeface="+mn-lt"/>
              </a:rPr>
            </a:br>
            <a:br>
              <a:rPr lang="en-US" sz="4400" dirty="0">
                <a:latin typeface="+mn-lt"/>
              </a:rPr>
            </a:br>
            <a:br>
              <a:rPr lang="en-US" sz="4400" dirty="0">
                <a:latin typeface="+mn-lt"/>
              </a:rPr>
            </a:br>
            <a:br>
              <a:rPr lang="en-US" sz="4400" dirty="0">
                <a:latin typeface="+mn-lt"/>
              </a:rPr>
            </a:br>
            <a:br>
              <a:rPr lang="en-US" sz="4400" dirty="0">
                <a:latin typeface="+mn-lt"/>
              </a:rPr>
            </a:br>
            <a:br>
              <a:rPr lang="en-US" sz="4400" dirty="0">
                <a:latin typeface="+mn-lt"/>
              </a:rPr>
            </a:br>
            <a:br>
              <a:rPr lang="en-US" sz="4400" dirty="0">
                <a:latin typeface="+mn-lt"/>
              </a:rPr>
            </a:br>
            <a:br>
              <a:rPr lang="en-US" sz="4400" dirty="0">
                <a:latin typeface="+mn-lt"/>
              </a:rPr>
            </a:br>
            <a:r>
              <a:rPr lang="en-US" sz="4400" dirty="0">
                <a:latin typeface="+mn-lt"/>
              </a:rPr>
              <a:t>Django workflows for </a:t>
            </a:r>
            <a:r>
              <a:rPr lang="en-US" sz="4400" dirty="0" err="1">
                <a:latin typeface="+mn-lt"/>
              </a:rPr>
              <a:t>Urls</a:t>
            </a:r>
            <a:r>
              <a:rPr lang="en-US" sz="4400" dirty="0">
                <a:latin typeface="+mn-lt"/>
              </a:rPr>
              <a:t>, Templates, and Apps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C4C327-C30B-5319-55AF-A996EB6CA66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986" b="1639"/>
          <a:stretch/>
        </p:blipFill>
        <p:spPr>
          <a:xfrm>
            <a:off x="1683977" y="1177393"/>
            <a:ext cx="8969517" cy="5538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9310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3696" y="244699"/>
            <a:ext cx="10105622" cy="901521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+mn-lt"/>
              </a:rPr>
              <a:t>Create and Configure Django </a:t>
            </a:r>
            <a:r>
              <a:rPr lang="en-US" sz="4400" dirty="0" err="1">
                <a:latin typeface="+mn-lt"/>
              </a:rPr>
              <a:t>Urls</a:t>
            </a:r>
            <a:endParaRPr lang="en-US" sz="4400" dirty="0"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5835" y="1283588"/>
            <a:ext cx="10668000" cy="2238777"/>
          </a:xfrm>
        </p:spPr>
        <p:txBody>
          <a:bodyPr>
            <a:no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Since Django is a web application framework, it gets user </a:t>
            </a:r>
            <a:r>
              <a:rPr lang="en-US" sz="2200" b="1" dirty="0"/>
              <a:t>requests</a:t>
            </a:r>
            <a:r>
              <a:rPr lang="en-US" sz="2200" dirty="0"/>
              <a:t> by URL locater and </a:t>
            </a:r>
            <a:r>
              <a:rPr lang="en-US" sz="2200" b="1" dirty="0"/>
              <a:t>responds</a:t>
            </a:r>
            <a:r>
              <a:rPr lang="en-US" sz="2200" dirty="0"/>
              <a:t> back.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 To handle URL, </a:t>
            </a:r>
            <a:r>
              <a:rPr lang="en-US" sz="2200" b="1" dirty="0" err="1">
                <a:solidFill>
                  <a:srgbClr val="FF0000"/>
                </a:solidFill>
              </a:rPr>
              <a:t>django.urls</a:t>
            </a:r>
            <a:r>
              <a:rPr lang="en-US" sz="2200" b="1" dirty="0">
                <a:solidFill>
                  <a:srgbClr val="FF0000"/>
                </a:solidFill>
              </a:rPr>
              <a:t> </a:t>
            </a:r>
            <a:r>
              <a:rPr lang="en-US" sz="2200" dirty="0"/>
              <a:t>module is used by the framework.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The main entry point for Django </a:t>
            </a:r>
            <a:r>
              <a:rPr lang="en-US" sz="2200" dirty="0" err="1"/>
              <a:t>urls</a:t>
            </a:r>
            <a:r>
              <a:rPr lang="en-US" sz="2200" dirty="0"/>
              <a:t> is the </a:t>
            </a:r>
            <a:r>
              <a:rPr lang="en-US" sz="2200" b="1" i="1" dirty="0"/>
              <a:t>urls.py</a:t>
            </a:r>
            <a:r>
              <a:rPr lang="en-US" sz="2200" dirty="0"/>
              <a:t> file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20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E7CA337-41AD-DE22-F0ED-3135CB6D2CFD}"/>
              </a:ext>
            </a:extLst>
          </p:cNvPr>
          <p:cNvGrpSpPr/>
          <p:nvPr/>
        </p:nvGrpSpPr>
        <p:grpSpPr>
          <a:xfrm>
            <a:off x="1343696" y="3659733"/>
            <a:ext cx="8688450" cy="3184356"/>
            <a:chOff x="973015" y="3798277"/>
            <a:chExt cx="8688450" cy="3184356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3B0FE83-0B84-1E10-7B79-58006425FD12}"/>
                </a:ext>
              </a:extLst>
            </p:cNvPr>
            <p:cNvSpPr txBox="1"/>
            <p:nvPr/>
          </p:nvSpPr>
          <p:spPr>
            <a:xfrm>
              <a:off x="1789173" y="3935645"/>
              <a:ext cx="7675807" cy="30469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0033B3"/>
                  </a:solidFill>
                  <a:effectLst/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from </a:t>
              </a:r>
              <a:r>
                <a:rPr lang="en-US" sz="1600" dirty="0" err="1">
                  <a:solidFill>
                    <a:srgbClr val="080808"/>
                  </a:solidFill>
                  <a:effectLst/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django.contrib</a:t>
              </a:r>
              <a:r>
                <a:rPr lang="en-US" sz="1600" dirty="0">
                  <a:solidFill>
                    <a:srgbClr val="080808"/>
                  </a:solidFill>
                  <a:effectLst/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</a:t>
              </a:r>
              <a:r>
                <a:rPr lang="en-US" sz="1600" dirty="0">
                  <a:solidFill>
                    <a:srgbClr val="0033B3"/>
                  </a:solidFill>
                  <a:effectLst/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import </a:t>
              </a:r>
              <a:r>
                <a:rPr lang="en-US" sz="1600" dirty="0">
                  <a:solidFill>
                    <a:srgbClr val="080808"/>
                  </a:solidFill>
                  <a:effectLst/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admin</a:t>
              </a:r>
              <a:br>
                <a:rPr lang="en-US" sz="1600" dirty="0">
                  <a:solidFill>
                    <a:srgbClr val="080808"/>
                  </a:solidFill>
                  <a:effectLst/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</a:br>
              <a:r>
                <a:rPr lang="en-US" sz="1600" dirty="0">
                  <a:solidFill>
                    <a:srgbClr val="0033B3"/>
                  </a:solidFill>
                  <a:effectLst/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from </a:t>
              </a:r>
              <a:r>
                <a:rPr lang="en-US" sz="1600" b="1" dirty="0" err="1">
                  <a:solidFill>
                    <a:srgbClr val="FF0000"/>
                  </a:solidFill>
                  <a:effectLst/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django.urls</a:t>
              </a:r>
              <a:r>
                <a:rPr lang="en-US" sz="1600" b="1" dirty="0">
                  <a:solidFill>
                    <a:srgbClr val="FF0000"/>
                  </a:solidFill>
                  <a:effectLst/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</a:t>
              </a:r>
              <a:r>
                <a:rPr lang="en-US" sz="1600" dirty="0">
                  <a:solidFill>
                    <a:srgbClr val="0033B3"/>
                  </a:solidFill>
                  <a:effectLst/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import </a:t>
              </a:r>
              <a:r>
                <a:rPr lang="en-US" sz="1600" dirty="0">
                  <a:solidFill>
                    <a:srgbClr val="080808"/>
                  </a:solidFill>
                  <a:effectLst/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path</a:t>
              </a:r>
              <a:br>
                <a:rPr lang="en-US" sz="1600" dirty="0">
                  <a:solidFill>
                    <a:srgbClr val="080808"/>
                  </a:solidFill>
                  <a:effectLst/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</a:br>
              <a:r>
                <a:rPr lang="en-US" sz="1600" dirty="0">
                  <a:solidFill>
                    <a:srgbClr val="0033B3"/>
                  </a:solidFill>
                  <a:effectLst/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from </a:t>
              </a:r>
              <a:r>
                <a:rPr lang="en-US" sz="1600" dirty="0" err="1">
                  <a:solidFill>
                    <a:srgbClr val="080808"/>
                  </a:solidFill>
                  <a:effectLst/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django.views.generic</a:t>
              </a:r>
              <a:r>
                <a:rPr lang="en-US" sz="1600" dirty="0">
                  <a:solidFill>
                    <a:srgbClr val="080808"/>
                  </a:solidFill>
                  <a:effectLst/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</a:t>
              </a:r>
              <a:r>
                <a:rPr lang="en-US" sz="1600" dirty="0">
                  <a:solidFill>
                    <a:srgbClr val="0033B3"/>
                  </a:solidFill>
                  <a:effectLst/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import </a:t>
              </a:r>
              <a:r>
                <a:rPr lang="en-US" sz="1600" dirty="0" err="1">
                  <a:solidFill>
                    <a:srgbClr val="080808"/>
                  </a:solidFill>
                  <a:effectLst/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TemplateView</a:t>
              </a:r>
              <a:br>
                <a:rPr lang="en-US" sz="1600" dirty="0">
                  <a:solidFill>
                    <a:srgbClr val="080808"/>
                  </a:solidFill>
                  <a:effectLst/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</a:br>
              <a:endParaRPr lang="en-US" sz="1600" dirty="0">
                <a:solidFill>
                  <a:srgbClr val="080808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  <a:p>
              <a:r>
                <a:rPr lang="en-US" sz="1600" dirty="0">
                  <a:solidFill>
                    <a:srgbClr val="080808"/>
                  </a:solidFill>
                  <a:effectLst/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...</a:t>
              </a:r>
              <a:br>
                <a:rPr lang="en-US" sz="1600" dirty="0">
                  <a:solidFill>
                    <a:srgbClr val="080808"/>
                  </a:solidFill>
                  <a:effectLst/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</a:br>
              <a:r>
                <a:rPr lang="en-US" sz="1600" dirty="0">
                  <a:solidFill>
                    <a:srgbClr val="080808"/>
                  </a:solidFill>
                  <a:effectLst/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...</a:t>
              </a:r>
            </a:p>
            <a:p>
              <a:br>
                <a:rPr lang="en-US" sz="1600" dirty="0">
                  <a:solidFill>
                    <a:srgbClr val="080808"/>
                  </a:solidFill>
                  <a:effectLst/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</a:br>
              <a:r>
                <a:rPr lang="en-US" sz="1600" dirty="0" err="1">
                  <a:solidFill>
                    <a:srgbClr val="080808"/>
                  </a:solidFill>
                  <a:effectLst/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urlpatterns</a:t>
              </a:r>
              <a:r>
                <a:rPr lang="en-US" sz="1600" dirty="0">
                  <a:solidFill>
                    <a:srgbClr val="080808"/>
                  </a:solidFill>
                  <a:effectLst/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= [</a:t>
              </a:r>
              <a:br>
                <a:rPr lang="en-US" sz="1600" dirty="0">
                  <a:solidFill>
                    <a:srgbClr val="080808"/>
                  </a:solidFill>
                  <a:effectLst/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</a:br>
              <a:r>
                <a:rPr lang="en-US" sz="1600" dirty="0">
                  <a:solidFill>
                    <a:srgbClr val="080808"/>
                  </a:solidFill>
                  <a:effectLst/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   path(</a:t>
              </a:r>
              <a:r>
                <a:rPr lang="en-US" sz="1600" dirty="0">
                  <a:solidFill>
                    <a:srgbClr val="067D17"/>
                  </a:solidFill>
                  <a:effectLst/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'admin/'</a:t>
              </a:r>
              <a:r>
                <a:rPr lang="en-US" sz="1600" dirty="0">
                  <a:solidFill>
                    <a:srgbClr val="080808"/>
                  </a:solidFill>
                  <a:effectLst/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, </a:t>
              </a:r>
              <a:r>
                <a:rPr lang="en-US" sz="1600" dirty="0" err="1">
                  <a:solidFill>
                    <a:srgbClr val="080808"/>
                  </a:solidFill>
                  <a:effectLst/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admin.site.urls</a:t>
              </a:r>
              <a:r>
                <a:rPr lang="en-US" sz="1600" dirty="0">
                  <a:solidFill>
                    <a:srgbClr val="080808"/>
                  </a:solidFill>
                  <a:effectLst/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),</a:t>
              </a:r>
              <a:br>
                <a:rPr lang="en-US" sz="1600" dirty="0">
                  <a:solidFill>
                    <a:srgbClr val="080808"/>
                  </a:solidFill>
                  <a:effectLst/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</a:br>
              <a:r>
                <a:rPr lang="en-US" sz="1600" dirty="0">
                  <a:solidFill>
                    <a:srgbClr val="080808"/>
                  </a:solidFill>
                  <a:effectLst/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   path(</a:t>
              </a:r>
              <a:r>
                <a:rPr lang="en-US" sz="1600" dirty="0">
                  <a:solidFill>
                    <a:srgbClr val="067D17"/>
                  </a:solidFill>
                  <a:effectLst/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''</a:t>
              </a:r>
              <a:r>
                <a:rPr lang="en-US" sz="1600" dirty="0">
                  <a:solidFill>
                    <a:srgbClr val="080808"/>
                  </a:solidFill>
                  <a:effectLst/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,</a:t>
              </a:r>
              <a:r>
                <a:rPr lang="en-US" sz="1600" dirty="0" err="1">
                  <a:solidFill>
                    <a:srgbClr val="080808"/>
                  </a:solidFill>
                  <a:effectLst/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TemplateView.as_view</a:t>
              </a:r>
              <a:r>
                <a:rPr lang="en-US" sz="1600" dirty="0">
                  <a:solidFill>
                    <a:srgbClr val="080808"/>
                  </a:solidFill>
                  <a:effectLst/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(</a:t>
              </a:r>
              <a:r>
                <a:rPr lang="en-US" sz="1600" dirty="0" err="1">
                  <a:solidFill>
                    <a:srgbClr val="660099"/>
                  </a:solidFill>
                  <a:effectLst/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template_name</a:t>
              </a:r>
              <a:r>
                <a:rPr lang="en-US" sz="1600" dirty="0">
                  <a:solidFill>
                    <a:srgbClr val="080808"/>
                  </a:solidFill>
                  <a:effectLst/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=</a:t>
              </a:r>
              <a:r>
                <a:rPr lang="en-US" sz="1600" dirty="0">
                  <a:solidFill>
                    <a:srgbClr val="067D17"/>
                  </a:solidFill>
                  <a:effectLst/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'home.html'</a:t>
              </a:r>
              <a:r>
                <a:rPr lang="en-US" sz="1600" dirty="0">
                  <a:solidFill>
                    <a:srgbClr val="080808"/>
                  </a:solidFill>
                  <a:effectLst/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)),</a:t>
              </a:r>
              <a:br>
                <a:rPr lang="en-US" sz="1600" dirty="0">
                  <a:solidFill>
                    <a:srgbClr val="080808"/>
                  </a:solidFill>
                  <a:effectLst/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</a:br>
              <a:r>
                <a:rPr lang="en-US" sz="1600" dirty="0">
                  <a:solidFill>
                    <a:srgbClr val="080808"/>
                  </a:solidFill>
                  <a:effectLst/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]</a:t>
              </a:r>
            </a:p>
            <a:p>
              <a:endParaRPr lang="en-US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3F443FC-F0F6-A63C-D784-2B9A494D064C}"/>
                </a:ext>
              </a:extLst>
            </p:cNvPr>
            <p:cNvSpPr/>
            <p:nvPr/>
          </p:nvSpPr>
          <p:spPr>
            <a:xfrm>
              <a:off x="973015" y="3798277"/>
              <a:ext cx="8688450" cy="295356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556649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3696" y="244699"/>
            <a:ext cx="10105622" cy="901521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+mn-lt"/>
              </a:rPr>
              <a:t>Create and Configure Django </a:t>
            </a:r>
            <a:r>
              <a:rPr lang="en-US" sz="4400" dirty="0" err="1">
                <a:latin typeface="+mn-lt"/>
              </a:rPr>
              <a:t>Urls</a:t>
            </a:r>
            <a:r>
              <a:rPr lang="en-US" sz="4400" dirty="0">
                <a:latin typeface="+mn-lt"/>
              </a:rPr>
              <a:t>(Cont’d)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5245" y="1287887"/>
            <a:ext cx="11450782" cy="5293217"/>
          </a:xfrm>
        </p:spPr>
        <p:txBody>
          <a:bodyPr>
            <a:norm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path method comes from the </a:t>
            </a:r>
            <a:r>
              <a:rPr lang="en-US" dirty="0" err="1"/>
              <a:t>django.urls</a:t>
            </a:r>
            <a:r>
              <a:rPr lang="en-US" dirty="0"/>
              <a:t> package.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path function takes the first argument as </a:t>
            </a:r>
            <a:r>
              <a:rPr lang="en-US" u="sng" dirty="0"/>
              <a:t>a route of string or regex type</a:t>
            </a:r>
            <a:r>
              <a:rPr lang="en-US" dirty="0"/>
              <a:t>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/>
              <a:t>TemplateView.as_view</a:t>
            </a:r>
            <a:r>
              <a:rPr lang="en-US" b="1" dirty="0"/>
              <a:t>(</a:t>
            </a:r>
            <a:r>
              <a:rPr lang="en-US" b="1" dirty="0" err="1"/>
              <a:t>template_name</a:t>
            </a:r>
            <a:r>
              <a:rPr lang="en-US" b="1" dirty="0"/>
              <a:t>='homepage.html’)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This last action is a helper method to direct the requesting party to a template that takes the argument </a:t>
            </a:r>
            <a:r>
              <a:rPr lang="en-US" b="1" dirty="0" err="1"/>
              <a:t>template_name</a:t>
            </a:r>
            <a:r>
              <a:rPr lang="en-US" b="1" dirty="0"/>
              <a:t> = 'homepage.html‘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Django that requests for the home page should return the content in the template </a:t>
            </a:r>
            <a:r>
              <a:rPr lang="en-US" b="1" dirty="0"/>
              <a:t>homepage.html</a:t>
            </a:r>
            <a:r>
              <a:rPr lang="en-US" dirty="0"/>
              <a:t>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56470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3696" y="244699"/>
            <a:ext cx="10105622" cy="901521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+mn-lt"/>
              </a:rPr>
              <a:t>Create and Configure Django Templates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4464" y="1287887"/>
            <a:ext cx="11326092" cy="5293217"/>
          </a:xfrm>
        </p:spPr>
        <p:txBody>
          <a:bodyPr>
            <a:norm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By default, Django templates are interpreted as HTML.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This means Django templates are expected to have a standard HTML document structure and HTML tags (e.g., &lt;html&gt;, &lt;body&gt;).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Use a regular text editor to create Django </a:t>
            </a:r>
            <a:r>
              <a:rPr lang="en-US" b="1" dirty="0"/>
              <a:t>templates</a:t>
            </a:r>
            <a:r>
              <a:rPr lang="en-US" dirty="0"/>
              <a:t> and save the files with an .html extension.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create a file named </a:t>
            </a:r>
            <a:r>
              <a:rPr lang="en-US" b="1" dirty="0"/>
              <a:t>homepage.html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Save the file on your system, </a:t>
            </a:r>
            <a:r>
              <a:rPr lang="en-US" dirty="0">
                <a:solidFill>
                  <a:schemeClr val="accent5"/>
                </a:solidFill>
              </a:rPr>
              <a:t>in a subdirectory called templates </a:t>
            </a:r>
            <a:r>
              <a:rPr lang="en-US" dirty="0"/>
              <a:t>in Django project’s MyDjangoProject.</a:t>
            </a:r>
          </a:p>
        </p:txBody>
      </p:sp>
    </p:spTree>
    <p:extLst>
      <p:ext uri="{BB962C8B-B14F-4D97-AF65-F5344CB8AC3E}">
        <p14:creationId xmlns:p14="http://schemas.microsoft.com/office/powerpoint/2010/main" val="1487984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89150" y="244699"/>
            <a:ext cx="10105622" cy="901521"/>
          </a:xfrm>
        </p:spPr>
        <p:txBody>
          <a:bodyPr>
            <a:normAutofit fontScale="90000"/>
          </a:bodyPr>
          <a:lstStyle/>
          <a:p>
            <a:r>
              <a:rPr lang="en-US" sz="4400" dirty="0">
                <a:latin typeface="+mn-lt"/>
              </a:rPr>
              <a:t>Create and Configure Django Templates(Cont’d)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6417" y="3665544"/>
            <a:ext cx="11159837" cy="2653472"/>
          </a:xfrm>
        </p:spPr>
        <p:txBody>
          <a:bodyPr>
            <a:norm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It is needed to configure a Django project so it can find the </a:t>
            </a:r>
            <a:r>
              <a:rPr lang="en-US" b="1" dirty="0"/>
              <a:t>templates</a:t>
            </a:r>
            <a:r>
              <a:rPr lang="en-US" dirty="0"/>
              <a:t> in this directory.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In the </a:t>
            </a:r>
            <a:r>
              <a:rPr lang="en-US" b="1" dirty="0"/>
              <a:t>settings.py </a:t>
            </a:r>
            <a:r>
              <a:rPr lang="en-US" dirty="0"/>
              <a:t>file of the Django project, you need to define the template directory in the </a:t>
            </a:r>
            <a:r>
              <a:rPr lang="en-US" b="1" dirty="0"/>
              <a:t>DIRS</a:t>
            </a:r>
            <a:r>
              <a:rPr lang="en-US" dirty="0"/>
              <a:t> property of the </a:t>
            </a:r>
            <a:r>
              <a:rPr lang="en-US" b="1" dirty="0"/>
              <a:t>TEMPLATES</a:t>
            </a:r>
            <a:r>
              <a:rPr lang="en-US" dirty="0"/>
              <a:t> variable.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9150" y="1544598"/>
            <a:ext cx="4755869" cy="188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985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7BFC1D7-AA51-E56E-B095-66229FF560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5800" y="1612900"/>
            <a:ext cx="8280400" cy="495363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89150" y="244699"/>
            <a:ext cx="10105622" cy="901521"/>
          </a:xfrm>
        </p:spPr>
        <p:txBody>
          <a:bodyPr>
            <a:normAutofit fontScale="90000"/>
          </a:bodyPr>
          <a:lstStyle/>
          <a:p>
            <a:r>
              <a:rPr lang="en-US" sz="4400" dirty="0">
                <a:latin typeface="+mn-lt"/>
              </a:rPr>
              <a:t>Create and Configure Django Templates(Cont’d)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BD767B0-DF96-EF03-78E1-002DD4E83A77}"/>
              </a:ext>
            </a:extLst>
          </p:cNvPr>
          <p:cNvSpPr/>
          <p:nvPr/>
        </p:nvSpPr>
        <p:spPr>
          <a:xfrm>
            <a:off x="2359268" y="2561491"/>
            <a:ext cx="6541477" cy="110783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7677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43189" y="305445"/>
            <a:ext cx="10105622" cy="901521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+mn-lt"/>
              </a:rPr>
              <a:t>Create and Configure Django Apps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5577" y="1562101"/>
            <a:ext cx="10920846" cy="4732546"/>
          </a:xfrm>
        </p:spPr>
        <p:txBody>
          <a:bodyPr>
            <a:norm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Django apps are used to group application functionality.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In order to work with content from a database or user interactions it is needed to create and configure Django apps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A project </a:t>
            </a:r>
            <a:r>
              <a:rPr lang="en-US" dirty="0"/>
              <a:t>can contain as </a:t>
            </a:r>
            <a:r>
              <a:rPr lang="en-US" b="1" dirty="0"/>
              <a:t>many apps </a:t>
            </a:r>
            <a:r>
              <a:rPr lang="en-US" dirty="0"/>
              <a:t>as they are needed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For example, if you have a project for a </a:t>
            </a:r>
            <a:r>
              <a:rPr lang="en-US" b="1" dirty="0"/>
              <a:t>coffeehouse</a:t>
            </a:r>
            <a:r>
              <a:rPr lang="en-US" dirty="0"/>
              <a:t>, you can create an app for </a:t>
            </a:r>
            <a:r>
              <a:rPr lang="en-US" b="1" dirty="0"/>
              <a:t>stores</a:t>
            </a:r>
            <a:r>
              <a:rPr lang="en-US" dirty="0"/>
              <a:t>, another app for </a:t>
            </a:r>
            <a:r>
              <a:rPr lang="en-US" b="1" dirty="0"/>
              <a:t>menu</a:t>
            </a:r>
            <a:r>
              <a:rPr lang="en-US" dirty="0"/>
              <a:t> items, another app for about </a:t>
            </a:r>
            <a:r>
              <a:rPr lang="en-US" b="1" dirty="0"/>
              <a:t>information</a:t>
            </a:r>
            <a:r>
              <a:rPr lang="en-US" dirty="0"/>
              <a:t>, and create additional apps as they’re needed.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Django apps are normally contained in subdirectories inside a project</a:t>
            </a:r>
          </a:p>
        </p:txBody>
      </p:sp>
    </p:spTree>
    <p:extLst>
      <p:ext uri="{BB962C8B-B14F-4D97-AF65-F5344CB8AC3E}">
        <p14:creationId xmlns:p14="http://schemas.microsoft.com/office/powerpoint/2010/main" val="26560503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3696" y="244699"/>
            <a:ext cx="10105622" cy="901521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+mn-lt"/>
              </a:rPr>
              <a:t>Create and Configure Django Apps(Cont’d)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1500" y="1287887"/>
            <a:ext cx="10972800" cy="5293217"/>
          </a:xfrm>
        </p:spPr>
        <p:txBody>
          <a:bodyPr>
            <a:norm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By default, all django projects are enabled with </a:t>
            </a:r>
            <a:r>
              <a:rPr lang="en-US" b="1" u="sng" dirty="0"/>
              <a:t>six apps</a:t>
            </a:r>
            <a:r>
              <a:rPr lang="en-US" b="1" dirty="0"/>
              <a:t> </a:t>
            </a:r>
            <a:r>
              <a:rPr lang="en-US" dirty="0"/>
              <a:t>provided by the framework.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These apps are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django.contrib.admin</a:t>
            </a:r>
            <a:endParaRPr lang="en-US" dirty="0"/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django.contrib.auth</a:t>
            </a:r>
            <a:endParaRPr lang="en-US" dirty="0"/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django.contrib.contenttypes</a:t>
            </a:r>
            <a:endParaRPr lang="en-US" dirty="0"/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django.contrib.sessions</a:t>
            </a:r>
            <a:endParaRPr lang="en-US" dirty="0"/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django.contrib.messages</a:t>
            </a:r>
            <a:endParaRPr lang="en-US" dirty="0"/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and </a:t>
            </a:r>
            <a:r>
              <a:rPr lang="en-US" dirty="0" err="1"/>
              <a:t>django.contrib.staticfiles</a:t>
            </a:r>
            <a:endParaRPr lang="en-US"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30721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3696" y="244699"/>
            <a:ext cx="10105622" cy="901521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+mn-lt"/>
              </a:rPr>
              <a:t>Set Up the Django admin Site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3754" y="1875692"/>
            <a:ext cx="11312770" cy="3458308"/>
          </a:xfrm>
        </p:spPr>
        <p:txBody>
          <a:bodyPr>
            <a:norm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Django admin site provides a </a:t>
            </a:r>
            <a:r>
              <a:rPr lang="en-US" dirty="0">
                <a:solidFill>
                  <a:srgbClr val="0033CC"/>
                </a:solidFill>
              </a:rPr>
              <a:t>web-based interface to access the database </a:t>
            </a:r>
            <a:r>
              <a:rPr lang="en-US" dirty="0"/>
              <a:t>connected to a Django project.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Admin site can expose all Django project-related data structures linked to a database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It is easy for experts and novices alike to perform database CRUD operations</a:t>
            </a:r>
          </a:p>
        </p:txBody>
      </p:sp>
    </p:spTree>
    <p:extLst>
      <p:ext uri="{BB962C8B-B14F-4D97-AF65-F5344CB8AC3E}">
        <p14:creationId xmlns:p14="http://schemas.microsoft.com/office/powerpoint/2010/main" val="8211977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3696" y="244699"/>
            <a:ext cx="10105622" cy="901521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+mn-lt"/>
              </a:rPr>
              <a:t>Set Up the Django admin Site(Cont’d)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4769" y="1346503"/>
            <a:ext cx="10804549" cy="2404882"/>
          </a:xfrm>
        </p:spPr>
        <p:txBody>
          <a:bodyPr>
            <a:normAutofit lnSpcReduction="10000"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By default, the Django admin is enabled on all Django projects.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Firstly, we need to create a superuser.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To do that, type the </a:t>
            </a:r>
            <a:r>
              <a:rPr lang="en-US" b="1" i="1" dirty="0" err="1"/>
              <a:t>createsuperuser</a:t>
            </a:r>
            <a:r>
              <a:rPr lang="en-US" dirty="0"/>
              <a:t> command in the manage.py console, specify your email address, and password: 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F467ACA-8AF3-8150-A30D-1C63C973D2A2}"/>
              </a:ext>
            </a:extLst>
          </p:cNvPr>
          <p:cNvGrpSpPr/>
          <p:nvPr/>
        </p:nvGrpSpPr>
        <p:grpSpPr>
          <a:xfrm>
            <a:off x="2329985" y="3916499"/>
            <a:ext cx="6450600" cy="2778863"/>
            <a:chOff x="2329985" y="3916499"/>
            <a:chExt cx="6450600" cy="2778863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C8E2DB17-A57E-D36C-91BA-9CE1BD3164F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b="5532"/>
            <a:stretch/>
          </p:blipFill>
          <p:spPr>
            <a:xfrm>
              <a:off x="2329985" y="3916499"/>
              <a:ext cx="6195597" cy="277886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0D27F41C-C909-1744-C434-04BE9433BE07}"/>
                </a:ext>
              </a:extLst>
            </p:cNvPr>
            <p:cNvSpPr/>
            <p:nvPr/>
          </p:nvSpPr>
          <p:spPr>
            <a:xfrm>
              <a:off x="5603631" y="3916499"/>
              <a:ext cx="3176954" cy="84307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873878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3696" y="244699"/>
            <a:ext cx="10105622" cy="901521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+mn-lt"/>
              </a:rPr>
              <a:t>Set Up the Django admin Site(Cont’d)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4547" y="1287888"/>
            <a:ext cx="11835684" cy="1403798"/>
          </a:xfrm>
        </p:spPr>
        <p:txBody>
          <a:bodyPr>
            <a:norm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Now go to /admin/ on your Django server, for example, </a:t>
            </a:r>
            <a:r>
              <a:rPr lang="en-US" dirty="0">
                <a:hlinkClick r:id="rId2"/>
              </a:rPr>
              <a:t>http://127.0.0.1:8000/admin/</a:t>
            </a:r>
            <a:r>
              <a:rPr lang="en-US" dirty="0"/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You will see the following login page: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3158" y="2833354"/>
            <a:ext cx="4953255" cy="3581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9306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21347" y="115909"/>
            <a:ext cx="10105622" cy="901521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+mn-lt"/>
              </a:rPr>
              <a:t>Admin Site App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6316" y="1339402"/>
            <a:ext cx="11835684" cy="1648497"/>
          </a:xfrm>
        </p:spPr>
        <p:txBody>
          <a:bodyPr>
            <a:no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introduce the superuser username and password you just created into the interface in the following: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User’s credentials (e.g., password, email, username) can change or new users  can add directly from this Django admin site screen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9341" y="3070913"/>
            <a:ext cx="7374828" cy="3787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0858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>
                <a:latin typeface="+mn-lt"/>
              </a:rPr>
              <a:t>Thank You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31533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1833</TotalTime>
  <Words>1402</Words>
  <Application>Microsoft Office PowerPoint</Application>
  <PresentationFormat>Widescreen</PresentationFormat>
  <Paragraphs>122</Paragraphs>
  <Slides>25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Arial</vt:lpstr>
      <vt:lpstr>Calibri</vt:lpstr>
      <vt:lpstr>Calibri Light</vt:lpstr>
      <vt:lpstr>Cascadia Code</vt:lpstr>
      <vt:lpstr>Helvetica Neue</vt:lpstr>
      <vt:lpstr>JetBrains Mono</vt:lpstr>
      <vt:lpstr>Wingdings</vt:lpstr>
      <vt:lpstr>Office Theme</vt:lpstr>
      <vt:lpstr>Setup Django Project</vt:lpstr>
      <vt:lpstr>Outlines</vt:lpstr>
      <vt:lpstr>Install Python Database Packages</vt:lpstr>
      <vt:lpstr>Python Packages for Different Database</vt:lpstr>
      <vt:lpstr>Creating a database</vt:lpstr>
      <vt:lpstr>Creating a database</vt:lpstr>
      <vt:lpstr>Creating a database with SQLite</vt:lpstr>
      <vt:lpstr>Connect Django Database</vt:lpstr>
      <vt:lpstr>Creating a database with SQLite</vt:lpstr>
      <vt:lpstr>Creating a database with SQLite</vt:lpstr>
      <vt:lpstr>Set Up Content</vt:lpstr>
      <vt:lpstr>Static Content Vs Dynamic Content</vt:lpstr>
      <vt:lpstr>     Django workflow for urls, templates, and apps          Django workflows for Urls, Templates, and Apps</vt:lpstr>
      <vt:lpstr>Create and Configure Django Urls</vt:lpstr>
      <vt:lpstr>Create and Configure Django Urls(Cont’d)</vt:lpstr>
      <vt:lpstr>Create and Configure Django Templates</vt:lpstr>
      <vt:lpstr>Create and Configure Django Templates(Cont’d)</vt:lpstr>
      <vt:lpstr>Create and Configure Django Templates(Cont’d)</vt:lpstr>
      <vt:lpstr>Create and Configure Django Apps</vt:lpstr>
      <vt:lpstr>Create and Configure Django Apps(Cont’d)</vt:lpstr>
      <vt:lpstr>Set Up the Django admin Site</vt:lpstr>
      <vt:lpstr>Set Up the Django admin Site(Cont’d)</vt:lpstr>
      <vt:lpstr>Set Up the Django admin Site(Cont’d)</vt:lpstr>
      <vt:lpstr>Admin Site App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Setup Django Project</dc:title>
  <dc:creator>Windows User</dc:creator>
  <cp:lastModifiedBy>User</cp:lastModifiedBy>
  <cp:revision>79</cp:revision>
  <dcterms:created xsi:type="dcterms:W3CDTF">2023-05-10T04:58:40Z</dcterms:created>
  <dcterms:modified xsi:type="dcterms:W3CDTF">2025-12-04T07:26:54Z</dcterms:modified>
</cp:coreProperties>
</file>