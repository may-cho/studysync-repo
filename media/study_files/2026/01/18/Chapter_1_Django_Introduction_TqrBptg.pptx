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9" r:id="rId2"/>
    <p:sldId id="277" r:id="rId3"/>
    <p:sldId id="278" r:id="rId4"/>
    <p:sldId id="274" r:id="rId5"/>
    <p:sldId id="270" r:id="rId6"/>
    <p:sldId id="271" r:id="rId7"/>
    <p:sldId id="273" r:id="rId8"/>
    <p:sldId id="275" r:id="rId9"/>
    <p:sldId id="272" r:id="rId10"/>
    <p:sldId id="259" r:id="rId11"/>
    <p:sldId id="280" r:id="rId12"/>
    <p:sldId id="281" r:id="rId13"/>
    <p:sldId id="282" r:id="rId14"/>
    <p:sldId id="283" r:id="rId15"/>
    <p:sldId id="261" r:id="rId16"/>
    <p:sldId id="266" r:id="rId17"/>
    <p:sldId id="260" r:id="rId18"/>
    <p:sldId id="267" r:id="rId19"/>
    <p:sldId id="268" r:id="rId20"/>
    <p:sldId id="263" r:id="rId21"/>
    <p:sldId id="279" r:id="rId22"/>
    <p:sldId id="26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7990" autoAdjust="0"/>
  </p:normalViewPr>
  <p:slideViewPr>
    <p:cSldViewPr snapToGrid="0">
      <p:cViewPr varScale="1">
        <p:scale>
          <a:sx n="52" d="100"/>
          <a:sy n="52" d="100"/>
        </p:scale>
        <p:origin x="11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98B19-AFFD-468F-9723-7707990D201C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91E71-3BD0-4895-B5AD-91AA2E9A3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16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activate</a:t>
            </a:r>
          </a:p>
          <a:p>
            <a:r>
              <a:rPr lang="en-US" dirty="0"/>
              <a:t>pip install –upgrade pip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591E71-3BD0-4895-B5AD-91AA2E9A32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949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WSGI – Web server gateway interface</a:t>
            </a:r>
          </a:p>
          <a:p>
            <a:r>
              <a:rPr lang="en-US" b="1" i="0" dirty="0">
                <a:solidFill>
                  <a:srgbClr val="292929"/>
                </a:solidFill>
                <a:effectLst/>
                <a:latin typeface="source-serif-pro"/>
              </a:rPr>
              <a:t>WSGI 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is a specification that describes the communication between </a:t>
            </a:r>
            <a:r>
              <a:rPr lang="en-US" b="1" i="0" dirty="0">
                <a:solidFill>
                  <a:srgbClr val="292929"/>
                </a:solidFill>
                <a:effectLst/>
                <a:latin typeface="source-serif-pro"/>
              </a:rPr>
              <a:t>web servers and Python web applications or frameworks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. </a:t>
            </a:r>
            <a:r>
              <a:rPr lang="en-US" b="0" i="0">
                <a:solidFill>
                  <a:srgbClr val="292929"/>
                </a:solidFill>
                <a:effectLst/>
                <a:latin typeface="source-serif-pro"/>
              </a:rPr>
              <a:t>It explains how a web server communicates with python web applications/frameworks and how web applications/frameworks can be chained for processing a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591E71-3BD0-4895-B5AD-91AA2E9A32B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61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E893-67AF-46BF-9C30-9642C1DE96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E8BF8-E80F-4206-9133-2011C925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43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E893-67AF-46BF-9C30-9642C1DE96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E8BF8-E80F-4206-9133-2011C925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81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E893-67AF-46BF-9C30-9642C1DE96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E8BF8-E80F-4206-9133-2011C925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9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E893-67AF-46BF-9C30-9642C1DE96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E8BF8-E80F-4206-9133-2011C925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233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E893-67AF-46BF-9C30-9642C1DE96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E8BF8-E80F-4206-9133-2011C925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8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E893-67AF-46BF-9C30-9642C1DE96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E8BF8-E80F-4206-9133-2011C925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64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E893-67AF-46BF-9C30-9642C1DE96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E8BF8-E80F-4206-9133-2011C925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572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E893-67AF-46BF-9C30-9642C1DE96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E8BF8-E80F-4206-9133-2011C925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65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E893-67AF-46BF-9C30-9642C1DE96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E8BF8-E80F-4206-9133-2011C925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008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E893-67AF-46BF-9C30-9642C1DE96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E8BF8-E80F-4206-9133-2011C925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06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E893-67AF-46BF-9C30-9642C1DE96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E8BF8-E80F-4206-9133-2011C925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93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0E893-67AF-46BF-9C30-9642C1DE963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1E8BF8-E80F-4206-9133-2011C9251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8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jango/django.g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8000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83429"/>
            <a:ext cx="9144000" cy="101553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+mn-lt"/>
              </a:rPr>
              <a:t>Introduction to the Django Framework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537138" y="5935724"/>
            <a:ext cx="7117724" cy="751022"/>
          </a:xfrm>
        </p:spPr>
        <p:txBody>
          <a:bodyPr>
            <a:normAutofit/>
          </a:bodyPr>
          <a:lstStyle/>
          <a:p>
            <a:r>
              <a:rPr lang="en-US" sz="3200" b="1" dirty="0"/>
              <a:t>University of Computer Studies, Yangon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1D6083-3A50-4F88-A53F-A5DCE262A9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28" y="517617"/>
            <a:ext cx="1214776" cy="136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29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9844" y="92053"/>
            <a:ext cx="9144000" cy="101553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Outlines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4219" y="1399749"/>
            <a:ext cx="11696164" cy="5284386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Django Framework Design Principle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Installing Django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Start a Django Project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Exploring project structure﻿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Launching Django Server</a:t>
            </a:r>
          </a:p>
        </p:txBody>
      </p:sp>
    </p:spTree>
    <p:extLst>
      <p:ext uri="{BB962C8B-B14F-4D97-AF65-F5344CB8AC3E}">
        <p14:creationId xmlns:p14="http://schemas.microsoft.com/office/powerpoint/2010/main" val="1414000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9844" y="92053"/>
            <a:ext cx="9144000" cy="101553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What is Web Framework?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4219" y="1399749"/>
            <a:ext cx="11320101" cy="5284386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Web framework is </a:t>
            </a:r>
            <a:r>
              <a:rPr lang="en-US" dirty="0">
                <a:solidFill>
                  <a:srgbClr val="0000CC"/>
                </a:solidFill>
              </a:rPr>
              <a:t>a set of components </a:t>
            </a:r>
            <a:r>
              <a:rPr lang="en-US" dirty="0"/>
              <a:t>designed to simplify your web development process.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has basic structuring tools in it, which serve as a solid base for project.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allows user to focus on the most important details and project’s goals instead of creating things, that user can simply pull out of the framework.</a:t>
            </a:r>
          </a:p>
        </p:txBody>
      </p:sp>
    </p:spTree>
    <p:extLst>
      <p:ext uri="{BB962C8B-B14F-4D97-AF65-F5344CB8AC3E}">
        <p14:creationId xmlns:p14="http://schemas.microsoft.com/office/powerpoint/2010/main" val="2492468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9844" y="92053"/>
            <a:ext cx="9144000" cy="101553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What is Django?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4219" y="1399749"/>
            <a:ext cx="11641877" cy="5284386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Django is a web application framework written in Python programming language.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is </a:t>
            </a:r>
            <a:r>
              <a:rPr lang="en-US" dirty="0">
                <a:solidFill>
                  <a:srgbClr val="0000CC"/>
                </a:solidFill>
              </a:rPr>
              <a:t>based on Model-View-Controller (MVC) </a:t>
            </a:r>
            <a:r>
              <a:rPr lang="en-US" dirty="0"/>
              <a:t>server-side framework designed to operate with relational databases.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Django is very demanding due to its rapid development feature.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takes less time to build application after collecting client requirement.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Django is designed in such a manner that it handles much of configure things automatically, so we can focus on application development only.</a:t>
            </a:r>
          </a:p>
        </p:txBody>
      </p:sp>
    </p:spTree>
    <p:extLst>
      <p:ext uri="{BB962C8B-B14F-4D97-AF65-F5344CB8AC3E}">
        <p14:creationId xmlns:p14="http://schemas.microsoft.com/office/powerpoint/2010/main" val="3892333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851" y="120427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+mn-lt"/>
              </a:rPr>
              <a:t>Popularity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974" y="1371848"/>
            <a:ext cx="10293178" cy="5186630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2400" dirty="0"/>
              <a:t>Django is widely accepted and used by various well-known sites such as:</a:t>
            </a:r>
          </a:p>
          <a:p>
            <a:pPr>
              <a:lnSpc>
                <a:spcPct val="170000"/>
              </a:lnSpc>
            </a:pPr>
            <a:r>
              <a:rPr lang="en-US" sz="2400" dirty="0"/>
              <a:t>    </a:t>
            </a:r>
            <a:r>
              <a:rPr lang="en-US" sz="2400" dirty="0" err="1"/>
              <a:t>Instagram</a:t>
            </a:r>
            <a:endParaRPr lang="en-US" sz="2400" dirty="0"/>
          </a:p>
          <a:p>
            <a:pPr>
              <a:lnSpc>
                <a:spcPct val="170000"/>
              </a:lnSpc>
            </a:pPr>
            <a:r>
              <a:rPr lang="en-US" sz="2400" dirty="0"/>
              <a:t>    Mozilla</a:t>
            </a:r>
          </a:p>
          <a:p>
            <a:pPr>
              <a:lnSpc>
                <a:spcPct val="170000"/>
              </a:lnSpc>
            </a:pPr>
            <a:r>
              <a:rPr lang="en-US" sz="2400" dirty="0"/>
              <a:t>    The Washington Times</a:t>
            </a:r>
          </a:p>
          <a:p>
            <a:pPr>
              <a:lnSpc>
                <a:spcPct val="170000"/>
              </a:lnSpc>
            </a:pPr>
            <a:r>
              <a:rPr lang="en-US" sz="2400" dirty="0"/>
              <a:t>    Pinterest</a:t>
            </a:r>
          </a:p>
          <a:p>
            <a:pPr>
              <a:lnSpc>
                <a:spcPct val="170000"/>
              </a:lnSpc>
            </a:pPr>
            <a:r>
              <a:rPr lang="en-US" sz="2400" dirty="0"/>
              <a:t>    Bitbucket</a:t>
            </a:r>
          </a:p>
          <a:p>
            <a:pPr>
              <a:lnSpc>
                <a:spcPct val="170000"/>
              </a:lnSpc>
            </a:pPr>
            <a:r>
              <a:rPr lang="en-US" sz="2400" dirty="0"/>
              <a:t>    Disqus</a:t>
            </a:r>
          </a:p>
        </p:txBody>
      </p:sp>
    </p:spTree>
    <p:extLst>
      <p:ext uri="{BB962C8B-B14F-4D97-AF65-F5344CB8AC3E}">
        <p14:creationId xmlns:p14="http://schemas.microsoft.com/office/powerpoint/2010/main" val="3174664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6184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+mn-lt"/>
              </a:rPr>
              <a:t>Features of Django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195" y="1471747"/>
            <a:ext cx="11269883" cy="49805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    Rapid Development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Secure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Scalable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Fully loaded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Versatile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Open Source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Vast and Supported Community</a:t>
            </a:r>
          </a:p>
        </p:txBody>
      </p:sp>
    </p:spTree>
    <p:extLst>
      <p:ext uri="{BB962C8B-B14F-4D97-AF65-F5344CB8AC3E}">
        <p14:creationId xmlns:p14="http://schemas.microsoft.com/office/powerpoint/2010/main" val="3594691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9844" y="92053"/>
            <a:ext cx="9144000" cy="101553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Django as an MVC Design Pattern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4219" y="1399749"/>
            <a:ext cx="11696164" cy="5284386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MVT Architecture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Models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Describes your data structure/database schema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Views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Controls what a user sees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Templates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How a user sees it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Controller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Django Framework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URL parsing</a:t>
            </a:r>
          </a:p>
        </p:txBody>
      </p:sp>
    </p:spTree>
    <p:extLst>
      <p:ext uri="{BB962C8B-B14F-4D97-AF65-F5344CB8AC3E}">
        <p14:creationId xmlns:p14="http://schemas.microsoft.com/office/powerpoint/2010/main" val="3728873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9844" y="92053"/>
            <a:ext cx="9144000" cy="101553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Django Architecture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344" y="1364056"/>
            <a:ext cx="8603087" cy="490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806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6184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+mn-lt"/>
              </a:rPr>
              <a:t>Installing Django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4908" y="1471747"/>
            <a:ext cx="11245170" cy="49805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Normally, there are two ways of installation: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via </a:t>
            </a:r>
            <a:r>
              <a:rPr lang="en-US" sz="2000" dirty="0" err="1"/>
              <a:t>Pycharm</a:t>
            </a:r>
            <a:endParaRPr lang="en-US" sz="2000" dirty="0"/>
          </a:p>
          <a:p>
            <a:pPr lvl="1">
              <a:lnSpc>
                <a:spcPct val="150000"/>
              </a:lnSpc>
            </a:pPr>
            <a:r>
              <a:rPr lang="en-US" sz="2000" dirty="0"/>
              <a:t>via command line</a:t>
            </a:r>
          </a:p>
          <a:p>
            <a:pPr>
              <a:lnSpc>
                <a:spcPct val="150000"/>
              </a:lnSpc>
            </a:pPr>
            <a:r>
              <a:rPr lang="en-US" dirty="0"/>
              <a:t>In this lecture, create </a:t>
            </a:r>
            <a:r>
              <a:rPr lang="en-US" dirty="0" err="1"/>
              <a:t>django</a:t>
            </a:r>
            <a:r>
              <a:rPr lang="en-US" dirty="0"/>
              <a:t> project via </a:t>
            </a:r>
            <a:r>
              <a:rPr lang="en-US" dirty="0" err="1"/>
              <a:t>Pycharm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2156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8520"/>
          </a:xfrm>
        </p:spPr>
        <p:txBody>
          <a:bodyPr/>
          <a:lstStyle/>
          <a:p>
            <a:pPr algn="ctr"/>
            <a:r>
              <a:rPr lang="en-US" dirty="0"/>
              <a:t>Start a Django Project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4908" y="1825625"/>
            <a:ext cx="10698892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Firstly, launch PyCharm Community Edition.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From the main menu, choose File | New Project, or click the New Project button in the Welcome screen. The New Project dialog opens.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209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43697"/>
            <a:ext cx="10515600" cy="123567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Getting Start with Django in PyCharm Community Edition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CE6673-3F37-CDCC-B02B-0EF3073A6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206" y="1874678"/>
            <a:ext cx="5972432" cy="48345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A7A55C-5131-8FEA-3241-F12666FC9C8B}"/>
              </a:ext>
            </a:extLst>
          </p:cNvPr>
          <p:cNvSpPr txBox="1"/>
          <p:nvPr/>
        </p:nvSpPr>
        <p:spPr>
          <a:xfrm>
            <a:off x="7549978" y="1977081"/>
            <a:ext cx="3941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File </a:t>
            </a:r>
            <a:r>
              <a:rPr lang="en-US" dirty="0">
                <a:sym typeface="Wingdings" panose="05000000000000000000" pitchFamily="2" charset="2"/>
              </a:rPr>
              <a:t> New Project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72F251-309D-4400-D1A6-28ABFFBA835F}"/>
              </a:ext>
            </a:extLst>
          </p:cNvPr>
          <p:cNvSpPr txBox="1"/>
          <p:nvPr/>
        </p:nvSpPr>
        <p:spPr>
          <a:xfrm>
            <a:off x="7549978" y="2678675"/>
            <a:ext cx="39418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Location </a:t>
            </a:r>
            <a:r>
              <a:rPr lang="en-US" dirty="0">
                <a:sym typeface="Wingdings" panose="05000000000000000000" pitchFamily="2" charset="2"/>
              </a:rPr>
              <a:t> C:\Users\Dell\ProjectName</a:t>
            </a:r>
            <a:endParaRPr lang="en-US" dirty="0"/>
          </a:p>
          <a:p>
            <a:endParaRPr lang="en-US" dirty="0"/>
          </a:p>
          <a:p>
            <a:r>
              <a:rPr lang="en-US" dirty="0"/>
              <a:t>New environment using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Virtualenv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Click Create.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875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43697"/>
            <a:ext cx="10515600" cy="123567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Install Django in PyCharm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4908" y="2174789"/>
            <a:ext cx="11319760" cy="370702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pip install Django==4.0.3      (or)      </a:t>
            </a:r>
            <a:r>
              <a:rPr lang="en-US" sz="2400" b="0" i="0" u="none" strike="noStrike" baseline="0" dirty="0"/>
              <a:t>git clone </a:t>
            </a:r>
            <a:r>
              <a:rPr lang="en-US" sz="2400" b="0" i="0" u="none" strike="noStrike" baseline="0" dirty="0">
                <a:hlinkClick r:id="rId3"/>
              </a:rPr>
              <a:t>https://github.com/django/django.git</a:t>
            </a:r>
            <a:endParaRPr lang="en-US" sz="2400" b="0" i="0" u="none" strike="noStrike" baseline="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(</a:t>
            </a:r>
            <a:r>
              <a:rPr lang="en-US" sz="2400" dirty="0" err="1"/>
              <a:t>venv</a:t>
            </a:r>
            <a:r>
              <a:rPr lang="en-US" sz="2400" dirty="0"/>
              <a:t>) PS C:\Users\Dell\MyDjango&gt; </a:t>
            </a:r>
            <a:r>
              <a:rPr lang="en-US" sz="2400" dirty="0" err="1"/>
              <a:t>django</a:t>
            </a:r>
            <a:r>
              <a:rPr lang="en-US" sz="2400" dirty="0"/>
              <a:t>-admin --version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4.0.3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(</a:t>
            </a:r>
            <a:r>
              <a:rPr lang="en-US" sz="2400" dirty="0" err="1"/>
              <a:t>venv</a:t>
            </a:r>
            <a:r>
              <a:rPr lang="en-US" sz="2400" dirty="0"/>
              <a:t>) PS C:\Users\Dell\MyDjango&gt; </a:t>
            </a:r>
          </a:p>
        </p:txBody>
      </p:sp>
    </p:spTree>
    <p:extLst>
      <p:ext uri="{BB962C8B-B14F-4D97-AF65-F5344CB8AC3E}">
        <p14:creationId xmlns:p14="http://schemas.microsoft.com/office/powerpoint/2010/main" val="248378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43697"/>
            <a:ext cx="10515600" cy="1235676"/>
          </a:xfrm>
        </p:spPr>
        <p:txBody>
          <a:bodyPr>
            <a:normAutofit/>
          </a:bodyPr>
          <a:lstStyle/>
          <a:p>
            <a:pPr algn="ctr"/>
            <a:r>
              <a:rPr lang="en-US" sz="4000" b="0" i="0" u="none" strike="noStrike" baseline="0" dirty="0">
                <a:latin typeface="+mn-lt"/>
              </a:rPr>
              <a:t>Start a Django Project</a:t>
            </a:r>
            <a:endParaRPr lang="en-US" sz="40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4908" y="1921304"/>
            <a:ext cx="6907427" cy="242827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To start a Django project you must use the </a:t>
            </a:r>
            <a:r>
              <a:rPr lang="en-US" sz="2200" dirty="0" err="1"/>
              <a:t>django</a:t>
            </a:r>
            <a:r>
              <a:rPr lang="en-US" sz="2200" dirty="0"/>
              <a:t>-admin executable that comes with Django.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A directory called </a:t>
            </a:r>
            <a:r>
              <a:rPr lang="en-US" sz="2200" i="1" dirty="0"/>
              <a:t>&lt;</a:t>
            </a:r>
            <a:r>
              <a:rPr lang="en-US" sz="2200" i="1" dirty="0" err="1"/>
              <a:t>project_name</a:t>
            </a:r>
            <a:r>
              <a:rPr lang="en-US" sz="2200" i="1" dirty="0"/>
              <a:t>&gt;</a:t>
            </a:r>
            <a:r>
              <a:rPr lang="en-US" sz="2200" dirty="0"/>
              <a:t> is created containing the default Django project structure.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77712D-FA29-8CD4-6C1B-1912B43F31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652"/>
          <a:stretch/>
        </p:blipFill>
        <p:spPr>
          <a:xfrm>
            <a:off x="7834185" y="2297123"/>
            <a:ext cx="4188940" cy="3326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14017C-8CA9-8D32-423E-92B0D8E3B756}"/>
              </a:ext>
            </a:extLst>
          </p:cNvPr>
          <p:cNvSpPr txBox="1"/>
          <p:nvPr/>
        </p:nvSpPr>
        <p:spPr>
          <a:xfrm>
            <a:off x="751702" y="4646899"/>
            <a:ext cx="7928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[user@.... ~]$  </a:t>
            </a:r>
            <a:r>
              <a:rPr lang="en-US" sz="2400" b="0" i="0" u="none" strike="noStrike" baseline="0" dirty="0" err="1">
                <a:solidFill>
                  <a:srgbClr val="0000CC"/>
                </a:solidFill>
              </a:rPr>
              <a:t>django</a:t>
            </a:r>
            <a:r>
              <a:rPr lang="en-US" sz="2400" b="0" i="0" u="none" strike="noStrike" baseline="0" dirty="0">
                <a:solidFill>
                  <a:srgbClr val="0000CC"/>
                </a:solidFill>
              </a:rPr>
              <a:t>-admin  </a:t>
            </a:r>
            <a:r>
              <a:rPr lang="en-US" sz="2400" b="0" i="0" u="none" strike="noStrike" baseline="0" dirty="0" err="1">
                <a:solidFill>
                  <a:srgbClr val="0000CC"/>
                </a:solidFill>
              </a:rPr>
              <a:t>startproject</a:t>
            </a:r>
            <a:r>
              <a:rPr lang="en-US" sz="2400" b="0" i="0" u="none" strike="noStrike" baseline="0" dirty="0">
                <a:solidFill>
                  <a:srgbClr val="0000CC"/>
                </a:solidFill>
              </a:rPr>
              <a:t>  &lt;</a:t>
            </a:r>
            <a:r>
              <a:rPr lang="en-US" sz="2400" b="0" i="0" u="none" strike="noStrike" baseline="0" dirty="0" err="1">
                <a:solidFill>
                  <a:srgbClr val="0000CC"/>
                </a:solidFill>
              </a:rPr>
              <a:t>project_name</a:t>
            </a:r>
            <a:r>
              <a:rPr lang="en-US" sz="2400" b="0" i="0" u="none" strike="noStrike" baseline="0" dirty="0">
                <a:solidFill>
                  <a:srgbClr val="0000CC"/>
                </a:solidFill>
              </a:rPr>
              <a:t>&gt;</a:t>
            </a:r>
            <a:endParaRPr lang="en-US" sz="24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455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43697"/>
            <a:ext cx="10515600" cy="1235676"/>
          </a:xfrm>
        </p:spPr>
        <p:txBody>
          <a:bodyPr>
            <a:normAutofit/>
          </a:bodyPr>
          <a:lstStyle/>
          <a:p>
            <a:pPr algn="ctr"/>
            <a:r>
              <a:rPr lang="en-US" sz="4000" b="0" i="0" u="none" strike="noStrike" baseline="0" dirty="0">
                <a:latin typeface="+mn-lt"/>
              </a:rPr>
              <a:t>Start a Django Project (Cont’d.)</a:t>
            </a:r>
            <a:endParaRPr lang="en-US" sz="40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4908" y="1921305"/>
            <a:ext cx="11059297" cy="123567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This command will run the manage.py file and </a:t>
            </a:r>
            <a:r>
              <a:rPr lang="en-US" sz="2400" dirty="0">
                <a:solidFill>
                  <a:srgbClr val="0000CC"/>
                </a:solidFill>
              </a:rPr>
              <a:t>create a new application </a:t>
            </a:r>
            <a:r>
              <a:rPr lang="en-US" sz="2400" dirty="0"/>
              <a:t>called &lt;</a:t>
            </a:r>
            <a:r>
              <a:rPr lang="en-US" sz="2400" dirty="0" err="1"/>
              <a:t>application_name</a:t>
            </a:r>
            <a:r>
              <a:rPr lang="en-US" sz="2400" dirty="0"/>
              <a:t>&gt; in your project’s folder.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4017C-8CA9-8D32-423E-92B0D8E3B756}"/>
              </a:ext>
            </a:extLst>
          </p:cNvPr>
          <p:cNvSpPr txBox="1"/>
          <p:nvPr/>
        </p:nvSpPr>
        <p:spPr>
          <a:xfrm>
            <a:off x="2131868" y="3410295"/>
            <a:ext cx="8606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[user@.... ~]$  </a:t>
            </a:r>
            <a:r>
              <a:rPr lang="en-US" sz="2400" b="0" i="0" u="none" strike="noStrike" baseline="0" dirty="0">
                <a:solidFill>
                  <a:srgbClr val="0000CC"/>
                </a:solidFill>
              </a:rPr>
              <a:t>python  manage.py  </a:t>
            </a:r>
            <a:r>
              <a:rPr lang="en-US" sz="2400" b="0" i="0" u="none" strike="noStrike" baseline="0" dirty="0" err="1">
                <a:solidFill>
                  <a:srgbClr val="0000CC"/>
                </a:solidFill>
              </a:rPr>
              <a:t>startapp</a:t>
            </a:r>
            <a:r>
              <a:rPr lang="en-US" sz="2400" b="0" i="0" u="none" strike="noStrike" baseline="0" dirty="0">
                <a:solidFill>
                  <a:srgbClr val="0000CC"/>
                </a:solidFill>
              </a:rPr>
              <a:t>  &lt;</a:t>
            </a:r>
            <a:r>
              <a:rPr lang="en-US" sz="2400" b="0" i="0" u="none" strike="noStrike" baseline="0" dirty="0" err="1">
                <a:solidFill>
                  <a:srgbClr val="0000CC"/>
                </a:solidFill>
              </a:rPr>
              <a:t>application_name</a:t>
            </a:r>
            <a:r>
              <a:rPr lang="en-US" sz="2400" b="0" i="0" u="none" strike="noStrike" baseline="0" dirty="0">
                <a:solidFill>
                  <a:srgbClr val="0000CC"/>
                </a:solidFill>
              </a:rPr>
              <a:t>&gt;</a:t>
            </a:r>
            <a:endParaRPr lang="en-US" sz="24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616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169" y="94668"/>
            <a:ext cx="10515600" cy="987157"/>
          </a:xfrm>
        </p:spPr>
        <p:txBody>
          <a:bodyPr/>
          <a:lstStyle/>
          <a:p>
            <a:pPr algn="ctr"/>
            <a:r>
              <a:rPr lang="en-US" dirty="0"/>
              <a:t>Exploring project structure﻿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288" y="1255689"/>
            <a:ext cx="11757338" cy="5576553"/>
          </a:xfrm>
        </p:spPr>
        <p:txBody>
          <a:bodyPr/>
          <a:lstStyle/>
          <a:p>
            <a:r>
              <a:rPr lang="en-US" sz="2400" dirty="0"/>
              <a:t>The newly created project contains Django-specific files and directories.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480" y="1906895"/>
            <a:ext cx="5564726" cy="480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89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312" y="155785"/>
            <a:ext cx="10515600" cy="92276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Start Django in PyCharm Professional Version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035" y="1278564"/>
            <a:ext cx="10040154" cy="5423651"/>
          </a:xfrm>
        </p:spPr>
      </p:pic>
    </p:spTree>
    <p:extLst>
      <p:ext uri="{BB962C8B-B14F-4D97-AF65-F5344CB8AC3E}">
        <p14:creationId xmlns:p14="http://schemas.microsoft.com/office/powerpoint/2010/main" val="1371059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812" y="0"/>
            <a:ext cx="10515600" cy="1325563"/>
          </a:xfrm>
        </p:spPr>
        <p:txBody>
          <a:bodyPr/>
          <a:lstStyle/>
          <a:p>
            <a:r>
              <a:rPr lang="en-US" dirty="0"/>
              <a:t>Getting start with Django in Pycharm(Cont’d)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622" y="1325563"/>
            <a:ext cx="10674177" cy="4657256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dirty="0"/>
              <a:t>In the New Project dialog, do the following:</a:t>
            </a:r>
          </a:p>
          <a:p>
            <a:pPr>
              <a:lnSpc>
                <a:spcPct val="170000"/>
              </a:lnSpc>
            </a:pPr>
            <a:r>
              <a:rPr lang="en-US" dirty="0"/>
              <a:t> Specify project type Django.</a:t>
            </a:r>
          </a:p>
          <a:p>
            <a:pPr>
              <a:lnSpc>
                <a:spcPct val="170000"/>
              </a:lnSpc>
            </a:pPr>
            <a:r>
              <a:rPr lang="en-US" dirty="0"/>
              <a:t> If required, change the default project location.</a:t>
            </a:r>
          </a:p>
          <a:p>
            <a:pPr>
              <a:lnSpc>
                <a:spcPct val="170000"/>
              </a:lnSpc>
            </a:pPr>
            <a:r>
              <a:rPr lang="en-US" dirty="0"/>
              <a:t> Select New environment using Virtualenv</a:t>
            </a:r>
          </a:p>
          <a:p>
            <a:pPr>
              <a:lnSpc>
                <a:spcPct val="170000"/>
              </a:lnSpc>
            </a:pPr>
            <a:r>
              <a:rPr lang="en-US" dirty="0"/>
              <a:t>Click More settings (More Settings), and specify polls in the Application name field.</a:t>
            </a:r>
          </a:p>
          <a:p>
            <a:pPr>
              <a:lnSpc>
                <a:spcPct val="170000"/>
              </a:lnSpc>
            </a:pPr>
            <a:r>
              <a:rPr lang="en-US" dirty="0"/>
              <a:t>Click Create.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81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948520"/>
          </a:xfrm>
        </p:spPr>
        <p:txBody>
          <a:bodyPr/>
          <a:lstStyle/>
          <a:p>
            <a:pPr algn="ctr"/>
            <a:r>
              <a:rPr lang="en-US" dirty="0"/>
              <a:t>Structure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062" y="1313645"/>
            <a:ext cx="11861442" cy="5306097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The “</a:t>
            </a:r>
            <a:r>
              <a:rPr lang="en-US" sz="2600" b="1" i="1" dirty="0"/>
              <a:t>MyDjangoProject</a:t>
            </a:r>
            <a:r>
              <a:rPr lang="en-US" sz="2600" dirty="0"/>
              <a:t>” folder is in the project container and it is made up of two elements:</a:t>
            </a:r>
          </a:p>
          <a:p>
            <a:pPr>
              <a:lnSpc>
                <a:spcPct val="150000"/>
              </a:lnSpc>
            </a:pPr>
            <a:r>
              <a:rPr lang="en-US" sz="2600" b="1" i="1" dirty="0"/>
              <a:t>manage.py</a:t>
            </a:r>
            <a:r>
              <a:rPr lang="en-US" sz="2600" dirty="0"/>
              <a:t> is a command-line utility that lets you interact with your Django project. 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The nested directory </a:t>
            </a:r>
            <a:r>
              <a:rPr lang="en-US" sz="2600" b="1" i="1" dirty="0"/>
              <a:t>MyDjangoProject</a:t>
            </a:r>
            <a:r>
              <a:rPr lang="en-US" sz="2600" dirty="0"/>
              <a:t> is the actual Python package for your project. It has four files:</a:t>
            </a:r>
          </a:p>
          <a:p>
            <a:pPr>
              <a:lnSpc>
                <a:spcPct val="150000"/>
              </a:lnSpc>
            </a:pPr>
            <a:r>
              <a:rPr lang="en-US" sz="2600" b="1" i="1" dirty="0"/>
              <a:t>MyDjangoProject/__init__.py</a:t>
            </a:r>
            <a:r>
              <a:rPr lang="en-US" sz="2600" dirty="0"/>
              <a:t>: This empty file tells Python that this directory should be considered a Python package.</a:t>
            </a:r>
          </a:p>
          <a:p>
            <a:pPr>
              <a:lnSpc>
                <a:spcPct val="150000"/>
              </a:lnSpc>
            </a:pPr>
            <a:r>
              <a:rPr lang="en-US" sz="2600" b="1" i="1" dirty="0" err="1"/>
              <a:t>MyDjangoProject</a:t>
            </a:r>
            <a:r>
              <a:rPr lang="en-US" sz="2600" b="1" i="1" dirty="0"/>
              <a:t>/settings.py</a:t>
            </a:r>
            <a:r>
              <a:rPr lang="en-US" sz="2600" dirty="0"/>
              <a:t>: This file contains configuration for your Django project.</a:t>
            </a:r>
          </a:p>
          <a:p>
            <a:pPr>
              <a:lnSpc>
                <a:spcPct val="150000"/>
              </a:lnSpc>
            </a:pPr>
            <a:r>
              <a:rPr lang="en-US" sz="2600" b="1" i="1" dirty="0" err="1"/>
              <a:t>MyDjangoProject</a:t>
            </a:r>
            <a:r>
              <a:rPr lang="en-US" sz="2600" b="1" i="1" dirty="0"/>
              <a:t>/urls.py</a:t>
            </a:r>
            <a:r>
              <a:rPr lang="en-US" sz="2600" dirty="0"/>
              <a:t>: This file contains the URL declarations for your Django project.</a:t>
            </a:r>
          </a:p>
          <a:p>
            <a:pPr>
              <a:lnSpc>
                <a:spcPct val="150000"/>
              </a:lnSpc>
            </a:pPr>
            <a:r>
              <a:rPr lang="en-US" sz="2600" b="1" dirty="0" err="1"/>
              <a:t>MyDjangoProject</a:t>
            </a:r>
            <a:r>
              <a:rPr lang="en-US" sz="2600" b="1" dirty="0"/>
              <a:t>/wsgi.py</a:t>
            </a:r>
            <a:r>
              <a:rPr lang="en-US" sz="2600" dirty="0"/>
              <a:t>: This file defines an entry-point for WSGI-compatible web servers to serve your project. 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9392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948520"/>
          </a:xfrm>
        </p:spPr>
        <p:txBody>
          <a:bodyPr/>
          <a:lstStyle/>
          <a:p>
            <a:pPr algn="ctr"/>
            <a:r>
              <a:rPr lang="en-US" dirty="0"/>
              <a:t>Structure of the Project﻿(Cont’d)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849" y="1429555"/>
            <a:ext cx="11343502" cy="53060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The nested directory “&lt;</a:t>
            </a:r>
            <a:r>
              <a:rPr lang="en-US" sz="2400" dirty="0" err="1"/>
              <a:t>app_name</a:t>
            </a:r>
            <a:r>
              <a:rPr lang="en-US" sz="2400" dirty="0"/>
              <a:t>&gt;” contains all the files required for developing a Django application: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</a:t>
            </a:r>
            <a:r>
              <a:rPr lang="en-US" sz="2400" b="1" dirty="0"/>
              <a:t>&lt;</a:t>
            </a:r>
            <a:r>
              <a:rPr lang="en-US" sz="2400" b="1" dirty="0" err="1"/>
              <a:t>app_name</a:t>
            </a:r>
            <a:r>
              <a:rPr lang="en-US" sz="2400" b="1" dirty="0"/>
              <a:t>&gt;/_init_.py</a:t>
            </a:r>
            <a:r>
              <a:rPr lang="en-US" sz="2400" dirty="0"/>
              <a:t> tells Python that this directory should be considered a Python package.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</a:t>
            </a:r>
            <a:r>
              <a:rPr lang="en-US" sz="2400" b="1" i="1" dirty="0"/>
              <a:t>&lt;</a:t>
            </a:r>
            <a:r>
              <a:rPr lang="en-US" sz="2400" b="1" i="1" dirty="0" err="1"/>
              <a:t>app_name</a:t>
            </a:r>
            <a:r>
              <a:rPr lang="en-US" sz="2400" b="1" i="1" dirty="0"/>
              <a:t>&gt;/models.py</a:t>
            </a:r>
            <a:r>
              <a:rPr lang="en-US" sz="2400" dirty="0"/>
              <a:t>: In this file, we'll create models for our application.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</a:t>
            </a:r>
            <a:r>
              <a:rPr lang="en-US" sz="2400" b="1" i="1" dirty="0"/>
              <a:t>&lt;</a:t>
            </a:r>
            <a:r>
              <a:rPr lang="en-US" sz="2400" b="1" i="1" dirty="0" err="1"/>
              <a:t>app_name</a:t>
            </a:r>
            <a:r>
              <a:rPr lang="en-US" sz="2400" b="1" i="1" dirty="0"/>
              <a:t>&gt;/views.py</a:t>
            </a:r>
            <a:r>
              <a:rPr lang="en-US" sz="2400" dirty="0"/>
              <a:t>: In this file, we'll create views.</a:t>
            </a:r>
          </a:p>
          <a:p>
            <a:pPr>
              <a:lnSpc>
                <a:spcPct val="150000"/>
              </a:lnSpc>
            </a:pPr>
            <a:r>
              <a:rPr lang="en-US" sz="2400" b="1" i="1" dirty="0"/>
              <a:t>templates directory </a:t>
            </a:r>
            <a:r>
              <a:rPr lang="en-US" sz="2400" dirty="0"/>
              <a:t>is by now empty. It will contain Django templates.</a:t>
            </a:r>
          </a:p>
        </p:txBody>
      </p:sp>
    </p:spTree>
    <p:extLst>
      <p:ext uri="{BB962C8B-B14F-4D97-AF65-F5344CB8AC3E}">
        <p14:creationId xmlns:p14="http://schemas.microsoft.com/office/powerpoint/2010/main" val="2559046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Launching Django server﻿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761" y="1506828"/>
            <a:ext cx="11384924" cy="1325563"/>
          </a:xfrm>
        </p:spPr>
        <p:txBody>
          <a:bodyPr>
            <a:normAutofit/>
          </a:bodyPr>
          <a:lstStyle/>
          <a:p>
            <a:pPr marL="395288" indent="-395288">
              <a:lnSpc>
                <a:spcPct val="150000"/>
              </a:lnSpc>
            </a:pPr>
            <a:r>
              <a:rPr lang="en-US" sz="2400" dirty="0"/>
              <a:t>All Django projects </a:t>
            </a:r>
            <a:r>
              <a:rPr lang="en-US" sz="2400" dirty="0">
                <a:solidFill>
                  <a:srgbClr val="0000CC"/>
                </a:solidFill>
              </a:rPr>
              <a:t>have a built-in web server </a:t>
            </a:r>
            <a:r>
              <a:rPr lang="en-US" sz="2400" dirty="0"/>
              <a:t>to observe an application in a browser as changes are made to project files.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69F242-9B03-2157-FE2C-D489929192B3}"/>
              </a:ext>
            </a:extLst>
          </p:cNvPr>
          <p:cNvSpPr txBox="1">
            <a:spLocks/>
          </p:cNvSpPr>
          <p:nvPr/>
        </p:nvSpPr>
        <p:spPr>
          <a:xfrm>
            <a:off x="403538" y="4167650"/>
            <a:ext cx="11788462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5288" indent="-395288">
              <a:lnSpc>
                <a:spcPct val="150000"/>
              </a:lnSpc>
            </a:pPr>
            <a:r>
              <a:rPr lang="en-US" sz="2400" i="1" dirty="0"/>
              <a:t>python manage.py </a:t>
            </a:r>
            <a:r>
              <a:rPr lang="en-US" sz="2400" i="1" dirty="0" err="1"/>
              <a:t>runserver</a:t>
            </a:r>
            <a:r>
              <a:rPr lang="en-US" sz="2400" i="1" dirty="0"/>
              <a:t> </a:t>
            </a:r>
            <a:r>
              <a:rPr lang="en-US" sz="2400" dirty="0"/>
              <a:t>starts a development web server on </a:t>
            </a:r>
            <a:r>
              <a:rPr lang="en-US" sz="2400" dirty="0">
                <a:hlinkClick r:id="rId2"/>
              </a:rPr>
              <a:t>http://127.0.0.1:8000/</a:t>
            </a:r>
            <a:r>
              <a:rPr lang="en-US" sz="2400" dirty="0"/>
              <a:t> which is the local address on your system.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B3F10D-3DD8-671B-0EB8-C10594907C54}"/>
              </a:ext>
            </a:extLst>
          </p:cNvPr>
          <p:cNvSpPr txBox="1"/>
          <p:nvPr/>
        </p:nvSpPr>
        <p:spPr>
          <a:xfrm>
            <a:off x="2131868" y="3198167"/>
            <a:ext cx="8606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[user@.... ~]$  </a:t>
            </a:r>
            <a:r>
              <a:rPr lang="en-US" sz="2400" b="0" i="0" u="none" strike="noStrike" baseline="0" dirty="0">
                <a:solidFill>
                  <a:srgbClr val="0000CC"/>
                </a:solidFill>
              </a:rPr>
              <a:t>python  manage.py  </a:t>
            </a:r>
            <a:r>
              <a:rPr lang="en-US" sz="2400" b="0" i="0" u="none" strike="noStrike" baseline="0" dirty="0" err="1">
                <a:solidFill>
                  <a:srgbClr val="0000CC"/>
                </a:solidFill>
              </a:rPr>
              <a:t>runserver</a:t>
            </a:r>
            <a:endParaRPr lang="en-US" sz="24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05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Launching Django server﻿(Cont’d)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761" y="1506828"/>
            <a:ext cx="11384924" cy="4958366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The following page opens: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363" y="1598180"/>
            <a:ext cx="7302321" cy="486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80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169" y="2508206"/>
            <a:ext cx="10515600" cy="11622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18710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</TotalTime>
  <Words>943</Words>
  <Application>Microsoft Office PowerPoint</Application>
  <PresentationFormat>Widescreen</PresentationFormat>
  <Paragraphs>117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source-serif-pro</vt:lpstr>
      <vt:lpstr>Wingdings</vt:lpstr>
      <vt:lpstr>Office Theme</vt:lpstr>
      <vt:lpstr>Introduction to the Django Framework</vt:lpstr>
      <vt:lpstr>Outlines</vt:lpstr>
      <vt:lpstr>What is Web Framework?</vt:lpstr>
      <vt:lpstr>What is Django?</vt:lpstr>
      <vt:lpstr>Popularity</vt:lpstr>
      <vt:lpstr>Features of Django</vt:lpstr>
      <vt:lpstr>Django as an MVC Design Pattern</vt:lpstr>
      <vt:lpstr>Django Architecture</vt:lpstr>
      <vt:lpstr>Installing Django</vt:lpstr>
      <vt:lpstr>Start a Django Project</vt:lpstr>
      <vt:lpstr>Getting Start with Django in PyCharm Community Edition</vt:lpstr>
      <vt:lpstr>Install Django in PyCharm</vt:lpstr>
      <vt:lpstr>Start a Django Project</vt:lpstr>
      <vt:lpstr>Start a Django Project (Cont’d.)</vt:lpstr>
      <vt:lpstr>Exploring project structure﻿</vt:lpstr>
      <vt:lpstr>Start Django in PyCharm Professional Version</vt:lpstr>
      <vt:lpstr>Getting start with Django in Pycharm(Cont’d)</vt:lpstr>
      <vt:lpstr>Structure of the Project</vt:lpstr>
      <vt:lpstr>Structure of the Project﻿(Cont’d)</vt:lpstr>
      <vt:lpstr>Launching Django server﻿</vt:lpstr>
      <vt:lpstr>Launching Django server﻿(Cont’d)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Hay Mar Soe Naing s</cp:lastModifiedBy>
  <cp:revision>90</cp:revision>
  <dcterms:created xsi:type="dcterms:W3CDTF">2023-05-09T16:48:05Z</dcterms:created>
  <dcterms:modified xsi:type="dcterms:W3CDTF">2024-12-08T15:58:53Z</dcterms:modified>
</cp:coreProperties>
</file>