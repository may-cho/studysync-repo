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9" r:id="rId4"/>
    <p:sldId id="261" r:id="rId5"/>
    <p:sldId id="260" r:id="rId6"/>
    <p:sldId id="265" r:id="rId7"/>
    <p:sldId id="266" r:id="rId8"/>
    <p:sldId id="262" r:id="rId9"/>
    <p:sldId id="263" r:id="rId10"/>
    <p:sldId id="267" r:id="rId11"/>
    <p:sldId id="277" r:id="rId12"/>
    <p:sldId id="269" r:id="rId13"/>
    <p:sldId id="280" r:id="rId14"/>
    <p:sldId id="278" r:id="rId15"/>
    <p:sldId id="271" r:id="rId16"/>
    <p:sldId id="272" r:id="rId17"/>
    <p:sldId id="273" r:id="rId18"/>
    <p:sldId id="284" r:id="rId19"/>
    <p:sldId id="274" r:id="rId20"/>
    <p:sldId id="281" r:id="rId21"/>
    <p:sldId id="275" r:id="rId22"/>
    <p:sldId id="276" r:id="rId23"/>
    <p:sldId id="279" r:id="rId24"/>
    <p:sldId id="285" r:id="rId25"/>
    <p:sldId id="286" r:id="rId26"/>
    <p:sldId id="290" r:id="rId27"/>
    <p:sldId id="287" r:id="rId28"/>
    <p:sldId id="288" r:id="rId29"/>
    <p:sldId id="289" r:id="rId30"/>
    <p:sldId id="291" r:id="rId31"/>
    <p:sldId id="292" r:id="rId32"/>
    <p:sldId id="28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0D0DB3"/>
    <a:srgbClr val="BF3549"/>
    <a:srgbClr val="9C2C3C"/>
    <a:srgbClr val="B9B9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979" autoAdjust="0"/>
  </p:normalViewPr>
  <p:slideViewPr>
    <p:cSldViewPr snapToGrid="0">
      <p:cViewPr varScale="1">
        <p:scale>
          <a:sx n="52" d="100"/>
          <a:sy n="52" d="100"/>
        </p:scale>
        <p:origin x="116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8028C-A272-4515-A9FF-0FCD7C239BEE}" type="datetimeFigureOut">
              <a:rPr lang="en-US" smtClean="0"/>
              <a:t>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291A82-2B8A-4B07-8795-F313A7E4A6D6}" type="slidenum">
              <a:rPr lang="en-US" smtClean="0"/>
              <a:t>‹#›</a:t>
            </a:fld>
            <a:endParaRPr lang="en-US"/>
          </a:p>
        </p:txBody>
      </p:sp>
    </p:spTree>
    <p:extLst>
      <p:ext uri="{BB962C8B-B14F-4D97-AF65-F5344CB8AC3E}">
        <p14:creationId xmlns:p14="http://schemas.microsoft.com/office/powerpoint/2010/main" val="2034070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Consolas" panose="020B0609020204030204" pitchFamily="49" charset="0"/>
              </a:rPr>
              <a:t>Django Create Project:     </a:t>
            </a:r>
            <a:r>
              <a:rPr lang="en-US" b="0" i="0" dirty="0" err="1">
                <a:solidFill>
                  <a:srgbClr val="FFFFFF"/>
                </a:solidFill>
                <a:effectLst/>
                <a:latin typeface="Consolas" panose="020B0609020204030204" pitchFamily="49" charset="0"/>
              </a:rPr>
              <a:t>django</a:t>
            </a:r>
            <a:r>
              <a:rPr lang="en-US" b="0" i="0" dirty="0">
                <a:solidFill>
                  <a:srgbClr val="FFFFFF"/>
                </a:solidFill>
                <a:effectLst/>
                <a:latin typeface="Consolas" panose="020B0609020204030204" pitchFamily="49" charset="0"/>
              </a:rPr>
              <a:t>-admin </a:t>
            </a:r>
            <a:r>
              <a:rPr lang="en-US" b="0" i="0" dirty="0" err="1">
                <a:solidFill>
                  <a:srgbClr val="FFFFFF"/>
                </a:solidFill>
                <a:effectLst/>
                <a:latin typeface="Consolas" panose="020B0609020204030204" pitchFamily="49" charset="0"/>
              </a:rPr>
              <a:t>startproject</a:t>
            </a:r>
            <a:r>
              <a:rPr lang="en-US" b="0" i="0" dirty="0">
                <a:solidFill>
                  <a:srgbClr val="FFFFFF"/>
                </a:solidFill>
                <a:effectLst/>
                <a:latin typeface="Consolas" panose="020B0609020204030204" pitchFamily="49" charset="0"/>
              </a:rPr>
              <a:t> </a:t>
            </a:r>
            <a:r>
              <a:rPr lang="en-US" b="0" i="0" dirty="0" err="1">
                <a:solidFill>
                  <a:srgbClr val="FFFFFF"/>
                </a:solidFill>
                <a:effectLst/>
                <a:latin typeface="Consolas" panose="020B0609020204030204" pitchFamily="49" charset="0"/>
              </a:rPr>
              <a:t>first_project</a:t>
            </a:r>
            <a:endParaRPr lang="en-US" b="0" i="0" dirty="0">
              <a:solidFill>
                <a:srgbClr val="FFFFFF"/>
              </a:solidFill>
              <a:effectLst/>
              <a:latin typeface="Consolas" panose="020B0609020204030204" pitchFamily="49" charset="0"/>
            </a:endParaRPr>
          </a:p>
          <a:p>
            <a:r>
              <a:rPr lang="en-US" b="0" i="0" dirty="0">
                <a:solidFill>
                  <a:srgbClr val="FFFFFF"/>
                </a:solidFill>
                <a:effectLst/>
                <a:latin typeface="Consolas" panose="020B0609020204030204" pitchFamily="49" charset="0"/>
              </a:rPr>
              <a:t>Django Create App:      python manage.py </a:t>
            </a:r>
            <a:r>
              <a:rPr lang="en-US" b="0" i="0" dirty="0" err="1">
                <a:solidFill>
                  <a:srgbClr val="FFFFFF"/>
                </a:solidFill>
                <a:effectLst/>
                <a:latin typeface="Consolas" panose="020B0609020204030204" pitchFamily="49" charset="0"/>
              </a:rPr>
              <a:t>startapp</a:t>
            </a:r>
            <a:r>
              <a:rPr lang="en-US" b="0" i="0" dirty="0">
                <a:solidFill>
                  <a:srgbClr val="FFFFFF"/>
                </a:solidFill>
                <a:effectLst/>
                <a:latin typeface="Consolas" panose="020B0609020204030204" pitchFamily="49" charset="0"/>
              </a:rPr>
              <a:t> </a:t>
            </a:r>
            <a:r>
              <a:rPr lang="en-US" b="0" i="0" dirty="0" err="1">
                <a:solidFill>
                  <a:srgbClr val="FFFFFF"/>
                </a:solidFill>
                <a:effectLst/>
                <a:latin typeface="Consolas" panose="020B0609020204030204" pitchFamily="49" charset="0"/>
              </a:rPr>
              <a:t>myapp</a:t>
            </a:r>
            <a:endParaRPr lang="en-US" b="0" i="0" dirty="0">
              <a:solidFill>
                <a:srgbClr val="FFFFFF"/>
              </a:solidFill>
              <a:effectLst/>
              <a:latin typeface="Consolas" panose="020B0609020204030204" pitchFamily="49" charset="0"/>
            </a:endParaRPr>
          </a:p>
          <a:p>
            <a:r>
              <a:rPr lang="en-US" b="0" i="0" dirty="0">
                <a:solidFill>
                  <a:srgbClr val="FFFFFF"/>
                </a:solidFill>
                <a:effectLst/>
                <a:latin typeface="Consolas" panose="020B0609020204030204" pitchFamily="49" charset="0"/>
              </a:rPr>
              <a:t>Run App :  python manage.py </a:t>
            </a:r>
            <a:r>
              <a:rPr lang="en-US" b="0" i="0" dirty="0" err="1">
                <a:solidFill>
                  <a:srgbClr val="FFFFFF"/>
                </a:solidFill>
                <a:effectLst/>
                <a:latin typeface="Consolas" panose="020B0609020204030204" pitchFamily="49" charset="0"/>
              </a:rPr>
              <a:t>runserver</a:t>
            </a:r>
            <a:endParaRPr lang="en-US" b="0" i="0" dirty="0">
              <a:solidFill>
                <a:srgbClr val="FFFFFF"/>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17291A82-2B8A-4B07-8795-F313A7E4A6D6}" type="slidenum">
              <a:rPr lang="en-US" smtClean="0"/>
              <a:t>3</a:t>
            </a:fld>
            <a:endParaRPr lang="en-US"/>
          </a:p>
        </p:txBody>
      </p:sp>
    </p:spTree>
    <p:extLst>
      <p:ext uri="{BB962C8B-B14F-4D97-AF65-F5344CB8AC3E}">
        <p14:creationId xmlns:p14="http://schemas.microsoft.com/office/powerpoint/2010/main" val="4287742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Arial" panose="020B0604020202020204" pitchFamily="34" charset="0"/>
              </a:rPr>
              <a:t>Note - The default number of rows of </a:t>
            </a:r>
            <a:r>
              <a:rPr lang="en-US" b="0" i="0" dirty="0" err="1">
                <a:solidFill>
                  <a:srgbClr val="333333"/>
                </a:solidFill>
                <a:effectLst/>
                <a:latin typeface="Arial" panose="020B0604020202020204" pitchFamily="34" charset="0"/>
              </a:rPr>
              <a:t>Textarea</a:t>
            </a:r>
            <a:r>
              <a:rPr lang="en-US" b="0" i="0">
                <a:solidFill>
                  <a:srgbClr val="333333"/>
                </a:solidFill>
                <a:effectLst/>
                <a:latin typeface="Arial" panose="020B0604020202020204" pitchFamily="34" charset="0"/>
              </a:rPr>
              <a:t> is 10.</a:t>
            </a:r>
          </a:p>
          <a:p>
            <a:endParaRPr lang="en-US"/>
          </a:p>
        </p:txBody>
      </p:sp>
      <p:sp>
        <p:nvSpPr>
          <p:cNvPr id="4" name="Slide Number Placeholder 3"/>
          <p:cNvSpPr>
            <a:spLocks noGrp="1"/>
          </p:cNvSpPr>
          <p:nvPr>
            <p:ph type="sldNum" sz="quarter" idx="5"/>
          </p:nvPr>
        </p:nvSpPr>
        <p:spPr/>
        <p:txBody>
          <a:bodyPr/>
          <a:lstStyle/>
          <a:p>
            <a:fld id="{17291A82-2B8A-4B07-8795-F313A7E4A6D6}" type="slidenum">
              <a:rPr lang="en-US" smtClean="0"/>
              <a:t>18</a:t>
            </a:fld>
            <a:endParaRPr lang="en-US"/>
          </a:p>
        </p:txBody>
      </p:sp>
    </p:spTree>
    <p:extLst>
      <p:ext uri="{BB962C8B-B14F-4D97-AF65-F5344CB8AC3E}">
        <p14:creationId xmlns:p14="http://schemas.microsoft.com/office/powerpoint/2010/main" val="410529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99A69-D9BB-FC5F-15FF-A031CD1566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9E9F95-8F75-773A-9234-B54A89BA6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E1D73E-7EFC-817F-EEC5-B43663E29357}"/>
              </a:ext>
            </a:extLst>
          </p:cNvPr>
          <p:cNvSpPr>
            <a:spLocks noGrp="1"/>
          </p:cNvSpPr>
          <p:nvPr>
            <p:ph type="dt" sz="half" idx="10"/>
          </p:nvPr>
        </p:nvSpPr>
        <p:spPr/>
        <p:txBody>
          <a:bodyPr/>
          <a:lstStyle/>
          <a:p>
            <a:fld id="{6F763FAE-E829-41CA-A9B5-8113AB3B0599}" type="datetime1">
              <a:rPr lang="en-US" smtClean="0"/>
              <a:t>1/9/2024</a:t>
            </a:fld>
            <a:endParaRPr lang="en-US"/>
          </a:p>
        </p:txBody>
      </p:sp>
      <p:sp>
        <p:nvSpPr>
          <p:cNvPr id="5" name="Footer Placeholder 4">
            <a:extLst>
              <a:ext uri="{FF2B5EF4-FFF2-40B4-BE49-F238E27FC236}">
                <a16:creationId xmlns:a16="http://schemas.microsoft.com/office/drawing/2014/main" id="{31F805F7-A1F1-5F56-F10B-D18E82FAB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E5C732-6293-A073-550D-51EF286A099D}"/>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2283524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5870C-7C06-6C21-79AC-56C137EDD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C58C3F-60FA-0292-6ED3-1007D1BBBC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C6107E-74AF-8D0D-D4B2-73BD0627CC69}"/>
              </a:ext>
            </a:extLst>
          </p:cNvPr>
          <p:cNvSpPr>
            <a:spLocks noGrp="1"/>
          </p:cNvSpPr>
          <p:nvPr>
            <p:ph type="dt" sz="half" idx="10"/>
          </p:nvPr>
        </p:nvSpPr>
        <p:spPr/>
        <p:txBody>
          <a:bodyPr/>
          <a:lstStyle/>
          <a:p>
            <a:fld id="{34AA81C8-AFFB-4BD0-8D2B-CBEDEB76F569}" type="datetime1">
              <a:rPr lang="en-US" smtClean="0"/>
              <a:t>1/9/2024</a:t>
            </a:fld>
            <a:endParaRPr lang="en-US"/>
          </a:p>
        </p:txBody>
      </p:sp>
      <p:sp>
        <p:nvSpPr>
          <p:cNvPr id="5" name="Footer Placeholder 4">
            <a:extLst>
              <a:ext uri="{FF2B5EF4-FFF2-40B4-BE49-F238E27FC236}">
                <a16:creationId xmlns:a16="http://schemas.microsoft.com/office/drawing/2014/main" id="{84446805-EEEE-BF54-F0C2-77270B948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410EF2-823C-9DDF-CE61-D4F82B442907}"/>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4214195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9F4E4-5B66-3487-4F17-46235E3033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899804-A046-9983-B7F2-42CDACB97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159A7D-0912-5330-B36F-EFBB7BD479D9}"/>
              </a:ext>
            </a:extLst>
          </p:cNvPr>
          <p:cNvSpPr>
            <a:spLocks noGrp="1"/>
          </p:cNvSpPr>
          <p:nvPr>
            <p:ph type="dt" sz="half" idx="10"/>
          </p:nvPr>
        </p:nvSpPr>
        <p:spPr/>
        <p:txBody>
          <a:bodyPr/>
          <a:lstStyle/>
          <a:p>
            <a:fld id="{F40DB4F0-0B8B-475F-9014-CB5CF96C6BC2}" type="datetime1">
              <a:rPr lang="en-US" smtClean="0"/>
              <a:t>1/9/2024</a:t>
            </a:fld>
            <a:endParaRPr lang="en-US"/>
          </a:p>
        </p:txBody>
      </p:sp>
      <p:sp>
        <p:nvSpPr>
          <p:cNvPr id="5" name="Footer Placeholder 4">
            <a:extLst>
              <a:ext uri="{FF2B5EF4-FFF2-40B4-BE49-F238E27FC236}">
                <a16:creationId xmlns:a16="http://schemas.microsoft.com/office/drawing/2014/main" id="{BE6BC8B0-AD1B-5138-D196-1E52E5F24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A36A53-B1F0-662C-E865-586EA7DC41B1}"/>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4053050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B1B02-02B1-B11E-B1C1-C8AC75A264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DEB7D6-D083-CA70-5E49-3732B5F4ED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971D86-8BDF-9D0B-2F2D-791513A3F3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655ECD-CC3B-5111-586D-26C36F8B1CD5}"/>
              </a:ext>
            </a:extLst>
          </p:cNvPr>
          <p:cNvSpPr>
            <a:spLocks noGrp="1"/>
          </p:cNvSpPr>
          <p:nvPr>
            <p:ph type="dt" sz="half" idx="10"/>
          </p:nvPr>
        </p:nvSpPr>
        <p:spPr/>
        <p:txBody>
          <a:bodyPr/>
          <a:lstStyle/>
          <a:p>
            <a:fld id="{E84334FB-69FA-4E11-924A-B5275EA16764}" type="datetime1">
              <a:rPr lang="en-US" smtClean="0"/>
              <a:t>1/9/2024</a:t>
            </a:fld>
            <a:endParaRPr lang="en-US"/>
          </a:p>
        </p:txBody>
      </p:sp>
      <p:sp>
        <p:nvSpPr>
          <p:cNvPr id="6" name="Footer Placeholder 5">
            <a:extLst>
              <a:ext uri="{FF2B5EF4-FFF2-40B4-BE49-F238E27FC236}">
                <a16:creationId xmlns:a16="http://schemas.microsoft.com/office/drawing/2014/main" id="{A7F3B3C2-34B2-BB20-8B08-E25761408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904918-E9D6-190B-E7BD-9B79F2978FD1}"/>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3990895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5293-9CC6-6CF1-7A08-3B992E0244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EE48B57-9AE2-C6E3-6FA1-F963BFA841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F14CE3-9F6A-A6EE-792B-943E8DAF6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3AC895-0287-6FF3-4ACF-A53D508318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E46AFA-811D-A6CB-200C-C6C34A143D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A892DD-3E2E-402C-1853-A3BA489DCD14}"/>
              </a:ext>
            </a:extLst>
          </p:cNvPr>
          <p:cNvSpPr>
            <a:spLocks noGrp="1"/>
          </p:cNvSpPr>
          <p:nvPr>
            <p:ph type="dt" sz="half" idx="10"/>
          </p:nvPr>
        </p:nvSpPr>
        <p:spPr/>
        <p:txBody>
          <a:bodyPr/>
          <a:lstStyle/>
          <a:p>
            <a:fld id="{25CDD6F0-AE0F-46F0-A033-CF9B08FDD9C1}" type="datetime1">
              <a:rPr lang="en-US" smtClean="0"/>
              <a:t>1/9/2024</a:t>
            </a:fld>
            <a:endParaRPr lang="en-US"/>
          </a:p>
        </p:txBody>
      </p:sp>
      <p:sp>
        <p:nvSpPr>
          <p:cNvPr id="8" name="Footer Placeholder 7">
            <a:extLst>
              <a:ext uri="{FF2B5EF4-FFF2-40B4-BE49-F238E27FC236}">
                <a16:creationId xmlns:a16="http://schemas.microsoft.com/office/drawing/2014/main" id="{E15C273C-CCDA-9554-E4C9-33146A72A2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C0667B-064A-C63A-14B3-44337C9D6028}"/>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69502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03B6F-7403-7EC0-40E9-7D88AE7857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A314C7-6B2F-AB22-508A-7FFB0F02A026}"/>
              </a:ext>
            </a:extLst>
          </p:cNvPr>
          <p:cNvSpPr>
            <a:spLocks noGrp="1"/>
          </p:cNvSpPr>
          <p:nvPr>
            <p:ph type="dt" sz="half" idx="10"/>
          </p:nvPr>
        </p:nvSpPr>
        <p:spPr/>
        <p:txBody>
          <a:bodyPr/>
          <a:lstStyle/>
          <a:p>
            <a:fld id="{FA9892BB-1570-4885-9C7E-7F36EC6F9E5B}" type="datetime1">
              <a:rPr lang="en-US" smtClean="0"/>
              <a:t>1/9/2024</a:t>
            </a:fld>
            <a:endParaRPr lang="en-US"/>
          </a:p>
        </p:txBody>
      </p:sp>
      <p:sp>
        <p:nvSpPr>
          <p:cNvPr id="4" name="Footer Placeholder 3">
            <a:extLst>
              <a:ext uri="{FF2B5EF4-FFF2-40B4-BE49-F238E27FC236}">
                <a16:creationId xmlns:a16="http://schemas.microsoft.com/office/drawing/2014/main" id="{450B0930-F9CD-DCDE-F629-30A33C8191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B66DF8-7057-D987-AF24-CD2A1E0F65BF}"/>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2532457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884C2D-A0BC-0CBC-781D-086658D39B9D}"/>
              </a:ext>
            </a:extLst>
          </p:cNvPr>
          <p:cNvSpPr>
            <a:spLocks noGrp="1"/>
          </p:cNvSpPr>
          <p:nvPr>
            <p:ph type="dt" sz="half" idx="10"/>
          </p:nvPr>
        </p:nvSpPr>
        <p:spPr/>
        <p:txBody>
          <a:bodyPr/>
          <a:lstStyle/>
          <a:p>
            <a:fld id="{0DD49CDA-ACB2-4337-9023-C97B2D54E1C2}" type="datetime1">
              <a:rPr lang="en-US" smtClean="0"/>
              <a:t>1/9/2024</a:t>
            </a:fld>
            <a:endParaRPr lang="en-US"/>
          </a:p>
        </p:txBody>
      </p:sp>
      <p:sp>
        <p:nvSpPr>
          <p:cNvPr id="3" name="Footer Placeholder 2">
            <a:extLst>
              <a:ext uri="{FF2B5EF4-FFF2-40B4-BE49-F238E27FC236}">
                <a16:creationId xmlns:a16="http://schemas.microsoft.com/office/drawing/2014/main" id="{87AAE3BB-4B06-7273-8CD0-DF4196EE3B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EC67912-78C2-6DBC-17F7-C6F1566CA49D}"/>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404343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D826F-7E23-4184-20DF-C9A4544DCA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B2A44A-3E4A-E960-97FD-500B1DEA8C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FFFBA7-B97B-FDAA-523B-490A7534E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A9A993-6BEA-3706-0D19-37805C0CFD60}"/>
              </a:ext>
            </a:extLst>
          </p:cNvPr>
          <p:cNvSpPr>
            <a:spLocks noGrp="1"/>
          </p:cNvSpPr>
          <p:nvPr>
            <p:ph type="dt" sz="half" idx="10"/>
          </p:nvPr>
        </p:nvSpPr>
        <p:spPr/>
        <p:txBody>
          <a:bodyPr/>
          <a:lstStyle/>
          <a:p>
            <a:fld id="{17DB2DC0-E978-4C0B-B825-A3A9A94927AE}" type="datetime1">
              <a:rPr lang="en-US" smtClean="0"/>
              <a:t>1/9/2024</a:t>
            </a:fld>
            <a:endParaRPr lang="en-US"/>
          </a:p>
        </p:txBody>
      </p:sp>
      <p:sp>
        <p:nvSpPr>
          <p:cNvPr id="6" name="Footer Placeholder 5">
            <a:extLst>
              <a:ext uri="{FF2B5EF4-FFF2-40B4-BE49-F238E27FC236}">
                <a16:creationId xmlns:a16="http://schemas.microsoft.com/office/drawing/2014/main" id="{00C33C70-69CC-F77C-DBB5-633D1B9E35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AFB167-5263-9A18-DB8E-E7387BC878E8}"/>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715545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618C9-0829-9D3A-12E5-C62C6176C2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2AA594-29B3-774B-5929-B5543BCBF5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97B54F-B63F-02A1-12FB-C683BDD83E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0B8379-F35C-4EF1-DBE4-472C778E840C}"/>
              </a:ext>
            </a:extLst>
          </p:cNvPr>
          <p:cNvSpPr>
            <a:spLocks noGrp="1"/>
          </p:cNvSpPr>
          <p:nvPr>
            <p:ph type="dt" sz="half" idx="10"/>
          </p:nvPr>
        </p:nvSpPr>
        <p:spPr/>
        <p:txBody>
          <a:bodyPr/>
          <a:lstStyle/>
          <a:p>
            <a:fld id="{C319D3BC-C7A0-49D6-B71B-F7497AC387F0}" type="datetime1">
              <a:rPr lang="en-US" smtClean="0"/>
              <a:t>1/9/2024</a:t>
            </a:fld>
            <a:endParaRPr lang="en-US"/>
          </a:p>
        </p:txBody>
      </p:sp>
      <p:sp>
        <p:nvSpPr>
          <p:cNvPr id="6" name="Footer Placeholder 5">
            <a:extLst>
              <a:ext uri="{FF2B5EF4-FFF2-40B4-BE49-F238E27FC236}">
                <a16:creationId xmlns:a16="http://schemas.microsoft.com/office/drawing/2014/main" id="{20FBA566-AA21-3E2D-22F9-5E68015D8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0F21F7-C019-9BE2-B363-92097EC8B81D}"/>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968352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8DC0F-2857-FA26-27A1-30AA57A9D9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8BDCCC-0A3B-D1EC-5FDB-651B571F98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BA7AE7-2349-26D8-B893-1F5D2C7D470F}"/>
              </a:ext>
            </a:extLst>
          </p:cNvPr>
          <p:cNvSpPr>
            <a:spLocks noGrp="1"/>
          </p:cNvSpPr>
          <p:nvPr>
            <p:ph type="dt" sz="half" idx="10"/>
          </p:nvPr>
        </p:nvSpPr>
        <p:spPr/>
        <p:txBody>
          <a:bodyPr/>
          <a:lstStyle/>
          <a:p>
            <a:fld id="{7B7434F4-4A85-4B5F-BE2D-E40BFEEBE6B8}" type="datetime1">
              <a:rPr lang="en-US" smtClean="0"/>
              <a:t>1/9/2024</a:t>
            </a:fld>
            <a:endParaRPr lang="en-US"/>
          </a:p>
        </p:txBody>
      </p:sp>
      <p:sp>
        <p:nvSpPr>
          <p:cNvPr id="5" name="Footer Placeholder 4">
            <a:extLst>
              <a:ext uri="{FF2B5EF4-FFF2-40B4-BE49-F238E27FC236}">
                <a16:creationId xmlns:a16="http://schemas.microsoft.com/office/drawing/2014/main" id="{98691AB0-CED5-CF49-F945-EC8B16A270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76A2DB-79EC-440A-17E6-BE2DC974D8EC}"/>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1722839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6A7176-127F-E3F4-6FF4-4235296EA2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3570B9-E03F-DD63-D898-1251773403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5C44B0-25C9-CAFF-D75D-03248C058BDF}"/>
              </a:ext>
            </a:extLst>
          </p:cNvPr>
          <p:cNvSpPr>
            <a:spLocks noGrp="1"/>
          </p:cNvSpPr>
          <p:nvPr>
            <p:ph type="dt" sz="half" idx="10"/>
          </p:nvPr>
        </p:nvSpPr>
        <p:spPr/>
        <p:txBody>
          <a:bodyPr/>
          <a:lstStyle/>
          <a:p>
            <a:fld id="{2967DEE4-9EC7-461F-853D-520122344D92}" type="datetime1">
              <a:rPr lang="en-US" smtClean="0"/>
              <a:t>1/9/2024</a:t>
            </a:fld>
            <a:endParaRPr lang="en-US"/>
          </a:p>
        </p:txBody>
      </p:sp>
      <p:sp>
        <p:nvSpPr>
          <p:cNvPr id="5" name="Footer Placeholder 4">
            <a:extLst>
              <a:ext uri="{FF2B5EF4-FFF2-40B4-BE49-F238E27FC236}">
                <a16:creationId xmlns:a16="http://schemas.microsoft.com/office/drawing/2014/main" id="{0F4515A5-87D2-395B-1305-8B985DCF9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66B37D-E886-D7F4-3B52-E596F2524F5A}"/>
              </a:ext>
            </a:extLst>
          </p:cNvPr>
          <p:cNvSpPr>
            <a:spLocks noGrp="1"/>
          </p:cNvSpPr>
          <p:nvPr>
            <p:ph type="sldNum" sz="quarter" idx="12"/>
          </p:nvPr>
        </p:nvSpPr>
        <p:spPr/>
        <p:txBody>
          <a:bodyPr/>
          <a:lstStyle/>
          <a:p>
            <a:fld id="{EC47AAD7-037B-4BD0-8FE6-944FB61E3E6F}" type="slidenum">
              <a:rPr lang="en-US" smtClean="0"/>
              <a:t>‹#›</a:t>
            </a:fld>
            <a:endParaRPr lang="en-US"/>
          </a:p>
        </p:txBody>
      </p:sp>
    </p:spTree>
    <p:extLst>
      <p:ext uri="{BB962C8B-B14F-4D97-AF65-F5344CB8AC3E}">
        <p14:creationId xmlns:p14="http://schemas.microsoft.com/office/powerpoint/2010/main" val="174089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0925DD-CA93-1946-BDED-C3224D898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E2189F-8163-5B32-7775-BB186D095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4A99E4-169C-1D99-2566-8FFC0A102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7B3216-42AD-4BC1-A539-6A0791EEAD70}" type="datetime1">
              <a:rPr lang="en-US" smtClean="0"/>
              <a:t>1/9/2024</a:t>
            </a:fld>
            <a:endParaRPr lang="en-US"/>
          </a:p>
        </p:txBody>
      </p:sp>
      <p:sp>
        <p:nvSpPr>
          <p:cNvPr id="5" name="Footer Placeholder 4">
            <a:extLst>
              <a:ext uri="{FF2B5EF4-FFF2-40B4-BE49-F238E27FC236}">
                <a16:creationId xmlns:a16="http://schemas.microsoft.com/office/drawing/2014/main" id="{F821AEB7-8DA6-0843-7768-0AD51C06C9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B3B811-3309-4A74-3C7E-916EBE79A5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47AAD7-037B-4BD0-8FE6-944FB61E3E6F}" type="slidenum">
              <a:rPr lang="en-US" smtClean="0"/>
              <a:t>‹#›</a:t>
            </a:fld>
            <a:endParaRPr lang="en-US"/>
          </a:p>
        </p:txBody>
      </p:sp>
    </p:spTree>
    <p:extLst>
      <p:ext uri="{BB962C8B-B14F-4D97-AF65-F5344CB8AC3E}">
        <p14:creationId xmlns:p14="http://schemas.microsoft.com/office/powerpoint/2010/main" val="3953609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AEA43-C87D-AC46-4F3F-3C53F116B1B6}"/>
              </a:ext>
            </a:extLst>
          </p:cNvPr>
          <p:cNvSpPr>
            <a:spLocks noGrp="1"/>
          </p:cNvSpPr>
          <p:nvPr>
            <p:ph type="ctrTitle"/>
          </p:nvPr>
        </p:nvSpPr>
        <p:spPr>
          <a:xfrm>
            <a:off x="1406013" y="1948272"/>
            <a:ext cx="9144000" cy="2387600"/>
          </a:xfrm>
        </p:spPr>
        <p:txBody>
          <a:bodyPr>
            <a:normAutofit fontScale="90000"/>
          </a:bodyPr>
          <a:lstStyle/>
          <a:p>
            <a:r>
              <a:rPr lang="en-US" dirty="0"/>
              <a:t>Chapter – 6</a:t>
            </a:r>
            <a:br>
              <a:rPr lang="en-US" dirty="0"/>
            </a:br>
            <a:br>
              <a:rPr lang="en-US" dirty="0"/>
            </a:br>
            <a:r>
              <a:rPr lang="en-US" dirty="0"/>
              <a:t>Django - Forms</a:t>
            </a:r>
          </a:p>
        </p:txBody>
      </p:sp>
      <p:sp>
        <p:nvSpPr>
          <p:cNvPr id="3" name="Slide Number Placeholder 2">
            <a:extLst>
              <a:ext uri="{FF2B5EF4-FFF2-40B4-BE49-F238E27FC236}">
                <a16:creationId xmlns:a16="http://schemas.microsoft.com/office/drawing/2014/main" id="{A2989E57-447B-9338-2C60-9B6CD275B5A9}"/>
              </a:ext>
            </a:extLst>
          </p:cNvPr>
          <p:cNvSpPr>
            <a:spLocks noGrp="1"/>
          </p:cNvSpPr>
          <p:nvPr>
            <p:ph type="sldNum" sz="quarter" idx="12"/>
          </p:nvPr>
        </p:nvSpPr>
        <p:spPr/>
        <p:txBody>
          <a:bodyPr/>
          <a:lstStyle/>
          <a:p>
            <a:fld id="{EC47AAD7-037B-4BD0-8FE6-944FB61E3E6F}" type="slidenum">
              <a:rPr lang="en-US" smtClean="0"/>
              <a:t>1</a:t>
            </a:fld>
            <a:endParaRPr lang="en-US"/>
          </a:p>
        </p:txBody>
      </p:sp>
    </p:spTree>
    <p:extLst>
      <p:ext uri="{BB962C8B-B14F-4D97-AF65-F5344CB8AC3E}">
        <p14:creationId xmlns:p14="http://schemas.microsoft.com/office/powerpoint/2010/main" val="35458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E45B-6421-9FC6-B5C7-BCAFEB7F68D9}"/>
              </a:ext>
            </a:extLst>
          </p:cNvPr>
          <p:cNvSpPr>
            <a:spLocks noGrp="1"/>
          </p:cNvSpPr>
          <p:nvPr>
            <p:ph type="title"/>
          </p:nvPr>
        </p:nvSpPr>
        <p:spPr/>
        <p:txBody>
          <a:bodyPr/>
          <a:lstStyle/>
          <a:p>
            <a:r>
              <a:rPr lang="en-US" dirty="0"/>
              <a:t>Outlines</a:t>
            </a:r>
          </a:p>
        </p:txBody>
      </p:sp>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p:txBody>
          <a:bodyPr/>
          <a:lstStyle/>
          <a:p>
            <a:pPr marL="395288" indent="-395288"/>
            <a:r>
              <a:rPr lang="en-US" dirty="0"/>
              <a:t>What is Django Form?</a:t>
            </a:r>
          </a:p>
          <a:p>
            <a:pPr marL="395288" indent="-395288"/>
            <a:r>
              <a:rPr lang="en-US" dirty="0"/>
              <a:t>Django Form Workflow</a:t>
            </a:r>
          </a:p>
          <a:p>
            <a:pPr marL="395288" indent="-395288"/>
            <a:r>
              <a:rPr lang="en-US" dirty="0"/>
              <a:t>Building a Form in Django</a:t>
            </a:r>
          </a:p>
          <a:p>
            <a:pPr marL="395288" indent="-395288"/>
            <a:r>
              <a:rPr lang="en-US" dirty="0"/>
              <a:t>Instantiating Form in Django</a:t>
            </a:r>
          </a:p>
          <a:p>
            <a:pPr marL="395288" indent="-395288"/>
            <a:r>
              <a:rPr lang="en-US" dirty="0"/>
              <a:t>Accessing Form Values</a:t>
            </a:r>
          </a:p>
          <a:p>
            <a:pPr marL="395288" indent="-395288"/>
            <a:r>
              <a:rPr lang="en-US" dirty="0"/>
              <a:t>Validating Form Values</a:t>
            </a:r>
          </a:p>
          <a:p>
            <a:pPr marL="0" indent="0">
              <a:buNone/>
            </a:pPr>
            <a:endParaRPr lang="en-US" dirty="0"/>
          </a:p>
        </p:txBody>
      </p:sp>
      <p:sp>
        <p:nvSpPr>
          <p:cNvPr id="4" name="Slide Number Placeholder 3">
            <a:extLst>
              <a:ext uri="{FF2B5EF4-FFF2-40B4-BE49-F238E27FC236}">
                <a16:creationId xmlns:a16="http://schemas.microsoft.com/office/drawing/2014/main" id="{7AFFE9E3-3E6E-5C75-14B4-64EE9C93B36F}"/>
              </a:ext>
            </a:extLst>
          </p:cNvPr>
          <p:cNvSpPr>
            <a:spLocks noGrp="1"/>
          </p:cNvSpPr>
          <p:nvPr>
            <p:ph type="sldNum" sz="quarter" idx="12"/>
          </p:nvPr>
        </p:nvSpPr>
        <p:spPr/>
        <p:txBody>
          <a:bodyPr/>
          <a:lstStyle/>
          <a:p>
            <a:fld id="{EC47AAD7-037B-4BD0-8FE6-944FB61E3E6F}" type="slidenum">
              <a:rPr lang="en-US" smtClean="0"/>
              <a:t>2</a:t>
            </a:fld>
            <a:endParaRPr lang="en-US"/>
          </a:p>
        </p:txBody>
      </p:sp>
    </p:spTree>
    <p:extLst>
      <p:ext uri="{BB962C8B-B14F-4D97-AF65-F5344CB8AC3E}">
        <p14:creationId xmlns:p14="http://schemas.microsoft.com/office/powerpoint/2010/main" val="2800194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E45B-6421-9FC6-B5C7-BCAFEB7F68D9}"/>
              </a:ext>
            </a:extLst>
          </p:cNvPr>
          <p:cNvSpPr>
            <a:spLocks noGrp="1"/>
          </p:cNvSpPr>
          <p:nvPr>
            <p:ph type="title"/>
          </p:nvPr>
        </p:nvSpPr>
        <p:spPr/>
        <p:txBody>
          <a:bodyPr/>
          <a:lstStyle/>
          <a:p>
            <a:r>
              <a:rPr lang="en-US" dirty="0"/>
              <a:t>Django – Forms Processing</a:t>
            </a:r>
          </a:p>
        </p:txBody>
      </p:sp>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a:xfrm>
            <a:off x="838200" y="1825625"/>
            <a:ext cx="10515600" cy="4351338"/>
          </a:xfrm>
        </p:spPr>
        <p:txBody>
          <a:bodyPr>
            <a:normAutofit/>
          </a:bodyPr>
          <a:lstStyle/>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Django provides a Form class that is used to create HTML forms.</a:t>
            </a:r>
          </a:p>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Each field in the form class maps to an &lt;input&gt; element in the HTML form, each of which is the class itself.</a:t>
            </a:r>
          </a:p>
          <a:p>
            <a:pPr marL="285750" indent="-285750" algn="jus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manages form data and performs validation while submitting the form.</a:t>
            </a:r>
          </a:p>
        </p:txBody>
      </p:sp>
      <p:sp>
        <p:nvSpPr>
          <p:cNvPr id="4" name="Slide Number Placeholder 3">
            <a:extLst>
              <a:ext uri="{FF2B5EF4-FFF2-40B4-BE49-F238E27FC236}">
                <a16:creationId xmlns:a16="http://schemas.microsoft.com/office/drawing/2014/main" id="{3C21E5B4-230E-15B8-235A-5C9F1641F58F}"/>
              </a:ext>
            </a:extLst>
          </p:cNvPr>
          <p:cNvSpPr>
            <a:spLocks noGrp="1"/>
          </p:cNvSpPr>
          <p:nvPr>
            <p:ph type="sldNum" sz="quarter" idx="12"/>
          </p:nvPr>
        </p:nvSpPr>
        <p:spPr/>
        <p:txBody>
          <a:bodyPr/>
          <a:lstStyle/>
          <a:p>
            <a:fld id="{EC47AAD7-037B-4BD0-8FE6-944FB61E3E6F}" type="slidenum">
              <a:rPr lang="en-US" smtClean="0"/>
              <a:t>3</a:t>
            </a:fld>
            <a:endParaRPr lang="en-US"/>
          </a:p>
        </p:txBody>
      </p:sp>
    </p:spTree>
    <p:extLst>
      <p:ext uri="{BB962C8B-B14F-4D97-AF65-F5344CB8AC3E}">
        <p14:creationId xmlns:p14="http://schemas.microsoft.com/office/powerpoint/2010/main" val="2584246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E45B-6421-9FC6-B5C7-BCAFEB7F68D9}"/>
              </a:ext>
            </a:extLst>
          </p:cNvPr>
          <p:cNvSpPr>
            <a:spLocks noGrp="1"/>
          </p:cNvSpPr>
          <p:nvPr>
            <p:ph type="title"/>
          </p:nvPr>
        </p:nvSpPr>
        <p:spPr/>
        <p:txBody>
          <a:bodyPr/>
          <a:lstStyle/>
          <a:p>
            <a:r>
              <a:rPr lang="en-US" dirty="0"/>
              <a:t>Django Form Workflow</a:t>
            </a:r>
          </a:p>
        </p:txBody>
      </p:sp>
      <p:pic>
        <p:nvPicPr>
          <p:cNvPr id="9" name="Picture 8">
            <a:extLst>
              <a:ext uri="{FF2B5EF4-FFF2-40B4-BE49-F238E27FC236}">
                <a16:creationId xmlns:a16="http://schemas.microsoft.com/office/drawing/2014/main" id="{01448B66-D946-E37F-B595-4D75400FE8D2}"/>
              </a:ext>
            </a:extLst>
          </p:cNvPr>
          <p:cNvPicPr>
            <a:picLocks noChangeAspect="1"/>
          </p:cNvPicPr>
          <p:nvPr/>
        </p:nvPicPr>
        <p:blipFill>
          <a:blip r:embed="rId2"/>
          <a:stretch>
            <a:fillRect/>
          </a:stretch>
        </p:blipFill>
        <p:spPr>
          <a:xfrm>
            <a:off x="2015614" y="1754105"/>
            <a:ext cx="8160772" cy="4738770"/>
          </a:xfrm>
          <a:prstGeom prst="rect">
            <a:avLst/>
          </a:prstGeom>
        </p:spPr>
      </p:pic>
      <p:sp>
        <p:nvSpPr>
          <p:cNvPr id="3" name="Slide Number Placeholder 2">
            <a:extLst>
              <a:ext uri="{FF2B5EF4-FFF2-40B4-BE49-F238E27FC236}">
                <a16:creationId xmlns:a16="http://schemas.microsoft.com/office/drawing/2014/main" id="{8682B355-7220-EEDD-FFF9-51AACCEE3E71}"/>
              </a:ext>
            </a:extLst>
          </p:cNvPr>
          <p:cNvSpPr>
            <a:spLocks noGrp="1"/>
          </p:cNvSpPr>
          <p:nvPr>
            <p:ph type="sldNum" sz="quarter" idx="12"/>
          </p:nvPr>
        </p:nvSpPr>
        <p:spPr/>
        <p:txBody>
          <a:bodyPr/>
          <a:lstStyle/>
          <a:p>
            <a:fld id="{EC47AAD7-037B-4BD0-8FE6-944FB61E3E6F}" type="slidenum">
              <a:rPr lang="en-US" smtClean="0"/>
              <a:t>4</a:t>
            </a:fld>
            <a:endParaRPr lang="en-US"/>
          </a:p>
        </p:txBody>
      </p:sp>
    </p:spTree>
    <p:extLst>
      <p:ext uri="{BB962C8B-B14F-4D97-AF65-F5344CB8AC3E}">
        <p14:creationId xmlns:p14="http://schemas.microsoft.com/office/powerpoint/2010/main" val="202776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9E45B-6421-9FC6-B5C7-BCAFEB7F68D9}"/>
              </a:ext>
            </a:extLst>
          </p:cNvPr>
          <p:cNvSpPr>
            <a:spLocks noGrp="1"/>
          </p:cNvSpPr>
          <p:nvPr>
            <p:ph type="title"/>
          </p:nvPr>
        </p:nvSpPr>
        <p:spPr/>
        <p:txBody>
          <a:bodyPr/>
          <a:lstStyle/>
          <a:p>
            <a:r>
              <a:rPr lang="en-US" dirty="0"/>
              <a:t>Building a Form in Django </a:t>
            </a:r>
          </a:p>
        </p:txBody>
      </p:sp>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a:xfrm>
            <a:off x="838200" y="1825625"/>
            <a:ext cx="10515600" cy="681601"/>
          </a:xfrm>
        </p:spPr>
        <p:txBody>
          <a:bodyPr>
            <a:normAutofit/>
          </a:body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Let's add a </a:t>
            </a:r>
            <a:r>
              <a:rPr lang="en-US" sz="2000" b="1" dirty="0">
                <a:solidFill>
                  <a:schemeClr val="accent1"/>
                </a:solidFill>
                <a:latin typeface="Times New Roman" panose="02020603050405020304" pitchFamily="18" charset="0"/>
                <a:cs typeface="Times New Roman" panose="02020603050405020304" pitchFamily="18" charset="0"/>
              </a:rPr>
              <a:t>forms.py</a:t>
            </a:r>
            <a:r>
              <a:rPr lang="en-US" sz="2000" dirty="0">
                <a:latin typeface="Times New Roman" panose="02020603050405020304" pitchFamily="18" charset="0"/>
                <a:cs typeface="Times New Roman" panose="02020603050405020304" pitchFamily="18" charset="0"/>
              </a:rPr>
              <a:t> in file in “application” folder to contain our application forms. </a:t>
            </a:r>
          </a:p>
        </p:txBody>
      </p:sp>
      <p:sp>
        <p:nvSpPr>
          <p:cNvPr id="4" name="Content Placeholder 2">
            <a:extLst>
              <a:ext uri="{FF2B5EF4-FFF2-40B4-BE49-F238E27FC236}">
                <a16:creationId xmlns:a16="http://schemas.microsoft.com/office/drawing/2014/main" id="{58CC1DC3-F052-F124-C041-C642C379B07D}"/>
              </a:ext>
            </a:extLst>
          </p:cNvPr>
          <p:cNvSpPr txBox="1">
            <a:spLocks/>
          </p:cNvSpPr>
          <p:nvPr/>
        </p:nvSpPr>
        <p:spPr>
          <a:xfrm>
            <a:off x="943896" y="2642163"/>
            <a:ext cx="10409904" cy="2913063"/>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a:p>
            <a:pPr marL="0" indent="0">
              <a:buNone/>
            </a:pPr>
            <a:r>
              <a:rPr lang="en-US" sz="1600" b="1" i="0" u="none" strike="noStrike" baseline="0" dirty="0">
                <a:solidFill>
                  <a:srgbClr val="000065"/>
                </a:solidFill>
                <a:latin typeface="Consolas" panose="020B0609020204030204" pitchFamily="49" charset="0"/>
              </a:rPr>
              <a:t>from </a:t>
            </a:r>
            <a:r>
              <a:rPr lang="en-US" sz="1600" b="0" i="0" u="none" strike="noStrike" baseline="0" dirty="0" err="1">
                <a:solidFill>
                  <a:srgbClr val="000000"/>
                </a:solidFill>
                <a:latin typeface="Consolas" panose="020B0609020204030204" pitchFamily="49" charset="0"/>
              </a:rPr>
              <a:t>django</a:t>
            </a:r>
            <a:r>
              <a:rPr lang="en-US" sz="1600" b="0" i="0" u="none" strike="noStrike" baseline="0" dirty="0">
                <a:solidFill>
                  <a:srgbClr val="000000"/>
                </a:solidFill>
                <a:latin typeface="Consolas" panose="020B0609020204030204" pitchFamily="49" charset="0"/>
              </a:rPr>
              <a:t> </a:t>
            </a:r>
            <a:r>
              <a:rPr lang="en-US" sz="1600" b="1" dirty="0">
                <a:solidFill>
                  <a:srgbClr val="000065"/>
                </a:solidFill>
                <a:latin typeface="Consolas" panose="020B0609020204030204" pitchFamily="49" charset="0"/>
              </a:rPr>
              <a:t>import</a:t>
            </a:r>
            <a:r>
              <a:rPr lang="en-US" sz="1600" b="1" i="0" u="none" strike="noStrike" baseline="0" dirty="0">
                <a:solidFill>
                  <a:srgbClr val="000000"/>
                </a:solidFill>
                <a:latin typeface="Consolas" panose="020B0609020204030204" pitchFamily="49" charset="0"/>
              </a:rPr>
              <a:t> </a:t>
            </a:r>
            <a:r>
              <a:rPr lang="en-US" sz="1600" b="0" i="0" u="none" strike="noStrike" baseline="0" dirty="0">
                <a:solidFill>
                  <a:srgbClr val="000000"/>
                </a:solidFill>
                <a:latin typeface="Consolas" panose="020B0609020204030204" pitchFamily="49" charset="0"/>
              </a:rPr>
              <a:t>forms</a:t>
            </a:r>
            <a:endParaRPr lang="en-US" sz="1600" b="1" i="0" u="none" strike="noStrike" baseline="0" dirty="0">
              <a:solidFill>
                <a:srgbClr val="000065"/>
              </a:solidFill>
              <a:latin typeface="Consolas" panose="020B0609020204030204" pitchFamily="49" charset="0"/>
            </a:endParaRPr>
          </a:p>
          <a:p>
            <a:pPr marL="0" indent="0">
              <a:buNone/>
            </a:pPr>
            <a:r>
              <a:rPr lang="en-US" sz="1600" b="1" i="0" u="none" strike="noStrike" baseline="0" dirty="0">
                <a:solidFill>
                  <a:srgbClr val="000065"/>
                </a:solidFill>
                <a:latin typeface="Consolas" panose="020B0609020204030204" pitchFamily="49" charset="0"/>
              </a:rPr>
              <a:t> </a:t>
            </a:r>
          </a:p>
          <a:p>
            <a:pPr marL="0" indent="0">
              <a:buNone/>
            </a:pPr>
            <a:r>
              <a:rPr lang="en-US" sz="1600" b="1" i="0" u="none" strike="noStrike" baseline="0" dirty="0">
                <a:solidFill>
                  <a:srgbClr val="000000"/>
                </a:solidFill>
                <a:latin typeface="Consolas" panose="020B0609020204030204" pitchFamily="49" charset="0"/>
              </a:rPr>
              <a:t>class </a:t>
            </a:r>
            <a:r>
              <a:rPr lang="en-US" sz="1600" b="1" i="0" u="none" strike="noStrike" baseline="0" dirty="0" err="1">
                <a:solidFill>
                  <a:srgbClr val="000000"/>
                </a:solidFill>
                <a:latin typeface="Consolas" panose="020B0609020204030204" pitchFamily="49" charset="0"/>
              </a:rPr>
              <a:t>StudentForm</a:t>
            </a:r>
            <a:r>
              <a:rPr lang="en-US" sz="1600" b="0" i="0" u="none" strike="noStrike" baseline="0" dirty="0">
                <a:solidFill>
                  <a:srgbClr val="000000"/>
                </a:solidFill>
                <a:latin typeface="Consolas" panose="020B0609020204030204" pitchFamily="49" charset="0"/>
              </a:rPr>
              <a:t>(</a:t>
            </a:r>
            <a:r>
              <a:rPr lang="en-US" sz="1600" b="0" i="0" u="none" strike="noStrike" baseline="0" dirty="0" err="1">
                <a:solidFill>
                  <a:srgbClr val="000000"/>
                </a:solidFill>
                <a:latin typeface="Consolas" panose="020B0609020204030204" pitchFamily="49" charset="0"/>
              </a:rPr>
              <a:t>forms.</a:t>
            </a:r>
            <a:r>
              <a:rPr lang="en-US" sz="1600" b="1" i="0" u="none" strike="noStrike" baseline="0" dirty="0" err="1">
                <a:solidFill>
                  <a:srgbClr val="440044"/>
                </a:solidFill>
                <a:latin typeface="Consolas" panose="020B0609020204030204" pitchFamily="49" charset="0"/>
              </a:rPr>
              <a:t>Form</a:t>
            </a:r>
            <a:r>
              <a:rPr lang="en-US" sz="1600" b="0" i="0" u="none" strike="noStrike" baseline="0" dirty="0">
                <a:solidFill>
                  <a:srgbClr val="000000"/>
                </a:solidFill>
                <a:latin typeface="Consolas" panose="020B0609020204030204" pitchFamily="49" charset="0"/>
              </a:rPr>
              <a:t>):</a:t>
            </a:r>
            <a:endParaRPr lang="en-US" sz="1600" dirty="0">
              <a:solidFill>
                <a:srgbClr val="444400"/>
              </a:solidFill>
              <a:latin typeface="Consolas" panose="020B0609020204030204" pitchFamily="49" charset="0"/>
            </a:endParaRPr>
          </a:p>
          <a:p>
            <a:pPr marL="0" indent="0">
              <a:buNone/>
            </a:pPr>
            <a:r>
              <a:rPr lang="en-US" sz="1600" b="0" i="0" u="none" strike="noStrike" baseline="0" dirty="0">
                <a:solidFill>
                  <a:srgbClr val="444400"/>
                </a:solidFill>
                <a:latin typeface="Consolas" panose="020B0609020204030204" pitchFamily="49" charset="0"/>
              </a:rPr>
              <a:t>   </a:t>
            </a:r>
            <a:r>
              <a:rPr lang="en-US" sz="1600" b="0" i="0" u="none" strike="noStrike" baseline="0" dirty="0">
                <a:solidFill>
                  <a:srgbClr val="000000"/>
                </a:solidFill>
                <a:latin typeface="Consolas" panose="020B0609020204030204" pitchFamily="49" charset="0"/>
              </a:rPr>
              <a:t>username =</a:t>
            </a:r>
            <a:r>
              <a:rPr lang="en-US" sz="1600" b="0" i="0" u="none" strike="noStrike" baseline="0" dirty="0">
                <a:solidFill>
                  <a:srgbClr val="444400"/>
                </a:solidFill>
                <a:latin typeface="Consolas" panose="020B0609020204030204" pitchFamily="49" charset="0"/>
              </a:rPr>
              <a:t> </a:t>
            </a:r>
            <a:r>
              <a:rPr lang="en-US" sz="1600" b="0" i="0" u="none" strike="noStrike" baseline="0" dirty="0" err="1">
                <a:solidFill>
                  <a:srgbClr val="000000"/>
                </a:solidFill>
                <a:latin typeface="Consolas" panose="020B0609020204030204" pitchFamily="49" charset="0"/>
              </a:rPr>
              <a:t>forms.</a:t>
            </a:r>
            <a:r>
              <a:rPr lang="en-US" sz="1600" b="1" i="0" u="none" strike="noStrike" baseline="0" dirty="0" err="1">
                <a:solidFill>
                  <a:srgbClr val="440044"/>
                </a:solidFill>
                <a:latin typeface="Consolas" panose="020B0609020204030204" pitchFamily="49" charset="0"/>
              </a:rPr>
              <a:t>CharField</a:t>
            </a:r>
            <a:r>
              <a:rPr lang="en-US" sz="1600" b="1" i="0" u="none" strike="noStrike" baseline="0" dirty="0">
                <a:solidFill>
                  <a:srgbClr val="440044"/>
                </a:solidFill>
                <a:latin typeface="Consolas" panose="020B0609020204030204" pitchFamily="49" charset="0"/>
              </a:rPr>
              <a:t> </a:t>
            </a:r>
            <a:r>
              <a:rPr lang="en-US" sz="1600" b="0" i="0" u="none" strike="noStrike" baseline="0" dirty="0">
                <a:solidFill>
                  <a:srgbClr val="000000"/>
                </a:solidFill>
                <a:latin typeface="Consolas" panose="020B0609020204030204" pitchFamily="49" charset="0"/>
              </a:rPr>
              <a:t>(</a:t>
            </a:r>
            <a:r>
              <a:rPr lang="en-US" sz="1600" dirty="0">
                <a:solidFill>
                  <a:srgbClr val="660099"/>
                </a:solidFill>
                <a:latin typeface="Consolas" panose="020B0609020204030204" pitchFamily="49" charset="0"/>
              </a:rPr>
              <a:t>label</a:t>
            </a:r>
            <a:r>
              <a:rPr lang="en-US" sz="1600" dirty="0">
                <a:solidFill>
                  <a:srgbClr val="000000"/>
                </a:solidFill>
                <a:latin typeface="Consolas" panose="020B0609020204030204" pitchFamily="49" charset="0"/>
              </a:rPr>
              <a:t> = 'Enter your name:', </a:t>
            </a:r>
            <a:r>
              <a:rPr lang="en-US" sz="1600" b="0" i="0" u="none" strike="noStrike" baseline="0" dirty="0" err="1">
                <a:solidFill>
                  <a:srgbClr val="000000"/>
                </a:solidFill>
                <a:latin typeface="Consolas" panose="020B0609020204030204" pitchFamily="49" charset="0"/>
              </a:rPr>
              <a:t>max_length</a:t>
            </a:r>
            <a:r>
              <a:rPr lang="en-US" sz="1600" b="0" i="0" u="none" strike="noStrike" baseline="0" dirty="0">
                <a:solidFill>
                  <a:srgbClr val="000000"/>
                </a:solidFill>
                <a:latin typeface="Consolas" panose="020B0609020204030204" pitchFamily="49" charset="0"/>
              </a:rPr>
              <a:t> </a:t>
            </a:r>
            <a:r>
              <a:rPr lang="en-US" sz="1600" b="0" i="0" u="none" strike="noStrike" baseline="0" dirty="0">
                <a:solidFill>
                  <a:srgbClr val="444400"/>
                </a:solidFill>
                <a:latin typeface="Consolas" panose="020B0609020204030204" pitchFamily="49" charset="0"/>
              </a:rPr>
              <a:t>= </a:t>
            </a:r>
            <a:r>
              <a:rPr lang="en-US" sz="1600" b="0" i="0" u="none" strike="noStrike" baseline="0" dirty="0">
                <a:solidFill>
                  <a:srgbClr val="000000"/>
                </a:solidFill>
                <a:latin typeface="Consolas" panose="020B0609020204030204" pitchFamily="49" charset="0"/>
              </a:rPr>
              <a:t>100</a:t>
            </a:r>
            <a:r>
              <a:rPr lang="en-US" sz="1600" b="0" i="0" u="none" strike="noStrike" baseline="0" dirty="0">
                <a:solidFill>
                  <a:srgbClr val="444400"/>
                </a:solidFill>
                <a:latin typeface="Consolas" panose="020B0609020204030204" pitchFamily="49" charset="0"/>
              </a:rPr>
              <a:t>)</a:t>
            </a:r>
          </a:p>
          <a:p>
            <a:pPr marL="0" indent="0">
              <a:buNone/>
            </a:pPr>
            <a:r>
              <a:rPr lang="en-US" sz="1600" b="0" i="0" u="none" strike="noStrike" baseline="0" dirty="0">
                <a:solidFill>
                  <a:srgbClr val="444400"/>
                </a:solidFill>
                <a:latin typeface="Consolas" panose="020B0609020204030204" pitchFamily="49" charset="0"/>
              </a:rPr>
              <a:t>   </a:t>
            </a:r>
            <a:r>
              <a:rPr lang="en-US" sz="1600" b="0" i="0" u="none" strike="noStrike" baseline="0" dirty="0">
                <a:solidFill>
                  <a:srgbClr val="000000"/>
                </a:solidFill>
                <a:latin typeface="Consolas" panose="020B0609020204030204" pitchFamily="49" charset="0"/>
              </a:rPr>
              <a:t>password </a:t>
            </a:r>
            <a:r>
              <a:rPr lang="en-US" sz="1600" b="0" i="0" u="none" strike="noStrike" baseline="0" dirty="0">
                <a:solidFill>
                  <a:srgbClr val="444400"/>
                </a:solidFill>
                <a:latin typeface="Consolas" panose="020B0609020204030204" pitchFamily="49" charset="0"/>
              </a:rPr>
              <a:t>= </a:t>
            </a:r>
            <a:r>
              <a:rPr lang="en-US" sz="1600" b="0" i="0" u="none" strike="noStrike" baseline="0" dirty="0" err="1">
                <a:solidFill>
                  <a:srgbClr val="000000"/>
                </a:solidFill>
                <a:latin typeface="Consolas" panose="020B0609020204030204" pitchFamily="49" charset="0"/>
              </a:rPr>
              <a:t>forms.</a:t>
            </a:r>
            <a:r>
              <a:rPr lang="en-US" sz="1600" b="1" i="0" u="none" strike="noStrike" baseline="0" dirty="0" err="1">
                <a:solidFill>
                  <a:srgbClr val="440044"/>
                </a:solidFill>
                <a:latin typeface="Consolas" panose="020B0609020204030204" pitchFamily="49" charset="0"/>
              </a:rPr>
              <a:t>CharField</a:t>
            </a:r>
            <a:r>
              <a:rPr lang="en-US" sz="1600" b="1" i="0" u="none" strike="noStrike" baseline="0" dirty="0">
                <a:solidFill>
                  <a:srgbClr val="440044"/>
                </a:solidFill>
                <a:latin typeface="Consolas" panose="020B0609020204030204" pitchFamily="49" charset="0"/>
              </a:rPr>
              <a:t> </a:t>
            </a:r>
            <a:r>
              <a:rPr lang="en-US" sz="1600" b="0" i="0" u="none" strike="noStrike" baseline="0" dirty="0">
                <a:solidFill>
                  <a:srgbClr val="000000"/>
                </a:solidFill>
                <a:latin typeface="Consolas" panose="020B0609020204030204" pitchFamily="49" charset="0"/>
              </a:rPr>
              <a:t>(</a:t>
            </a:r>
            <a:r>
              <a:rPr lang="en-US" sz="1600" dirty="0">
                <a:solidFill>
                  <a:srgbClr val="660099"/>
                </a:solidFill>
                <a:latin typeface="Consolas" panose="020B0609020204030204" pitchFamily="49" charset="0"/>
              </a:rPr>
              <a:t>label</a:t>
            </a:r>
            <a:r>
              <a:rPr lang="en-US" sz="1600" dirty="0">
                <a:solidFill>
                  <a:srgbClr val="000000"/>
                </a:solidFill>
                <a:latin typeface="Consolas" panose="020B0609020204030204" pitchFamily="49" charset="0"/>
              </a:rPr>
              <a:t> = 'Enter Password:', </a:t>
            </a:r>
            <a:r>
              <a:rPr lang="en-US" sz="1600" b="0" i="0" u="none" strike="noStrike" baseline="0" dirty="0">
                <a:solidFill>
                  <a:srgbClr val="000000"/>
                </a:solidFill>
                <a:latin typeface="Consolas" panose="020B0609020204030204" pitchFamily="49" charset="0"/>
              </a:rPr>
              <a:t>widget =</a:t>
            </a:r>
            <a:r>
              <a:rPr lang="en-US" sz="1600" b="0" i="0" u="none" strike="noStrike" baseline="0" dirty="0">
                <a:solidFill>
                  <a:srgbClr val="444400"/>
                </a:solidFill>
                <a:latin typeface="Consolas" panose="020B0609020204030204" pitchFamily="49" charset="0"/>
              </a:rPr>
              <a:t> </a:t>
            </a:r>
            <a:r>
              <a:rPr lang="en-US" sz="1600" b="0" i="0" u="none" strike="noStrike" baseline="0" dirty="0" err="1">
                <a:solidFill>
                  <a:srgbClr val="000000"/>
                </a:solidFill>
                <a:latin typeface="Consolas" panose="020B0609020204030204" pitchFamily="49" charset="0"/>
              </a:rPr>
              <a:t>forms.</a:t>
            </a:r>
            <a:r>
              <a:rPr lang="en-US" sz="1600" b="1" i="0" u="none" strike="noStrike" baseline="0" dirty="0" err="1">
                <a:solidFill>
                  <a:srgbClr val="440044"/>
                </a:solidFill>
                <a:latin typeface="Consolas" panose="020B0609020204030204" pitchFamily="49" charset="0"/>
              </a:rPr>
              <a:t>PasswordInput</a:t>
            </a:r>
            <a:r>
              <a:rPr lang="en-US" sz="1600" b="0" i="0" u="none" strike="noStrike" baseline="0" dirty="0">
                <a:solidFill>
                  <a:srgbClr val="000000"/>
                </a:solidFill>
                <a:latin typeface="Consolas" panose="020B0609020204030204" pitchFamily="49" charset="0"/>
              </a:rPr>
              <a:t>())</a:t>
            </a:r>
          </a:p>
          <a:p>
            <a:pPr marL="0" indent="0">
              <a:buNone/>
            </a:pPr>
            <a:r>
              <a:rPr lang="en-US" sz="1600" dirty="0">
                <a:solidFill>
                  <a:srgbClr val="080808"/>
                </a:solidFill>
                <a:effectLst/>
                <a:latin typeface="JetBrains Mono"/>
              </a:rPr>
              <a:t>       </a:t>
            </a:r>
            <a:r>
              <a:rPr lang="en-US" sz="1600" dirty="0">
                <a:solidFill>
                  <a:srgbClr val="000000"/>
                </a:solidFill>
                <a:latin typeface="Consolas" panose="020B0609020204030204" pitchFamily="49" charset="0"/>
              </a:rPr>
              <a:t>email </a:t>
            </a:r>
            <a:r>
              <a:rPr lang="en-US" sz="1600" dirty="0">
                <a:solidFill>
                  <a:srgbClr val="080808"/>
                </a:solidFill>
                <a:effectLst/>
                <a:latin typeface="JetBrains Mono"/>
              </a:rPr>
              <a:t> =  </a:t>
            </a:r>
            <a:r>
              <a:rPr lang="en-US" sz="1600" dirty="0" err="1">
                <a:solidFill>
                  <a:srgbClr val="000000"/>
                </a:solidFill>
                <a:latin typeface="Consolas" panose="020B0609020204030204" pitchFamily="49" charset="0"/>
              </a:rPr>
              <a:t>forms</a:t>
            </a:r>
            <a:r>
              <a:rPr lang="en-US" sz="1600" dirty="0" err="1">
                <a:solidFill>
                  <a:srgbClr val="080808"/>
                </a:solidFill>
                <a:effectLst/>
                <a:latin typeface="JetBrains Mono"/>
              </a:rPr>
              <a:t>.</a:t>
            </a:r>
            <a:r>
              <a:rPr lang="en-US" sz="1600" b="1" dirty="0" err="1">
                <a:solidFill>
                  <a:srgbClr val="440044"/>
                </a:solidFill>
                <a:latin typeface="Consolas" panose="020B0609020204030204" pitchFamily="49" charset="0"/>
              </a:rPr>
              <a:t>EmailField</a:t>
            </a:r>
            <a:r>
              <a:rPr lang="en-US" sz="1600" b="1" dirty="0">
                <a:solidFill>
                  <a:srgbClr val="440044"/>
                </a:solidFill>
                <a:latin typeface="Consolas" panose="020B0609020204030204" pitchFamily="49" charset="0"/>
              </a:rPr>
              <a:t> </a:t>
            </a:r>
            <a:r>
              <a:rPr lang="en-US" sz="1600" dirty="0">
                <a:solidFill>
                  <a:srgbClr val="080808"/>
                </a:solidFill>
                <a:effectLst/>
                <a:latin typeface="JetBrains Mono"/>
              </a:rPr>
              <a:t>(</a:t>
            </a:r>
            <a:r>
              <a:rPr lang="en-US" sz="1600" dirty="0">
                <a:solidFill>
                  <a:srgbClr val="660099"/>
                </a:solidFill>
                <a:latin typeface="Consolas" panose="020B0609020204030204" pitchFamily="49" charset="0"/>
              </a:rPr>
              <a:t>label </a:t>
            </a:r>
            <a:r>
              <a:rPr lang="en-US" sz="1600" dirty="0">
                <a:solidFill>
                  <a:srgbClr val="080808"/>
                </a:solidFill>
                <a:effectLst/>
                <a:latin typeface="Consolas" panose="020B0609020204030204" pitchFamily="49" charset="0"/>
              </a:rPr>
              <a:t>= </a:t>
            </a:r>
            <a:r>
              <a:rPr lang="en-US" sz="1600" dirty="0">
                <a:solidFill>
                  <a:srgbClr val="067D17"/>
                </a:solidFill>
                <a:effectLst/>
                <a:latin typeface="Consolas" panose="020B0609020204030204" pitchFamily="49" charset="0"/>
              </a:rPr>
              <a:t>'Enter Your Email'</a:t>
            </a:r>
            <a:r>
              <a:rPr lang="en-US" sz="1600" dirty="0">
                <a:solidFill>
                  <a:srgbClr val="080808"/>
                </a:solidFill>
                <a:effectLst/>
                <a:latin typeface="Consolas" panose="020B0609020204030204" pitchFamily="49" charset="0"/>
              </a:rPr>
              <a:t>)</a:t>
            </a:r>
          </a:p>
        </p:txBody>
      </p:sp>
      <p:sp>
        <p:nvSpPr>
          <p:cNvPr id="5" name="Slide Number Placeholder 4">
            <a:extLst>
              <a:ext uri="{FF2B5EF4-FFF2-40B4-BE49-F238E27FC236}">
                <a16:creationId xmlns:a16="http://schemas.microsoft.com/office/drawing/2014/main" id="{7D576E1B-F3A0-D963-ABC8-4F252541C439}"/>
              </a:ext>
            </a:extLst>
          </p:cNvPr>
          <p:cNvSpPr>
            <a:spLocks noGrp="1"/>
          </p:cNvSpPr>
          <p:nvPr>
            <p:ph type="sldNum" sz="quarter" idx="12"/>
          </p:nvPr>
        </p:nvSpPr>
        <p:spPr/>
        <p:txBody>
          <a:bodyPr/>
          <a:lstStyle/>
          <a:p>
            <a:fld id="{EC47AAD7-037B-4BD0-8FE6-944FB61E3E6F}" type="slidenum">
              <a:rPr lang="en-US" smtClean="0"/>
              <a:t>5</a:t>
            </a:fld>
            <a:endParaRPr lang="en-US"/>
          </a:p>
        </p:txBody>
      </p:sp>
    </p:spTree>
    <p:extLst>
      <p:ext uri="{BB962C8B-B14F-4D97-AF65-F5344CB8AC3E}">
        <p14:creationId xmlns:p14="http://schemas.microsoft.com/office/powerpoint/2010/main" val="1647003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E1C504-DA85-833C-20CD-970D12A30597}"/>
              </a:ext>
            </a:extLst>
          </p:cNvPr>
          <p:cNvPicPr>
            <a:picLocks noChangeAspect="1"/>
          </p:cNvPicPr>
          <p:nvPr/>
        </p:nvPicPr>
        <p:blipFill>
          <a:blip r:embed="rId2"/>
          <a:stretch>
            <a:fillRect/>
          </a:stretch>
        </p:blipFill>
        <p:spPr>
          <a:xfrm>
            <a:off x="2520978" y="955722"/>
            <a:ext cx="7150044" cy="5687962"/>
          </a:xfrm>
          <a:prstGeom prst="rect">
            <a:avLst/>
          </a:prstGeom>
        </p:spPr>
      </p:pic>
      <p:sp>
        <p:nvSpPr>
          <p:cNvPr id="2" name="TextBox 1">
            <a:extLst>
              <a:ext uri="{FF2B5EF4-FFF2-40B4-BE49-F238E27FC236}">
                <a16:creationId xmlns:a16="http://schemas.microsoft.com/office/drawing/2014/main" id="{D9D5C55F-6951-A8D2-55B0-B2E118A7B073}"/>
              </a:ext>
            </a:extLst>
          </p:cNvPr>
          <p:cNvSpPr txBox="1"/>
          <p:nvPr/>
        </p:nvSpPr>
        <p:spPr>
          <a:xfrm>
            <a:off x="146221" y="214316"/>
            <a:ext cx="11899558" cy="646331"/>
          </a:xfrm>
          <a:prstGeom prst="rect">
            <a:avLst/>
          </a:prstGeom>
          <a:noFill/>
        </p:spPr>
        <p:txBody>
          <a:bodyPr wrap="square" rtlCol="0">
            <a:spAutoFit/>
          </a:bodyPr>
          <a:lstStyle/>
          <a:p>
            <a:pPr algn="ctr"/>
            <a:r>
              <a:rPr lang="en-US" sz="3600" dirty="0"/>
              <a:t>Some Useful Form Fields in Django</a:t>
            </a:r>
          </a:p>
        </p:txBody>
      </p:sp>
      <p:sp>
        <p:nvSpPr>
          <p:cNvPr id="4" name="Slide Number Placeholder 3">
            <a:extLst>
              <a:ext uri="{FF2B5EF4-FFF2-40B4-BE49-F238E27FC236}">
                <a16:creationId xmlns:a16="http://schemas.microsoft.com/office/drawing/2014/main" id="{0804D19E-1A22-A422-41CD-B27422E4A9FB}"/>
              </a:ext>
            </a:extLst>
          </p:cNvPr>
          <p:cNvSpPr>
            <a:spLocks noGrp="1"/>
          </p:cNvSpPr>
          <p:nvPr>
            <p:ph type="sldNum" sz="quarter" idx="12"/>
          </p:nvPr>
        </p:nvSpPr>
        <p:spPr/>
        <p:txBody>
          <a:bodyPr/>
          <a:lstStyle/>
          <a:p>
            <a:fld id="{EC47AAD7-037B-4BD0-8FE6-944FB61E3E6F}" type="slidenum">
              <a:rPr lang="en-US" smtClean="0"/>
              <a:t>6</a:t>
            </a:fld>
            <a:endParaRPr lang="en-US"/>
          </a:p>
        </p:txBody>
      </p:sp>
    </p:spTree>
    <p:extLst>
      <p:ext uri="{BB962C8B-B14F-4D97-AF65-F5344CB8AC3E}">
        <p14:creationId xmlns:p14="http://schemas.microsoft.com/office/powerpoint/2010/main" val="3615624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a:xfrm>
            <a:off x="943896" y="1825625"/>
            <a:ext cx="8308259" cy="681601"/>
          </a:xfrm>
        </p:spPr>
        <p:txBody>
          <a:bodyPr>
            <a:normAutofit/>
          </a:body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needs to instantiate the form in </a:t>
            </a:r>
            <a:r>
              <a:rPr lang="en-US" sz="2000" b="1" dirty="0">
                <a:solidFill>
                  <a:schemeClr val="accent1"/>
                </a:solidFill>
                <a:latin typeface="Times New Roman" panose="02020603050405020304" pitchFamily="18" charset="0"/>
                <a:cs typeface="Times New Roman" panose="02020603050405020304" pitchFamily="18" charset="0"/>
              </a:rPr>
              <a:t>views.py </a:t>
            </a:r>
            <a:r>
              <a:rPr lang="en-US" sz="2000" dirty="0">
                <a:latin typeface="Times New Roman" panose="02020603050405020304" pitchFamily="18" charset="0"/>
                <a:cs typeface="Times New Roman" panose="02020603050405020304" pitchFamily="18" charset="0"/>
              </a:rPr>
              <a:t>file.</a:t>
            </a:r>
          </a:p>
        </p:txBody>
      </p:sp>
      <p:sp>
        <p:nvSpPr>
          <p:cNvPr id="4" name="Content Placeholder 2">
            <a:extLst>
              <a:ext uri="{FF2B5EF4-FFF2-40B4-BE49-F238E27FC236}">
                <a16:creationId xmlns:a16="http://schemas.microsoft.com/office/drawing/2014/main" id="{58CC1DC3-F052-F124-C041-C642C379B07D}"/>
              </a:ext>
            </a:extLst>
          </p:cNvPr>
          <p:cNvSpPr txBox="1">
            <a:spLocks/>
          </p:cNvSpPr>
          <p:nvPr/>
        </p:nvSpPr>
        <p:spPr>
          <a:xfrm>
            <a:off x="1101212" y="2642163"/>
            <a:ext cx="9566788" cy="2913063"/>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7" name="Title 1">
            <a:extLst>
              <a:ext uri="{FF2B5EF4-FFF2-40B4-BE49-F238E27FC236}">
                <a16:creationId xmlns:a16="http://schemas.microsoft.com/office/drawing/2014/main" id="{C4EE1262-3971-F2EC-B843-D89CCBB892C7}"/>
              </a:ext>
            </a:extLst>
          </p:cNvPr>
          <p:cNvSpPr>
            <a:spLocks noGrp="1"/>
          </p:cNvSpPr>
          <p:nvPr>
            <p:ph type="title"/>
          </p:nvPr>
        </p:nvSpPr>
        <p:spPr>
          <a:xfrm>
            <a:off x="838200" y="365125"/>
            <a:ext cx="10515600" cy="1325563"/>
          </a:xfrm>
        </p:spPr>
        <p:txBody>
          <a:bodyPr/>
          <a:lstStyle/>
          <a:p>
            <a:r>
              <a:rPr lang="en-US" dirty="0"/>
              <a:t>Instantiating Form in Django</a:t>
            </a:r>
          </a:p>
        </p:txBody>
      </p:sp>
      <p:sp>
        <p:nvSpPr>
          <p:cNvPr id="11" name="TextBox 10">
            <a:extLst>
              <a:ext uri="{FF2B5EF4-FFF2-40B4-BE49-F238E27FC236}">
                <a16:creationId xmlns:a16="http://schemas.microsoft.com/office/drawing/2014/main" id="{FCBFF9D0-641A-476A-FA4C-EA8A725708A1}"/>
              </a:ext>
            </a:extLst>
          </p:cNvPr>
          <p:cNvSpPr txBox="1"/>
          <p:nvPr/>
        </p:nvSpPr>
        <p:spPr>
          <a:xfrm>
            <a:off x="1268355" y="2944532"/>
            <a:ext cx="8819541" cy="2308324"/>
          </a:xfrm>
          <a:prstGeom prst="rect">
            <a:avLst/>
          </a:prstGeom>
          <a:noFill/>
        </p:spPr>
        <p:txBody>
          <a:bodyPr wrap="square">
            <a:spAutoFit/>
          </a:bodyPr>
          <a:lstStyle/>
          <a:p>
            <a:r>
              <a:rPr lang="en-US" sz="1800" b="0" i="0" u="none" strike="noStrike" baseline="0" dirty="0">
                <a:solidFill>
                  <a:srgbClr val="000000"/>
                </a:solidFill>
                <a:latin typeface="Consolas" panose="020B0609020204030204" pitchFamily="49" charset="0"/>
              </a:rPr>
              <a:t>from </a:t>
            </a:r>
            <a:r>
              <a:rPr lang="en-US" sz="1800" b="0" i="0" u="none" strike="noStrike" baseline="0" dirty="0" err="1">
                <a:solidFill>
                  <a:srgbClr val="000000"/>
                </a:solidFill>
                <a:latin typeface="Consolas" panose="020B0609020204030204" pitchFamily="49" charset="0"/>
              </a:rPr>
              <a:t>django.shortcuts</a:t>
            </a:r>
            <a:r>
              <a:rPr lang="en-US" sz="1800" b="0" i="0" u="none" strike="noStrike" baseline="0" dirty="0">
                <a:solidFill>
                  <a:srgbClr val="000000"/>
                </a:solidFill>
                <a:latin typeface="Consolas" panose="020B0609020204030204" pitchFamily="49" charset="0"/>
              </a:rPr>
              <a:t> </a:t>
            </a:r>
            <a:r>
              <a:rPr lang="en-US" sz="1800" b="1" i="0" u="none" strike="noStrike" baseline="0" dirty="0">
                <a:solidFill>
                  <a:srgbClr val="006599"/>
                </a:solidFill>
                <a:latin typeface="Consolas" panose="020B0609020204030204" pitchFamily="49" charset="0"/>
              </a:rPr>
              <a:t>import </a:t>
            </a:r>
            <a:r>
              <a:rPr lang="en-US" sz="1800" b="0" i="0" u="none" strike="noStrike" baseline="0" dirty="0">
                <a:solidFill>
                  <a:srgbClr val="000000"/>
                </a:solidFill>
                <a:latin typeface="Consolas" panose="020B0609020204030204" pitchFamily="49" charset="0"/>
              </a:rPr>
              <a:t>render </a:t>
            </a:r>
          </a:p>
          <a:p>
            <a:r>
              <a:rPr lang="en-US" sz="1800" b="0" i="0" u="none" strike="noStrike" baseline="0" dirty="0">
                <a:solidFill>
                  <a:srgbClr val="000000"/>
                </a:solidFill>
                <a:latin typeface="Consolas" panose="020B0609020204030204" pitchFamily="49" charset="0"/>
              </a:rPr>
              <a:t>from </a:t>
            </a:r>
            <a:r>
              <a:rPr lang="en-US" sz="1800" b="0" i="0" u="none" strike="noStrike" baseline="0" dirty="0" err="1">
                <a:solidFill>
                  <a:srgbClr val="000000"/>
                </a:solidFill>
                <a:latin typeface="Consolas" panose="020B0609020204030204" pitchFamily="49" charset="0"/>
              </a:rPr>
              <a:t>myapp.form</a:t>
            </a:r>
            <a:r>
              <a:rPr lang="en-US" sz="1800" b="0" i="0" u="none" strike="noStrike" baseline="0" dirty="0">
                <a:solidFill>
                  <a:srgbClr val="000000"/>
                </a:solidFill>
                <a:latin typeface="Consolas" panose="020B0609020204030204" pitchFamily="49" charset="0"/>
              </a:rPr>
              <a:t> </a:t>
            </a:r>
            <a:r>
              <a:rPr lang="en-US" sz="1800" b="1" i="0" u="none" strike="noStrike" baseline="0" dirty="0">
                <a:solidFill>
                  <a:srgbClr val="006599"/>
                </a:solidFill>
                <a:latin typeface="Consolas" panose="020B0609020204030204" pitchFamily="49" charset="0"/>
              </a:rPr>
              <a:t>import </a:t>
            </a:r>
            <a:r>
              <a:rPr lang="en-US" dirty="0" err="1">
                <a:solidFill>
                  <a:srgbClr val="000000"/>
                </a:solidFill>
                <a:latin typeface="Consolas" panose="020B0609020204030204" pitchFamily="49" charset="0"/>
              </a:rPr>
              <a:t>StudentForm</a:t>
            </a:r>
            <a:endParaRPr lang="en-US" sz="1800" b="0" i="0" u="none" strike="noStrike" baseline="0"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endParaRPr lang="en-US" sz="1800" b="0" i="0" u="none" strike="noStrike" baseline="0" dirty="0">
              <a:solidFill>
                <a:srgbClr val="000000"/>
              </a:solidFill>
              <a:latin typeface="Consolas" panose="020B0609020204030204" pitchFamily="49" charset="0"/>
            </a:endParaRPr>
          </a:p>
          <a:p>
            <a:r>
              <a:rPr lang="en-US" sz="1800" b="0" i="0" u="none" strike="noStrike" baseline="0" dirty="0">
                <a:solidFill>
                  <a:srgbClr val="000000"/>
                </a:solidFill>
                <a:latin typeface="Consolas" panose="020B0609020204030204" pitchFamily="49" charset="0"/>
              </a:rPr>
              <a:t>def index(request): </a:t>
            </a:r>
          </a:p>
          <a:p>
            <a:r>
              <a:rPr lang="en-US" dirty="0">
                <a:solidFill>
                  <a:srgbClr val="000000"/>
                </a:solidFill>
                <a:latin typeface="Consolas" panose="020B0609020204030204" pitchFamily="49" charset="0"/>
              </a:rPr>
              <a:t>    </a:t>
            </a:r>
            <a:r>
              <a:rPr lang="en-US" sz="1800" b="0" i="0" u="none" strike="noStrike" baseline="0" dirty="0">
                <a:solidFill>
                  <a:srgbClr val="000000"/>
                </a:solidFill>
                <a:latin typeface="Consolas" panose="020B0609020204030204" pitchFamily="49" charset="0"/>
              </a:rPr>
              <a:t>student = </a:t>
            </a:r>
            <a:r>
              <a:rPr lang="en-US" sz="1800" b="0" i="0" u="none" strike="noStrike" baseline="0" dirty="0" err="1">
                <a:solidFill>
                  <a:srgbClr val="000000"/>
                </a:solidFill>
                <a:latin typeface="Consolas" panose="020B0609020204030204" pitchFamily="49" charset="0"/>
              </a:rPr>
              <a:t>StudentForm</a:t>
            </a:r>
            <a:r>
              <a:rPr lang="en-US" sz="1800" b="0" i="0" u="none" strike="noStrike" baseline="0" dirty="0">
                <a:solidFill>
                  <a:srgbClr val="000000"/>
                </a:solidFill>
                <a:latin typeface="Consolas" panose="020B0609020204030204" pitchFamily="49" charset="0"/>
              </a:rPr>
              <a:t>() </a:t>
            </a:r>
          </a:p>
          <a:p>
            <a:r>
              <a:rPr lang="en-US" b="1" dirty="0">
                <a:solidFill>
                  <a:srgbClr val="006599"/>
                </a:solidFill>
                <a:latin typeface="Consolas" panose="020B0609020204030204" pitchFamily="49" charset="0"/>
              </a:rPr>
              <a:t>    r</a:t>
            </a:r>
            <a:r>
              <a:rPr lang="en-US" sz="1800" b="1" i="0" u="none" strike="noStrike" baseline="0" dirty="0">
                <a:solidFill>
                  <a:srgbClr val="006599"/>
                </a:solidFill>
                <a:latin typeface="Consolas" panose="020B0609020204030204" pitchFamily="49" charset="0"/>
              </a:rPr>
              <a:t>eturn </a:t>
            </a:r>
            <a:r>
              <a:rPr lang="en-US" sz="1800" b="0" i="0" u="none" strike="noStrike" baseline="0" dirty="0">
                <a:solidFill>
                  <a:srgbClr val="000000"/>
                </a:solidFill>
                <a:latin typeface="Consolas" panose="020B0609020204030204" pitchFamily="49" charset="0"/>
              </a:rPr>
              <a:t>render(request, </a:t>
            </a:r>
            <a:r>
              <a:rPr lang="en-US" sz="1800" b="0" i="0" u="none" strike="noStrike" baseline="0" dirty="0">
                <a:solidFill>
                  <a:srgbClr val="0000FF"/>
                </a:solidFill>
                <a:latin typeface="Consolas" panose="020B0609020204030204" pitchFamily="49" charset="0"/>
              </a:rPr>
              <a:t>"</a:t>
            </a:r>
            <a:r>
              <a:rPr lang="en-US" dirty="0">
                <a:solidFill>
                  <a:srgbClr val="0000FF"/>
                </a:solidFill>
                <a:latin typeface="Consolas" panose="020B0609020204030204" pitchFamily="49" charset="0"/>
              </a:rPr>
              <a:t>index</a:t>
            </a:r>
            <a:r>
              <a:rPr lang="en-US" sz="1800" b="0" i="0" u="none" strike="noStrike" baseline="0" dirty="0">
                <a:solidFill>
                  <a:srgbClr val="0000FF"/>
                </a:solidFill>
                <a:latin typeface="Consolas" panose="020B0609020204030204" pitchFamily="49" charset="0"/>
              </a:rPr>
              <a:t>.html"</a:t>
            </a:r>
            <a:r>
              <a:rPr lang="en-US" sz="1800" b="0" i="0" u="none" strike="noStrike" baseline="0" dirty="0">
                <a:solidFill>
                  <a:srgbClr val="000000"/>
                </a:solidFill>
                <a:latin typeface="Consolas" panose="020B0609020204030204" pitchFamily="49" charset="0"/>
              </a:rPr>
              <a:t>, {</a:t>
            </a:r>
            <a:r>
              <a:rPr lang="en-US" sz="1800" b="0" i="0" u="none" strike="noStrike" baseline="0" dirty="0">
                <a:solidFill>
                  <a:srgbClr val="0000FF"/>
                </a:solidFill>
                <a:latin typeface="Consolas" panose="020B0609020204030204" pitchFamily="49" charset="0"/>
              </a:rPr>
              <a:t>'form' </a:t>
            </a:r>
            <a:r>
              <a:rPr lang="en-US" sz="1800" b="0" i="0" u="none" strike="noStrike" baseline="0" dirty="0">
                <a:solidFill>
                  <a:srgbClr val="000000"/>
                </a:solidFill>
                <a:latin typeface="Consolas" panose="020B0609020204030204" pitchFamily="49" charset="0"/>
              </a:rPr>
              <a:t>: student}) </a:t>
            </a:r>
          </a:p>
          <a:p>
            <a:r>
              <a:rPr lang="en-US" sz="1800" b="0" i="0" u="none" strike="noStrike" baseline="0" dirty="0">
                <a:solidFill>
                  <a:srgbClr val="000000"/>
                </a:solidFill>
                <a:latin typeface="Consolas" panose="020B0609020204030204" pitchFamily="49" charset="0"/>
              </a:rPr>
              <a:t> </a:t>
            </a:r>
          </a:p>
        </p:txBody>
      </p:sp>
      <p:sp>
        <p:nvSpPr>
          <p:cNvPr id="2" name="Content Placeholder 2">
            <a:extLst>
              <a:ext uri="{FF2B5EF4-FFF2-40B4-BE49-F238E27FC236}">
                <a16:creationId xmlns:a16="http://schemas.microsoft.com/office/drawing/2014/main" id="{BDA38677-DC57-EE90-B441-CBCE1C8AE10C}"/>
              </a:ext>
            </a:extLst>
          </p:cNvPr>
          <p:cNvSpPr txBox="1">
            <a:spLocks/>
          </p:cNvSpPr>
          <p:nvPr/>
        </p:nvSpPr>
        <p:spPr>
          <a:xfrm>
            <a:off x="870160" y="5871611"/>
            <a:ext cx="8308259" cy="6816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Passing the context of form into </a:t>
            </a:r>
            <a:r>
              <a:rPr lang="en-US" sz="2000" b="1" dirty="0">
                <a:solidFill>
                  <a:schemeClr val="accent1"/>
                </a:solidFill>
                <a:latin typeface="Times New Roman" panose="02020603050405020304" pitchFamily="18" charset="0"/>
                <a:cs typeface="Times New Roman" panose="02020603050405020304" pitchFamily="18" charset="0"/>
              </a:rPr>
              <a:t>index </a:t>
            </a:r>
            <a:r>
              <a:rPr lang="en-US" sz="2000" dirty="0">
                <a:latin typeface="Times New Roman" panose="02020603050405020304" pitchFamily="18" charset="0"/>
                <a:cs typeface="Times New Roman" panose="02020603050405020304" pitchFamily="18" charset="0"/>
              </a:rPr>
              <a:t>template.</a:t>
            </a:r>
          </a:p>
        </p:txBody>
      </p:sp>
      <p:sp>
        <p:nvSpPr>
          <p:cNvPr id="5" name="Slide Number Placeholder 4">
            <a:extLst>
              <a:ext uri="{FF2B5EF4-FFF2-40B4-BE49-F238E27FC236}">
                <a16:creationId xmlns:a16="http://schemas.microsoft.com/office/drawing/2014/main" id="{8944EF12-33A8-9454-AA6A-8FE9D7FE1CF7}"/>
              </a:ext>
            </a:extLst>
          </p:cNvPr>
          <p:cNvSpPr>
            <a:spLocks noGrp="1"/>
          </p:cNvSpPr>
          <p:nvPr>
            <p:ph type="sldNum" sz="quarter" idx="12"/>
          </p:nvPr>
        </p:nvSpPr>
        <p:spPr/>
        <p:txBody>
          <a:bodyPr/>
          <a:lstStyle/>
          <a:p>
            <a:fld id="{EC47AAD7-037B-4BD0-8FE6-944FB61E3E6F}" type="slidenum">
              <a:rPr lang="en-US" smtClean="0"/>
              <a:t>7</a:t>
            </a:fld>
            <a:endParaRPr lang="en-US"/>
          </a:p>
        </p:txBody>
      </p:sp>
    </p:spTree>
    <p:extLst>
      <p:ext uri="{BB962C8B-B14F-4D97-AF65-F5344CB8AC3E}">
        <p14:creationId xmlns:p14="http://schemas.microsoft.com/office/powerpoint/2010/main" val="2443045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0232-BE7F-CBEC-E92C-C9D62E555594}"/>
              </a:ext>
            </a:extLst>
          </p:cNvPr>
          <p:cNvSpPr>
            <a:spLocks noGrp="1"/>
          </p:cNvSpPr>
          <p:nvPr>
            <p:ph type="title"/>
          </p:nvPr>
        </p:nvSpPr>
        <p:spPr>
          <a:xfrm>
            <a:off x="838200" y="365125"/>
            <a:ext cx="10515600" cy="1325563"/>
          </a:xfrm>
        </p:spPr>
        <p:txBody>
          <a:bodyPr/>
          <a:lstStyle/>
          <a:p>
            <a:r>
              <a:rPr lang="en-US" dirty="0"/>
              <a:t>The Template (index.html)</a:t>
            </a:r>
          </a:p>
        </p:txBody>
      </p:sp>
      <p:sp>
        <p:nvSpPr>
          <p:cNvPr id="3" name="Content Placeholder 2">
            <a:extLst>
              <a:ext uri="{FF2B5EF4-FFF2-40B4-BE49-F238E27FC236}">
                <a16:creationId xmlns:a16="http://schemas.microsoft.com/office/drawing/2014/main" id="{4892D33A-56B6-B45C-A9DA-85E0929715E8}"/>
              </a:ext>
            </a:extLst>
          </p:cNvPr>
          <p:cNvSpPr txBox="1">
            <a:spLocks/>
          </p:cNvSpPr>
          <p:nvPr/>
        </p:nvSpPr>
        <p:spPr>
          <a:xfrm>
            <a:off x="1101212" y="1605145"/>
            <a:ext cx="9566788" cy="4766158"/>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4" name="TextBox 3">
            <a:extLst>
              <a:ext uri="{FF2B5EF4-FFF2-40B4-BE49-F238E27FC236}">
                <a16:creationId xmlns:a16="http://schemas.microsoft.com/office/drawing/2014/main" id="{C0233DD5-56EE-81E2-D86E-EDA2DFA79659}"/>
              </a:ext>
            </a:extLst>
          </p:cNvPr>
          <p:cNvSpPr txBox="1"/>
          <p:nvPr/>
        </p:nvSpPr>
        <p:spPr>
          <a:xfrm>
            <a:off x="1258523" y="2025664"/>
            <a:ext cx="8819541" cy="3970318"/>
          </a:xfrm>
          <a:prstGeom prst="rect">
            <a:avLst/>
          </a:prstGeom>
          <a:noFill/>
        </p:spPr>
        <p:txBody>
          <a:bodyPr wrap="square">
            <a:spAutoFit/>
          </a:bodyPr>
          <a:lstStyle/>
          <a:p>
            <a:r>
              <a:rPr lang="en-US" sz="1800" b="0" i="0" u="none" strike="noStrike" baseline="0" dirty="0">
                <a:solidFill>
                  <a:srgbClr val="000000"/>
                </a:solidFill>
                <a:latin typeface="Consolas" panose="020B0609020204030204" pitchFamily="49" charset="0"/>
              </a:rPr>
              <a:t>&lt;!DOCTYPE html&gt; </a:t>
            </a:r>
          </a:p>
          <a:p>
            <a:r>
              <a:rPr lang="en-US" sz="1800" b="0" i="0" u="none" strike="noStrike" baseline="0" dirty="0">
                <a:solidFill>
                  <a:srgbClr val="000000"/>
                </a:solidFill>
                <a:latin typeface="Consolas" panose="020B0609020204030204" pitchFamily="49" charset="0"/>
              </a:rPr>
              <a:t>&lt;html lang=</a:t>
            </a:r>
            <a:r>
              <a:rPr lang="en-US" sz="1800" b="0" i="0" u="none" strike="noStrike" baseline="0" dirty="0">
                <a:solidFill>
                  <a:srgbClr val="0000FF"/>
                </a:solidFill>
                <a:latin typeface="Consolas" panose="020B0609020204030204" pitchFamily="49" charset="0"/>
              </a:rPr>
              <a:t>"</a:t>
            </a:r>
            <a:r>
              <a:rPr lang="en-US" sz="1800" b="0" i="0" u="none" strike="noStrike" baseline="0" dirty="0" err="1">
                <a:solidFill>
                  <a:srgbClr val="0000FF"/>
                </a:solidFill>
                <a:latin typeface="Consolas" panose="020B0609020204030204" pitchFamily="49" charset="0"/>
              </a:rPr>
              <a:t>en</a:t>
            </a:r>
            <a:r>
              <a:rPr lang="en-US" sz="1800" b="0" i="0" u="none" strike="noStrike" baseline="0" dirty="0">
                <a:solidFill>
                  <a:srgbClr val="0000FF"/>
                </a:solidFill>
                <a:latin typeface="Consolas" panose="020B0609020204030204" pitchFamily="49" charset="0"/>
              </a:rPr>
              <a:t>"</a:t>
            </a:r>
            <a:r>
              <a:rPr lang="en-US" sz="1800" b="0" i="0" u="none" strike="noStrike" baseline="0" dirty="0">
                <a:solidFill>
                  <a:srgbClr val="000000"/>
                </a:solidFill>
                <a:latin typeface="Consolas" panose="020B0609020204030204" pitchFamily="49" charset="0"/>
              </a:rPr>
              <a:t>&gt; </a:t>
            </a:r>
          </a:p>
          <a:p>
            <a:r>
              <a:rPr lang="en-US" sz="1800" b="0" i="0" u="none" strike="noStrike" baseline="0" dirty="0">
                <a:solidFill>
                  <a:srgbClr val="000000"/>
                </a:solidFill>
                <a:latin typeface="Consolas" panose="020B0609020204030204" pitchFamily="49" charset="0"/>
              </a:rPr>
              <a:t>&lt;head&gt; </a:t>
            </a:r>
          </a:p>
          <a:p>
            <a:r>
              <a:rPr lang="en-US" sz="1800" b="0" i="0" u="none" strike="noStrike" baseline="0" dirty="0">
                <a:solidFill>
                  <a:srgbClr val="000000"/>
                </a:solidFill>
                <a:latin typeface="Consolas" panose="020B0609020204030204" pitchFamily="49" charset="0"/>
              </a:rPr>
              <a:t>&lt;meta charset=</a:t>
            </a:r>
            <a:r>
              <a:rPr lang="en-US" sz="1800" b="0" i="0" u="none" strike="noStrike" baseline="0" dirty="0">
                <a:solidFill>
                  <a:srgbClr val="0000FF"/>
                </a:solidFill>
                <a:latin typeface="Consolas" panose="020B0609020204030204" pitchFamily="49" charset="0"/>
              </a:rPr>
              <a:t>"UTF-8"</a:t>
            </a:r>
            <a:r>
              <a:rPr lang="en-US" sz="1800" b="0" i="0" u="none" strike="noStrike" baseline="0" dirty="0">
                <a:solidFill>
                  <a:srgbClr val="000000"/>
                </a:solidFill>
                <a:latin typeface="Consolas" panose="020B0609020204030204" pitchFamily="49" charset="0"/>
              </a:rPr>
              <a:t>&gt; </a:t>
            </a:r>
          </a:p>
          <a:p>
            <a:r>
              <a:rPr lang="en-US" sz="1800" b="0" i="0" u="none" strike="noStrike" baseline="0" dirty="0">
                <a:solidFill>
                  <a:srgbClr val="000000"/>
                </a:solidFill>
                <a:latin typeface="Consolas" panose="020B0609020204030204" pitchFamily="49" charset="0"/>
              </a:rPr>
              <a:t>&lt;title&gt;Index&lt;/title&gt; </a:t>
            </a:r>
          </a:p>
          <a:p>
            <a:r>
              <a:rPr lang="en-US" sz="1800" b="0" i="0" u="none" strike="noStrike" baseline="0" dirty="0">
                <a:solidFill>
                  <a:srgbClr val="000000"/>
                </a:solidFill>
                <a:latin typeface="Consolas" panose="020B0609020204030204" pitchFamily="49" charset="0"/>
              </a:rPr>
              <a:t>&lt;/head&gt; </a:t>
            </a:r>
          </a:p>
          <a:p>
            <a:r>
              <a:rPr lang="en-US" sz="1800" b="0" i="0" u="none" strike="noStrike" baseline="0" dirty="0">
                <a:solidFill>
                  <a:srgbClr val="000000"/>
                </a:solidFill>
                <a:latin typeface="Consolas" panose="020B0609020204030204" pitchFamily="49" charset="0"/>
              </a:rPr>
              <a:t>&lt;body&gt; </a:t>
            </a:r>
          </a:p>
          <a:p>
            <a:r>
              <a:rPr lang="en-US" sz="1800" b="0" i="0" u="none" strike="noStrike" baseline="0" dirty="0">
                <a:solidFill>
                  <a:srgbClr val="000000"/>
                </a:solidFill>
                <a:latin typeface="Consolas" panose="020B0609020204030204" pitchFamily="49" charset="0"/>
              </a:rPr>
              <a:t>&lt;form method=</a:t>
            </a:r>
            <a:r>
              <a:rPr lang="en-US" sz="1800" b="0" i="0" u="none" strike="noStrike" baseline="0" dirty="0">
                <a:solidFill>
                  <a:srgbClr val="0000FF"/>
                </a:solidFill>
                <a:latin typeface="Consolas" panose="020B0609020204030204" pitchFamily="49" charset="0"/>
              </a:rPr>
              <a:t>"POST" </a:t>
            </a:r>
            <a:r>
              <a:rPr lang="en-US" sz="1800" b="1" i="0" u="none" strike="noStrike" baseline="0" dirty="0">
                <a:solidFill>
                  <a:srgbClr val="006599"/>
                </a:solidFill>
                <a:latin typeface="Consolas" panose="020B0609020204030204" pitchFamily="49" charset="0"/>
              </a:rPr>
              <a:t>class</a:t>
            </a:r>
            <a:r>
              <a:rPr lang="en-US" sz="1800" b="0" i="0" u="none" strike="noStrike" baseline="0" dirty="0">
                <a:solidFill>
                  <a:srgbClr val="000000"/>
                </a:solidFill>
                <a:latin typeface="Consolas" panose="020B0609020204030204" pitchFamily="49" charset="0"/>
              </a:rPr>
              <a:t>=</a:t>
            </a:r>
            <a:r>
              <a:rPr lang="en-US" sz="1800" b="0" i="0" u="none" strike="noStrike" baseline="0" dirty="0">
                <a:solidFill>
                  <a:srgbClr val="0000FF"/>
                </a:solidFill>
                <a:latin typeface="Consolas" panose="020B0609020204030204" pitchFamily="49" charset="0"/>
              </a:rPr>
              <a:t>"post-form"</a:t>
            </a:r>
            <a:r>
              <a:rPr lang="en-US" sz="1800" b="0" i="0" u="none" strike="noStrike" baseline="0" dirty="0">
                <a:solidFill>
                  <a:srgbClr val="000000"/>
                </a:solidFill>
                <a:latin typeface="Consolas" panose="020B0609020204030204" pitchFamily="49" charset="0"/>
              </a:rPr>
              <a:t>&gt; </a:t>
            </a:r>
          </a:p>
          <a:p>
            <a:r>
              <a:rPr lang="en-US" sz="1800" b="1" i="0" u="none" strike="noStrike" baseline="0" dirty="0">
                <a:solidFill>
                  <a:srgbClr val="BF3549"/>
                </a:solidFill>
                <a:latin typeface="Consolas" panose="020B0609020204030204" pitchFamily="49" charset="0"/>
              </a:rPr>
              <a:t>{% </a:t>
            </a:r>
            <a:r>
              <a:rPr lang="en-US" sz="1800" b="1" i="0" u="none" strike="noStrike" baseline="0" dirty="0" err="1">
                <a:solidFill>
                  <a:srgbClr val="BF3549"/>
                </a:solidFill>
                <a:latin typeface="Consolas" panose="020B0609020204030204" pitchFamily="49" charset="0"/>
              </a:rPr>
              <a:t>csrf_token</a:t>
            </a:r>
            <a:r>
              <a:rPr lang="en-US" sz="1800" b="1" i="0" u="none" strike="noStrike" baseline="0" dirty="0">
                <a:solidFill>
                  <a:srgbClr val="BF3549"/>
                </a:solidFill>
                <a:latin typeface="Consolas" panose="020B0609020204030204" pitchFamily="49" charset="0"/>
              </a:rPr>
              <a:t> %} </a:t>
            </a:r>
          </a:p>
          <a:p>
            <a:r>
              <a:rPr lang="en-US" sz="1800" b="1" i="0" u="none" strike="noStrike" baseline="0" dirty="0">
                <a:solidFill>
                  <a:srgbClr val="BF3549"/>
                </a:solidFill>
                <a:latin typeface="Consolas" panose="020B0609020204030204" pitchFamily="49" charset="0"/>
              </a:rPr>
              <a:t>{{ </a:t>
            </a:r>
            <a:r>
              <a:rPr lang="en-US" sz="1800" b="1" i="0" u="none" strike="noStrike" baseline="0" dirty="0" err="1">
                <a:solidFill>
                  <a:srgbClr val="BF3549"/>
                </a:solidFill>
                <a:latin typeface="Consolas" panose="020B0609020204030204" pitchFamily="49" charset="0"/>
              </a:rPr>
              <a:t>form.as_p</a:t>
            </a:r>
            <a:r>
              <a:rPr lang="en-US" sz="1800" b="1" i="0" u="none" strike="noStrike" baseline="0" dirty="0">
                <a:solidFill>
                  <a:srgbClr val="BF3549"/>
                </a:solidFill>
                <a:latin typeface="Consolas" panose="020B0609020204030204" pitchFamily="49" charset="0"/>
              </a:rPr>
              <a:t> }} </a:t>
            </a:r>
          </a:p>
          <a:p>
            <a:r>
              <a:rPr lang="en-US" sz="1800" b="0" i="0" u="none" strike="noStrike" baseline="0" dirty="0">
                <a:solidFill>
                  <a:srgbClr val="000000"/>
                </a:solidFill>
                <a:latin typeface="Consolas" panose="020B0609020204030204" pitchFamily="49" charset="0"/>
              </a:rPr>
              <a:t>&lt;button type=</a:t>
            </a:r>
            <a:r>
              <a:rPr lang="en-US" sz="1800" b="0" i="0" u="none" strike="noStrike" baseline="0" dirty="0">
                <a:solidFill>
                  <a:srgbClr val="0000FF"/>
                </a:solidFill>
                <a:latin typeface="Consolas" panose="020B0609020204030204" pitchFamily="49" charset="0"/>
              </a:rPr>
              <a:t>"submit" </a:t>
            </a:r>
            <a:r>
              <a:rPr lang="en-US" sz="1800" b="1" i="0" u="none" strike="noStrike" baseline="0" dirty="0">
                <a:solidFill>
                  <a:srgbClr val="006599"/>
                </a:solidFill>
                <a:latin typeface="Consolas" panose="020B0609020204030204" pitchFamily="49" charset="0"/>
              </a:rPr>
              <a:t>class</a:t>
            </a:r>
            <a:r>
              <a:rPr lang="en-US" sz="1800" b="0" i="0" u="none" strike="noStrike" baseline="0" dirty="0">
                <a:solidFill>
                  <a:srgbClr val="000000"/>
                </a:solidFill>
                <a:latin typeface="Consolas" panose="020B0609020204030204" pitchFamily="49" charset="0"/>
              </a:rPr>
              <a:t>=</a:t>
            </a:r>
            <a:r>
              <a:rPr lang="en-US" sz="1800" b="0" i="0" u="none" strike="noStrike" baseline="0" dirty="0">
                <a:solidFill>
                  <a:srgbClr val="0000FF"/>
                </a:solidFill>
                <a:latin typeface="Consolas" panose="020B0609020204030204" pitchFamily="49" charset="0"/>
              </a:rPr>
              <a:t>"</a:t>
            </a:r>
            <a:r>
              <a:rPr lang="en-US" sz="1800" b="0" i="0" u="none" strike="noStrike" baseline="0" dirty="0" err="1">
                <a:solidFill>
                  <a:srgbClr val="0000FF"/>
                </a:solidFill>
                <a:latin typeface="Consolas" panose="020B0609020204030204" pitchFamily="49" charset="0"/>
              </a:rPr>
              <a:t>save_btn</a:t>
            </a:r>
            <a:r>
              <a:rPr lang="en-US" sz="1800" b="0" i="0" u="none" strike="noStrike" baseline="0" dirty="0">
                <a:solidFill>
                  <a:srgbClr val="0000FF"/>
                </a:solidFill>
                <a:latin typeface="Consolas" panose="020B0609020204030204" pitchFamily="49" charset="0"/>
              </a:rPr>
              <a:t>"</a:t>
            </a:r>
            <a:r>
              <a:rPr lang="en-US" sz="1800" b="0" i="0" u="none" strike="noStrike" baseline="0" dirty="0">
                <a:solidFill>
                  <a:srgbClr val="000000"/>
                </a:solidFill>
                <a:latin typeface="Consolas" panose="020B0609020204030204" pitchFamily="49" charset="0"/>
              </a:rPr>
              <a:t>&gt;Save&lt;/button&gt; </a:t>
            </a:r>
          </a:p>
          <a:p>
            <a:r>
              <a:rPr lang="en-US" sz="1800" b="0" i="0" u="none" strike="noStrike" baseline="0" dirty="0">
                <a:solidFill>
                  <a:srgbClr val="000000"/>
                </a:solidFill>
                <a:latin typeface="Consolas" panose="020B0609020204030204" pitchFamily="49" charset="0"/>
              </a:rPr>
              <a:t>&lt;/form&gt; </a:t>
            </a:r>
          </a:p>
          <a:p>
            <a:r>
              <a:rPr lang="en-US" sz="1800" b="0" i="0" u="none" strike="noStrike" baseline="0" dirty="0">
                <a:solidFill>
                  <a:srgbClr val="000000"/>
                </a:solidFill>
                <a:latin typeface="Consolas" panose="020B0609020204030204" pitchFamily="49" charset="0"/>
              </a:rPr>
              <a:t>&lt;/body&gt; </a:t>
            </a:r>
          </a:p>
          <a:p>
            <a:r>
              <a:rPr lang="en-US" sz="1800" b="0" i="0" u="none" strike="noStrike" baseline="0" dirty="0">
                <a:solidFill>
                  <a:srgbClr val="000000"/>
                </a:solidFill>
                <a:latin typeface="Consolas" panose="020B0609020204030204" pitchFamily="49" charset="0"/>
              </a:rPr>
              <a:t>&lt;/html&gt; </a:t>
            </a:r>
          </a:p>
        </p:txBody>
      </p:sp>
      <p:sp>
        <p:nvSpPr>
          <p:cNvPr id="5" name="Slide Number Placeholder 4">
            <a:extLst>
              <a:ext uri="{FF2B5EF4-FFF2-40B4-BE49-F238E27FC236}">
                <a16:creationId xmlns:a16="http://schemas.microsoft.com/office/drawing/2014/main" id="{52B5B09F-BF4C-79C4-5E52-4016821DB360}"/>
              </a:ext>
            </a:extLst>
          </p:cNvPr>
          <p:cNvSpPr>
            <a:spLocks noGrp="1"/>
          </p:cNvSpPr>
          <p:nvPr>
            <p:ph type="sldNum" sz="quarter" idx="12"/>
          </p:nvPr>
        </p:nvSpPr>
        <p:spPr/>
        <p:txBody>
          <a:bodyPr/>
          <a:lstStyle/>
          <a:p>
            <a:fld id="{EC47AAD7-037B-4BD0-8FE6-944FB61E3E6F}" type="slidenum">
              <a:rPr lang="en-US" smtClean="0"/>
              <a:t>8</a:t>
            </a:fld>
            <a:endParaRPr lang="en-US"/>
          </a:p>
        </p:txBody>
      </p:sp>
    </p:spTree>
    <p:extLst>
      <p:ext uri="{BB962C8B-B14F-4D97-AF65-F5344CB8AC3E}">
        <p14:creationId xmlns:p14="http://schemas.microsoft.com/office/powerpoint/2010/main" val="4285019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a:xfrm>
            <a:off x="838199" y="1619150"/>
            <a:ext cx="10282086" cy="2058117"/>
          </a:xfrm>
        </p:spPr>
        <p:txBody>
          <a:bodyPr>
            <a:normAutofit/>
          </a:bodyPr>
          <a:lstStyle/>
          <a:p>
            <a:pPr marL="285750" indent="-285750"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There are other output options-</a:t>
            </a:r>
          </a:p>
          <a:p>
            <a:pPr marL="796925" lvl="1" indent="-339725" algn="just">
              <a:lnSpc>
                <a:spcPct val="150000"/>
              </a:lnSpc>
              <a:buFont typeface="Wingdings" panose="05000000000000000000" pitchFamily="2" charset="2"/>
              <a:buChar char="Ø"/>
            </a:pPr>
            <a:r>
              <a:rPr lang="en-US" sz="1800" dirty="0">
                <a:solidFill>
                  <a:srgbClr val="0070C0"/>
                </a:solidFill>
                <a:latin typeface="Times New Roman" panose="02020603050405020304" pitchFamily="18" charset="0"/>
                <a:cs typeface="Times New Roman" panose="02020603050405020304" pitchFamily="18" charset="0"/>
              </a:rPr>
              <a:t>{{ </a:t>
            </a:r>
            <a:r>
              <a:rPr lang="en-US" sz="1800" dirty="0" err="1">
                <a:solidFill>
                  <a:srgbClr val="0070C0"/>
                </a:solidFill>
                <a:latin typeface="Times New Roman" panose="02020603050405020304" pitchFamily="18" charset="0"/>
                <a:cs typeface="Times New Roman" panose="02020603050405020304" pitchFamily="18" charset="0"/>
              </a:rPr>
              <a:t>form.as_table</a:t>
            </a:r>
            <a:r>
              <a:rPr lang="en-US" sz="1800" dirty="0">
                <a:solidFill>
                  <a:srgbClr val="0070C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will render them as table cells wrapped in &lt;tr&gt; tags</a:t>
            </a:r>
          </a:p>
          <a:p>
            <a:pPr marL="796925" lvl="1" indent="-339725" algn="just">
              <a:lnSpc>
                <a:spcPct val="150000"/>
              </a:lnSpc>
              <a:buFont typeface="Wingdings" panose="05000000000000000000" pitchFamily="2" charset="2"/>
              <a:buChar char="Ø"/>
            </a:pPr>
            <a:r>
              <a:rPr lang="en-US" sz="1800" dirty="0">
                <a:solidFill>
                  <a:srgbClr val="0070C0"/>
                </a:solidFill>
                <a:latin typeface="Times New Roman" panose="02020603050405020304" pitchFamily="18" charset="0"/>
                <a:cs typeface="Times New Roman" panose="02020603050405020304" pitchFamily="18" charset="0"/>
              </a:rPr>
              <a:t>{{ </a:t>
            </a:r>
            <a:r>
              <a:rPr lang="en-US" sz="1800" dirty="0" err="1">
                <a:solidFill>
                  <a:srgbClr val="0070C0"/>
                </a:solidFill>
                <a:latin typeface="Times New Roman" panose="02020603050405020304" pitchFamily="18" charset="0"/>
                <a:cs typeface="Times New Roman" panose="02020603050405020304" pitchFamily="18" charset="0"/>
              </a:rPr>
              <a:t>form.as_p</a:t>
            </a:r>
            <a:r>
              <a:rPr lang="en-US" sz="1800" dirty="0">
                <a:solidFill>
                  <a:srgbClr val="0070C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will render them wrapped in &lt;p&gt; tags</a:t>
            </a:r>
          </a:p>
          <a:p>
            <a:pPr marL="796925" lvl="1" indent="-339725" algn="just">
              <a:lnSpc>
                <a:spcPct val="150000"/>
              </a:lnSpc>
              <a:buFont typeface="Wingdings" panose="05000000000000000000" pitchFamily="2" charset="2"/>
              <a:buChar char="Ø"/>
            </a:pPr>
            <a:r>
              <a:rPr lang="en-US" sz="1800" dirty="0">
                <a:solidFill>
                  <a:srgbClr val="0070C0"/>
                </a:solidFill>
                <a:latin typeface="Times New Roman" panose="02020603050405020304" pitchFamily="18" charset="0"/>
                <a:cs typeface="Times New Roman" panose="02020603050405020304" pitchFamily="18" charset="0"/>
              </a:rPr>
              <a:t>{{ </a:t>
            </a:r>
            <a:r>
              <a:rPr lang="en-US" sz="1800" dirty="0" err="1">
                <a:solidFill>
                  <a:srgbClr val="0070C0"/>
                </a:solidFill>
                <a:latin typeface="Times New Roman" panose="02020603050405020304" pitchFamily="18" charset="0"/>
                <a:cs typeface="Times New Roman" panose="02020603050405020304" pitchFamily="18" charset="0"/>
              </a:rPr>
              <a:t>form.as_ul</a:t>
            </a:r>
            <a:r>
              <a:rPr lang="en-US" sz="1800" dirty="0">
                <a:solidFill>
                  <a:srgbClr val="0070C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will render them wrapped in &lt;li&gt; tags</a:t>
            </a:r>
          </a:p>
        </p:txBody>
      </p:sp>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296324"/>
            <a:ext cx="10515600" cy="118834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Output Options</a:t>
            </a:r>
          </a:p>
        </p:txBody>
      </p:sp>
      <p:sp>
        <p:nvSpPr>
          <p:cNvPr id="4" name="Content Placeholder 2">
            <a:extLst>
              <a:ext uri="{FF2B5EF4-FFF2-40B4-BE49-F238E27FC236}">
                <a16:creationId xmlns:a16="http://schemas.microsoft.com/office/drawing/2014/main" id="{DA76BACB-B102-2123-CFFA-D4D2D1ADBD7C}"/>
              </a:ext>
            </a:extLst>
          </p:cNvPr>
          <p:cNvSpPr txBox="1">
            <a:spLocks/>
          </p:cNvSpPr>
          <p:nvPr/>
        </p:nvSpPr>
        <p:spPr>
          <a:xfrm>
            <a:off x="838200" y="3872709"/>
            <a:ext cx="10515600" cy="227442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50000"/>
              </a:lnSpc>
              <a:buFont typeface="Wingdings" panose="05000000000000000000" pitchFamily="2" charset="2"/>
              <a:buChar char="§"/>
            </a:pPr>
            <a:r>
              <a:rPr lang="en-US" sz="1800" b="1" dirty="0">
                <a:solidFill>
                  <a:schemeClr val="accent1"/>
                </a:solidFill>
                <a:latin typeface="Times New Roman" panose="02020603050405020304" pitchFamily="18" charset="0"/>
                <a:cs typeface="Times New Roman" panose="02020603050405020304" pitchFamily="18" charset="0"/>
              </a:rPr>
              <a:t>{% </a:t>
            </a:r>
            <a:r>
              <a:rPr lang="en-US" sz="1800" b="1" dirty="0" err="1">
                <a:solidFill>
                  <a:schemeClr val="accent1"/>
                </a:solidFill>
                <a:latin typeface="Times New Roman" panose="02020603050405020304" pitchFamily="18" charset="0"/>
                <a:cs typeface="Times New Roman" panose="02020603050405020304" pitchFamily="18" charset="0"/>
              </a:rPr>
              <a:t>csrf_token</a:t>
            </a:r>
            <a:r>
              <a:rPr lang="en-US" sz="1800" b="1" dirty="0">
                <a:solidFill>
                  <a:schemeClr val="accent1"/>
                </a:solidFill>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is a special tag reserved for cases when a web form is submitted via POST and processed by Django.</a:t>
            </a:r>
          </a:p>
          <a:p>
            <a:pPr marL="285750" indent="-285750"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a:t>
            </a:r>
            <a:r>
              <a:rPr lang="en-US" sz="1800" dirty="0" err="1">
                <a:latin typeface="Times New Roman" panose="02020603050405020304" pitchFamily="18" charset="0"/>
                <a:cs typeface="Times New Roman" panose="02020603050405020304" pitchFamily="18" charset="0"/>
              </a:rPr>
              <a:t>csrf</a:t>
            </a:r>
            <a:r>
              <a:rPr lang="en-US" sz="1800" dirty="0">
                <a:latin typeface="Times New Roman" panose="02020603050405020304" pitchFamily="18" charset="0"/>
                <a:cs typeface="Times New Roman" panose="02020603050405020304" pitchFamily="18" charset="0"/>
              </a:rPr>
              <a:t> initials mean </a:t>
            </a:r>
            <a:r>
              <a:rPr lang="en-US" sz="1800" b="1" dirty="0">
                <a:latin typeface="Times New Roman" panose="02020603050405020304" pitchFamily="18" charset="0"/>
                <a:cs typeface="Times New Roman" panose="02020603050405020304" pitchFamily="18" charset="0"/>
              </a:rPr>
              <a:t>Cross-Site Request Forgery</a:t>
            </a:r>
            <a:r>
              <a:rPr lang="en-US" sz="1800" dirty="0">
                <a:latin typeface="Times New Roman" panose="02020603050405020304" pitchFamily="18" charset="0"/>
                <a:cs typeface="Times New Roman" panose="02020603050405020304" pitchFamily="18" charset="0"/>
              </a:rPr>
              <a:t>, which is a default security mechanism enforced by Django.</a:t>
            </a:r>
          </a:p>
          <a:p>
            <a:pPr marL="285750" indent="-285750"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inclusion of a CSRF token in a web form makes it very difficult to forge a user’s request.</a:t>
            </a:r>
          </a:p>
        </p:txBody>
      </p:sp>
      <p:sp>
        <p:nvSpPr>
          <p:cNvPr id="5" name="Slide Number Placeholder 4">
            <a:extLst>
              <a:ext uri="{FF2B5EF4-FFF2-40B4-BE49-F238E27FC236}">
                <a16:creationId xmlns:a16="http://schemas.microsoft.com/office/drawing/2014/main" id="{EA9477CA-5918-1BA4-F635-0675EC533B99}"/>
              </a:ext>
            </a:extLst>
          </p:cNvPr>
          <p:cNvSpPr>
            <a:spLocks noGrp="1"/>
          </p:cNvSpPr>
          <p:nvPr>
            <p:ph type="sldNum" sz="quarter" idx="12"/>
          </p:nvPr>
        </p:nvSpPr>
        <p:spPr/>
        <p:txBody>
          <a:bodyPr/>
          <a:lstStyle/>
          <a:p>
            <a:fld id="{EC47AAD7-037B-4BD0-8FE6-944FB61E3E6F}" type="slidenum">
              <a:rPr lang="en-US" smtClean="0"/>
              <a:t>9</a:t>
            </a:fld>
            <a:endParaRPr lang="en-US"/>
          </a:p>
        </p:txBody>
      </p:sp>
    </p:spTree>
    <p:extLst>
      <p:ext uri="{BB962C8B-B14F-4D97-AF65-F5344CB8AC3E}">
        <p14:creationId xmlns:p14="http://schemas.microsoft.com/office/powerpoint/2010/main" val="2546454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0232-BE7F-CBEC-E92C-C9D62E555594}"/>
              </a:ext>
            </a:extLst>
          </p:cNvPr>
          <p:cNvSpPr>
            <a:spLocks noGrp="1"/>
          </p:cNvSpPr>
          <p:nvPr>
            <p:ph type="title"/>
          </p:nvPr>
        </p:nvSpPr>
        <p:spPr>
          <a:xfrm>
            <a:off x="1101212" y="532276"/>
            <a:ext cx="10252588" cy="952398"/>
          </a:xfrm>
        </p:spPr>
        <p:txBody>
          <a:bodyPr/>
          <a:lstStyle/>
          <a:p>
            <a:r>
              <a:rPr lang="en-US" dirty="0"/>
              <a:t>URL in urls.py</a:t>
            </a:r>
          </a:p>
        </p:txBody>
      </p:sp>
      <p:grpSp>
        <p:nvGrpSpPr>
          <p:cNvPr id="6" name="Group 5">
            <a:extLst>
              <a:ext uri="{FF2B5EF4-FFF2-40B4-BE49-F238E27FC236}">
                <a16:creationId xmlns:a16="http://schemas.microsoft.com/office/drawing/2014/main" id="{3C8F7D7A-ECAE-8C8F-56F9-04D5B3DF1037}"/>
              </a:ext>
            </a:extLst>
          </p:cNvPr>
          <p:cNvGrpSpPr/>
          <p:nvPr/>
        </p:nvGrpSpPr>
        <p:grpSpPr>
          <a:xfrm>
            <a:off x="1101212" y="2736541"/>
            <a:ext cx="9566788" cy="2968049"/>
            <a:chOff x="1101212" y="2222089"/>
            <a:chExt cx="9566788" cy="2968049"/>
          </a:xfrm>
        </p:grpSpPr>
        <p:sp>
          <p:nvSpPr>
            <p:cNvPr id="3" name="Content Placeholder 2">
              <a:extLst>
                <a:ext uri="{FF2B5EF4-FFF2-40B4-BE49-F238E27FC236}">
                  <a16:creationId xmlns:a16="http://schemas.microsoft.com/office/drawing/2014/main" id="{4892D33A-56B6-B45C-A9DA-85E0929715E8}"/>
                </a:ext>
              </a:extLst>
            </p:cNvPr>
            <p:cNvSpPr txBox="1">
              <a:spLocks/>
            </p:cNvSpPr>
            <p:nvPr/>
          </p:nvSpPr>
          <p:spPr>
            <a:xfrm>
              <a:off x="1101212" y="2222089"/>
              <a:ext cx="9566788" cy="2968049"/>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4" name="TextBox 3">
              <a:extLst>
                <a:ext uri="{FF2B5EF4-FFF2-40B4-BE49-F238E27FC236}">
                  <a16:creationId xmlns:a16="http://schemas.microsoft.com/office/drawing/2014/main" id="{C0233DD5-56EE-81E2-D86E-EDA2DFA79659}"/>
                </a:ext>
              </a:extLst>
            </p:cNvPr>
            <p:cNvSpPr txBox="1"/>
            <p:nvPr/>
          </p:nvSpPr>
          <p:spPr>
            <a:xfrm>
              <a:off x="1219194" y="2604815"/>
              <a:ext cx="8819541" cy="2585323"/>
            </a:xfrm>
            <a:prstGeom prst="rect">
              <a:avLst/>
            </a:prstGeom>
            <a:noFill/>
          </p:spPr>
          <p:txBody>
            <a:bodyPr wrap="square">
              <a:spAutoFit/>
            </a:bodyPr>
            <a:lstStyle/>
            <a:p>
              <a:r>
                <a:rPr lang="en-US" sz="1800" b="0" i="0" u="none" strike="noStrike" baseline="0" dirty="0">
                  <a:solidFill>
                    <a:srgbClr val="000000"/>
                  </a:solidFill>
                  <a:latin typeface="Consolas" panose="020B0609020204030204" pitchFamily="49" charset="0"/>
                </a:rPr>
                <a:t>from </a:t>
              </a:r>
              <a:r>
                <a:rPr lang="en-US" sz="1800" b="0" i="0" u="none" strike="noStrike" baseline="0" dirty="0" err="1">
                  <a:solidFill>
                    <a:srgbClr val="000000"/>
                  </a:solidFill>
                  <a:latin typeface="Consolas" panose="020B0609020204030204" pitchFamily="49" charset="0"/>
                </a:rPr>
                <a:t>django.contrib</a:t>
              </a:r>
              <a:r>
                <a:rPr lang="en-US" sz="1800" b="0" i="0" u="none" strike="noStrike" baseline="0" dirty="0">
                  <a:solidFill>
                    <a:srgbClr val="000000"/>
                  </a:solidFill>
                  <a:latin typeface="Consolas" panose="020B0609020204030204" pitchFamily="49" charset="0"/>
                </a:rPr>
                <a:t> </a:t>
              </a:r>
              <a:r>
                <a:rPr lang="en-US" sz="1800" b="1" i="0" u="none" strike="noStrike" baseline="0" dirty="0">
                  <a:solidFill>
                    <a:srgbClr val="006599"/>
                  </a:solidFill>
                  <a:latin typeface="Consolas" panose="020B0609020204030204" pitchFamily="49" charset="0"/>
                </a:rPr>
                <a:t>import </a:t>
              </a:r>
              <a:r>
                <a:rPr lang="en-US" sz="1800" b="0" i="0" u="none" strike="noStrike" baseline="0" dirty="0">
                  <a:solidFill>
                    <a:srgbClr val="000000"/>
                  </a:solidFill>
                  <a:latin typeface="Consolas" panose="020B0609020204030204" pitchFamily="49" charset="0"/>
                </a:rPr>
                <a:t>admin </a:t>
              </a:r>
            </a:p>
            <a:p>
              <a:r>
                <a:rPr lang="en-US" sz="1800" b="0" i="0" u="none" strike="noStrike" baseline="0" dirty="0">
                  <a:solidFill>
                    <a:srgbClr val="000000"/>
                  </a:solidFill>
                  <a:latin typeface="Consolas" panose="020B0609020204030204" pitchFamily="49" charset="0"/>
                </a:rPr>
                <a:t>from </a:t>
              </a:r>
              <a:r>
                <a:rPr lang="en-US" sz="1800" b="0" i="0" u="none" strike="noStrike" baseline="0" dirty="0" err="1">
                  <a:solidFill>
                    <a:srgbClr val="000000"/>
                  </a:solidFill>
                  <a:latin typeface="Consolas" panose="020B0609020204030204" pitchFamily="49" charset="0"/>
                </a:rPr>
                <a:t>django.urls</a:t>
              </a:r>
              <a:r>
                <a:rPr lang="en-US" sz="1800" b="0" i="0" u="none" strike="noStrike" baseline="0" dirty="0">
                  <a:solidFill>
                    <a:srgbClr val="000000"/>
                  </a:solidFill>
                  <a:latin typeface="Consolas" panose="020B0609020204030204" pitchFamily="49" charset="0"/>
                </a:rPr>
                <a:t> </a:t>
              </a:r>
              <a:r>
                <a:rPr lang="en-US" sz="1800" b="1" i="0" u="none" strike="noStrike" baseline="0" dirty="0">
                  <a:solidFill>
                    <a:srgbClr val="006599"/>
                  </a:solidFill>
                  <a:latin typeface="Consolas" panose="020B0609020204030204" pitchFamily="49" charset="0"/>
                </a:rPr>
                <a:t>import </a:t>
              </a:r>
              <a:r>
                <a:rPr lang="en-US" sz="1800" b="0" i="0" u="none" strike="noStrike" baseline="0" dirty="0">
                  <a:solidFill>
                    <a:srgbClr val="000000"/>
                  </a:solidFill>
                  <a:latin typeface="Consolas" panose="020B0609020204030204" pitchFamily="49" charset="0"/>
                </a:rPr>
                <a:t>path </a:t>
              </a:r>
            </a:p>
            <a:p>
              <a:r>
                <a:rPr lang="en-US" sz="1800" b="0" i="0" u="none" strike="noStrike" baseline="0" dirty="0">
                  <a:solidFill>
                    <a:srgbClr val="000000"/>
                  </a:solidFill>
                  <a:latin typeface="Consolas" panose="020B0609020204030204" pitchFamily="49" charset="0"/>
                </a:rPr>
                <a:t>from </a:t>
              </a:r>
              <a:r>
                <a:rPr lang="en-US" sz="1800" b="0" i="0" u="none" strike="noStrike" baseline="0" dirty="0" err="1">
                  <a:solidFill>
                    <a:srgbClr val="000000"/>
                  </a:solidFill>
                  <a:latin typeface="Consolas" panose="020B0609020204030204" pitchFamily="49" charset="0"/>
                </a:rPr>
                <a:t>myapp</a:t>
              </a:r>
              <a:r>
                <a:rPr lang="en-US" sz="1800" b="0" i="0" u="none" strike="noStrike" baseline="0" dirty="0">
                  <a:solidFill>
                    <a:srgbClr val="000000"/>
                  </a:solidFill>
                  <a:latin typeface="Consolas" panose="020B0609020204030204" pitchFamily="49" charset="0"/>
                </a:rPr>
                <a:t> </a:t>
              </a:r>
              <a:r>
                <a:rPr lang="en-US" sz="1800" b="1" i="0" u="none" strike="noStrike" baseline="0" dirty="0">
                  <a:solidFill>
                    <a:srgbClr val="006599"/>
                  </a:solidFill>
                  <a:latin typeface="Consolas" panose="020B0609020204030204" pitchFamily="49" charset="0"/>
                </a:rPr>
                <a:t>import </a:t>
              </a:r>
              <a:r>
                <a:rPr lang="en-US" sz="1800" b="0" i="0" u="none" strike="noStrike" baseline="0" dirty="0">
                  <a:solidFill>
                    <a:srgbClr val="000000"/>
                  </a:solidFill>
                  <a:latin typeface="Consolas" panose="020B0609020204030204" pitchFamily="49" charset="0"/>
                </a:rPr>
                <a:t>views </a:t>
              </a:r>
            </a:p>
            <a:p>
              <a:endParaRPr lang="en-US" sz="1800" b="0" i="0" u="none" strike="noStrike" baseline="0" dirty="0">
                <a:solidFill>
                  <a:srgbClr val="000000"/>
                </a:solidFill>
                <a:latin typeface="Consolas" panose="020B0609020204030204" pitchFamily="49" charset="0"/>
              </a:endParaRPr>
            </a:p>
            <a:p>
              <a:r>
                <a:rPr lang="en-US" sz="1800" b="0" i="0" u="none" strike="noStrike" baseline="0" dirty="0" err="1">
                  <a:solidFill>
                    <a:srgbClr val="000000"/>
                  </a:solidFill>
                  <a:latin typeface="Consolas" panose="020B0609020204030204" pitchFamily="49" charset="0"/>
                </a:rPr>
                <a:t>urlpatterns</a:t>
              </a:r>
              <a:r>
                <a:rPr lang="en-US" sz="1800" b="0" i="0" u="none" strike="noStrike" baseline="0" dirty="0">
                  <a:solidFill>
                    <a:srgbClr val="000000"/>
                  </a:solidFill>
                  <a:latin typeface="Consolas" panose="020B0609020204030204" pitchFamily="49" charset="0"/>
                </a:rPr>
                <a:t> = [ </a:t>
              </a:r>
            </a:p>
            <a:p>
              <a:r>
                <a:rPr lang="en-US" sz="1800" b="0" i="0" u="none" strike="noStrike" baseline="0" dirty="0">
                  <a:solidFill>
                    <a:srgbClr val="000000"/>
                  </a:solidFill>
                  <a:latin typeface="Consolas" panose="020B0609020204030204" pitchFamily="49" charset="0"/>
                </a:rPr>
                <a:t>path(</a:t>
              </a:r>
              <a:r>
                <a:rPr lang="en-US" sz="1800" b="0" i="0" u="none" strike="noStrike" baseline="0" dirty="0">
                  <a:solidFill>
                    <a:srgbClr val="0000FF"/>
                  </a:solidFill>
                  <a:latin typeface="Consolas" panose="020B0609020204030204" pitchFamily="49" charset="0"/>
                </a:rPr>
                <a:t>'admin/'</a:t>
              </a:r>
              <a:r>
                <a:rPr lang="en-US" sz="1800" b="0" i="0" u="none" strike="noStrike" baseline="0" dirty="0">
                  <a:solidFill>
                    <a:srgbClr val="000000"/>
                  </a:solidFill>
                  <a:latin typeface="Consolas" panose="020B0609020204030204" pitchFamily="49" charset="0"/>
                </a:rPr>
                <a:t>, </a:t>
              </a:r>
              <a:r>
                <a:rPr lang="en-US" sz="1800" b="0" i="0" u="none" strike="noStrike" baseline="0" dirty="0" err="1">
                  <a:solidFill>
                    <a:srgbClr val="000000"/>
                  </a:solidFill>
                  <a:latin typeface="Consolas" panose="020B0609020204030204" pitchFamily="49" charset="0"/>
                </a:rPr>
                <a:t>admin.site.urls</a:t>
              </a:r>
              <a:r>
                <a:rPr lang="en-US" sz="1800" b="0" i="0" u="none" strike="noStrike" baseline="0" dirty="0">
                  <a:solidFill>
                    <a:srgbClr val="000000"/>
                  </a:solidFill>
                  <a:latin typeface="Consolas" panose="020B0609020204030204" pitchFamily="49" charset="0"/>
                </a:rPr>
                <a:t>), </a:t>
              </a:r>
            </a:p>
            <a:p>
              <a:r>
                <a:rPr lang="en-US" sz="1800" b="0" i="0" u="none" strike="noStrike" baseline="0" dirty="0">
                  <a:solidFill>
                    <a:srgbClr val="000000"/>
                  </a:solidFill>
                  <a:latin typeface="Consolas" panose="020B0609020204030204" pitchFamily="49" charset="0"/>
                </a:rPr>
                <a:t>path(</a:t>
              </a:r>
              <a:r>
                <a:rPr lang="en-US" sz="1800" b="0" i="0" u="none" strike="noStrike" baseline="0" dirty="0">
                  <a:solidFill>
                    <a:srgbClr val="0000FF"/>
                  </a:solidFill>
                  <a:latin typeface="Consolas" panose="020B0609020204030204" pitchFamily="49" charset="0"/>
                </a:rPr>
                <a:t>'index/'</a:t>
              </a:r>
              <a:r>
                <a:rPr lang="en-US" sz="1800" b="0" i="0" u="none" strike="noStrike" baseline="0" dirty="0">
                  <a:solidFill>
                    <a:srgbClr val="000000"/>
                  </a:solidFill>
                  <a:latin typeface="Consolas" panose="020B0609020204030204" pitchFamily="49" charset="0"/>
                </a:rPr>
                <a:t>, </a:t>
              </a:r>
              <a:r>
                <a:rPr lang="en-US" sz="1800" b="0" i="0" u="none" strike="noStrike" baseline="0" dirty="0" err="1">
                  <a:solidFill>
                    <a:srgbClr val="000000"/>
                  </a:solidFill>
                  <a:latin typeface="Consolas" panose="020B0609020204030204" pitchFamily="49" charset="0"/>
                </a:rPr>
                <a:t>views.index</a:t>
              </a:r>
              <a:r>
                <a:rPr lang="en-US" sz="1800" b="0" i="0" u="none" strike="noStrike" baseline="0" dirty="0">
                  <a:solidFill>
                    <a:srgbClr val="000000"/>
                  </a:solidFill>
                  <a:latin typeface="Consolas" panose="020B0609020204030204" pitchFamily="49" charset="0"/>
                </a:rPr>
                <a:t>), </a:t>
              </a:r>
            </a:p>
            <a:p>
              <a:r>
                <a:rPr lang="en-US" sz="1800" b="0" i="0" u="none" strike="noStrike" baseline="0" dirty="0">
                  <a:solidFill>
                    <a:srgbClr val="000000"/>
                  </a:solidFill>
                  <a:latin typeface="Consolas" panose="020B0609020204030204" pitchFamily="49" charset="0"/>
                </a:rPr>
                <a:t>] </a:t>
              </a:r>
            </a:p>
            <a:p>
              <a:endParaRPr lang="en-US" sz="1800" b="0" i="0" u="none" strike="noStrike" baseline="0" dirty="0">
                <a:solidFill>
                  <a:srgbClr val="000000"/>
                </a:solidFill>
                <a:latin typeface="Consolas" panose="020B0609020204030204" pitchFamily="49" charset="0"/>
              </a:endParaRPr>
            </a:p>
          </p:txBody>
        </p:sp>
      </p:grpSp>
      <p:sp>
        <p:nvSpPr>
          <p:cNvPr id="5" name="Content Placeholder 2">
            <a:extLst>
              <a:ext uri="{FF2B5EF4-FFF2-40B4-BE49-F238E27FC236}">
                <a16:creationId xmlns:a16="http://schemas.microsoft.com/office/drawing/2014/main" id="{982DE915-B3AA-4F2A-4F0A-20E93B8C5606}"/>
              </a:ext>
            </a:extLst>
          </p:cNvPr>
          <p:cNvSpPr>
            <a:spLocks noGrp="1"/>
          </p:cNvSpPr>
          <p:nvPr>
            <p:ph idx="1"/>
          </p:nvPr>
        </p:nvSpPr>
        <p:spPr>
          <a:xfrm>
            <a:off x="1101212" y="1769807"/>
            <a:ext cx="8308259" cy="681601"/>
          </a:xfrm>
        </p:spPr>
        <p:txBody>
          <a:bodyPr>
            <a:normAutofit/>
          </a:body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Run Server and access the form at browser by </a:t>
            </a:r>
            <a:r>
              <a:rPr lang="en-US" sz="2000" dirty="0">
                <a:solidFill>
                  <a:srgbClr val="0070C0"/>
                </a:solidFill>
                <a:latin typeface="Times New Roman" panose="02020603050405020304" pitchFamily="18" charset="0"/>
                <a:cs typeface="Times New Roman" panose="02020603050405020304" pitchFamily="18" charset="0"/>
              </a:rPr>
              <a:t>localhost:8000/index</a:t>
            </a:r>
            <a:r>
              <a:rPr lang="en-US" sz="2000" dirty="0">
                <a:latin typeface="Times New Roman" panose="02020603050405020304" pitchFamily="18" charset="0"/>
                <a:cs typeface="Times New Roman" panose="02020603050405020304" pitchFamily="18" charset="0"/>
              </a:rPr>
              <a:t>.</a:t>
            </a:r>
          </a:p>
        </p:txBody>
      </p:sp>
      <p:sp>
        <p:nvSpPr>
          <p:cNvPr id="7" name="Slide Number Placeholder 6">
            <a:extLst>
              <a:ext uri="{FF2B5EF4-FFF2-40B4-BE49-F238E27FC236}">
                <a16:creationId xmlns:a16="http://schemas.microsoft.com/office/drawing/2014/main" id="{2C9C9598-04AD-41A5-4607-F2CB035681BD}"/>
              </a:ext>
            </a:extLst>
          </p:cNvPr>
          <p:cNvSpPr>
            <a:spLocks noGrp="1"/>
          </p:cNvSpPr>
          <p:nvPr>
            <p:ph type="sldNum" sz="quarter" idx="12"/>
          </p:nvPr>
        </p:nvSpPr>
        <p:spPr/>
        <p:txBody>
          <a:bodyPr/>
          <a:lstStyle/>
          <a:p>
            <a:fld id="{EC47AAD7-037B-4BD0-8FE6-944FB61E3E6F}" type="slidenum">
              <a:rPr lang="en-US" smtClean="0"/>
              <a:t>10</a:t>
            </a:fld>
            <a:endParaRPr lang="en-US"/>
          </a:p>
        </p:txBody>
      </p:sp>
    </p:spTree>
    <p:extLst>
      <p:ext uri="{BB962C8B-B14F-4D97-AF65-F5344CB8AC3E}">
        <p14:creationId xmlns:p14="http://schemas.microsoft.com/office/powerpoint/2010/main" val="1465733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1876886-6720-0FE5-E486-0EDA9A45859E}"/>
              </a:ext>
            </a:extLst>
          </p:cNvPr>
          <p:cNvPicPr>
            <a:picLocks noChangeAspect="1"/>
          </p:cNvPicPr>
          <p:nvPr/>
        </p:nvPicPr>
        <p:blipFill rotWithShape="1">
          <a:blip r:embed="rId2"/>
          <a:srcRect r="8616" b="59324"/>
          <a:stretch/>
        </p:blipFill>
        <p:spPr>
          <a:xfrm>
            <a:off x="1032387" y="3855223"/>
            <a:ext cx="10127226" cy="2607110"/>
          </a:xfrm>
          <a:prstGeom prst="rect">
            <a:avLst/>
          </a:prstGeom>
          <a:ln>
            <a:solidFill>
              <a:schemeClr val="tx1"/>
            </a:solidFill>
          </a:ln>
        </p:spPr>
      </p:pic>
      <p:pic>
        <p:nvPicPr>
          <p:cNvPr id="7" name="Picture 6">
            <a:extLst>
              <a:ext uri="{FF2B5EF4-FFF2-40B4-BE49-F238E27FC236}">
                <a16:creationId xmlns:a16="http://schemas.microsoft.com/office/drawing/2014/main" id="{864BB970-ED34-1F6C-016C-16CE5EEEE633}"/>
              </a:ext>
            </a:extLst>
          </p:cNvPr>
          <p:cNvPicPr>
            <a:picLocks noChangeAspect="1"/>
          </p:cNvPicPr>
          <p:nvPr/>
        </p:nvPicPr>
        <p:blipFill rotWithShape="1">
          <a:blip r:embed="rId3"/>
          <a:srcRect l="-89" t="430" r="8837" b="60743"/>
          <a:stretch/>
        </p:blipFill>
        <p:spPr>
          <a:xfrm>
            <a:off x="1032387" y="517586"/>
            <a:ext cx="10167524" cy="2753933"/>
          </a:xfrm>
          <a:prstGeom prst="rect">
            <a:avLst/>
          </a:prstGeom>
          <a:ln>
            <a:solidFill>
              <a:schemeClr val="tx1"/>
            </a:solidFill>
          </a:ln>
        </p:spPr>
      </p:pic>
      <p:sp>
        <p:nvSpPr>
          <p:cNvPr id="2" name="Slide Number Placeholder 1">
            <a:extLst>
              <a:ext uri="{FF2B5EF4-FFF2-40B4-BE49-F238E27FC236}">
                <a16:creationId xmlns:a16="http://schemas.microsoft.com/office/drawing/2014/main" id="{D35357BE-50A8-D8CE-E526-531860ECDC19}"/>
              </a:ext>
            </a:extLst>
          </p:cNvPr>
          <p:cNvSpPr>
            <a:spLocks noGrp="1"/>
          </p:cNvSpPr>
          <p:nvPr>
            <p:ph type="sldNum" sz="quarter" idx="12"/>
          </p:nvPr>
        </p:nvSpPr>
        <p:spPr/>
        <p:txBody>
          <a:bodyPr/>
          <a:lstStyle/>
          <a:p>
            <a:fld id="{EC47AAD7-037B-4BD0-8FE6-944FB61E3E6F}" type="slidenum">
              <a:rPr lang="en-US" smtClean="0"/>
              <a:t>11</a:t>
            </a:fld>
            <a:endParaRPr lang="en-US"/>
          </a:p>
        </p:txBody>
      </p:sp>
    </p:spTree>
    <p:extLst>
      <p:ext uri="{BB962C8B-B14F-4D97-AF65-F5344CB8AC3E}">
        <p14:creationId xmlns:p14="http://schemas.microsoft.com/office/powerpoint/2010/main" val="3034709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a:xfrm>
            <a:off x="714067" y="1825625"/>
            <a:ext cx="10763865" cy="4351338"/>
          </a:xfrm>
        </p:spPr>
        <p:txBody>
          <a:bodyPr>
            <a:normAutofit/>
          </a:body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Once a user fills out a Django form, the form is sent back to the server to be processed and performs an action with the user data.</a:t>
            </a:r>
          </a:p>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Advantages :  Django form processing is you can use the </a:t>
            </a:r>
            <a:r>
              <a:rPr lang="en-US" sz="2000" dirty="0" err="1">
                <a:latin typeface="Times New Roman" panose="02020603050405020304" pitchFamily="18" charset="0"/>
                <a:cs typeface="Times New Roman" panose="02020603050405020304" pitchFamily="18" charset="0"/>
              </a:rPr>
              <a:t>request.POST</a:t>
            </a:r>
            <a:r>
              <a:rPr lang="en-US" sz="2000" dirty="0">
                <a:latin typeface="Times New Roman" panose="02020603050405020304" pitchFamily="18" charset="0"/>
                <a:cs typeface="Times New Roman" panose="02020603050405020304" pitchFamily="18" charset="0"/>
              </a:rPr>
              <a:t> variable to create a bound form instance.</a:t>
            </a:r>
          </a:p>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Syntax :</a:t>
            </a:r>
          </a:p>
          <a:p>
            <a:pPr marL="1371600" lvl="3" indent="0" algn="just">
              <a:lnSpc>
                <a:spcPct val="150000"/>
              </a:lnSpc>
              <a:buNone/>
            </a:pPr>
            <a:r>
              <a:rPr lang="en-US" sz="1600" dirty="0" err="1">
                <a:solidFill>
                  <a:srgbClr val="0D0DB3"/>
                </a:solidFill>
                <a:latin typeface="Consolas" panose="020B0609020204030204" pitchFamily="49" charset="0"/>
                <a:cs typeface="Times New Roman" panose="02020603050405020304" pitchFamily="18" charset="0"/>
              </a:rPr>
              <a:t>form.cleaned_data</a:t>
            </a:r>
            <a:r>
              <a:rPr lang="en-US" sz="1600" dirty="0">
                <a:solidFill>
                  <a:srgbClr val="0D0DB3"/>
                </a:solidFill>
                <a:latin typeface="Consolas" panose="020B0609020204030204" pitchFamily="49" charset="0"/>
                <a:cs typeface="Times New Roman" panose="02020603050405020304" pitchFamily="18" charset="0"/>
              </a:rPr>
              <a:t>['name'] </a:t>
            </a:r>
          </a:p>
          <a:p>
            <a:pPr marL="1371600" lvl="3" indent="0" algn="just">
              <a:lnSpc>
                <a:spcPct val="150000"/>
              </a:lnSpc>
              <a:buNone/>
            </a:pPr>
            <a:r>
              <a:rPr lang="en-US" sz="1600" dirty="0" err="1">
                <a:solidFill>
                  <a:srgbClr val="0D0DB3"/>
                </a:solidFill>
                <a:latin typeface="Consolas" panose="020B0609020204030204" pitchFamily="49" charset="0"/>
                <a:cs typeface="Times New Roman" panose="02020603050405020304" pitchFamily="18" charset="0"/>
              </a:rPr>
              <a:t>form.cleaned_data</a:t>
            </a:r>
            <a:r>
              <a:rPr lang="en-US" sz="1600" dirty="0">
                <a:solidFill>
                  <a:srgbClr val="0D0DB3"/>
                </a:solidFill>
                <a:latin typeface="Consolas" panose="020B0609020204030204" pitchFamily="49" charset="0"/>
                <a:cs typeface="Times New Roman" panose="02020603050405020304" pitchFamily="18" charset="0"/>
              </a:rPr>
              <a:t>['age']</a:t>
            </a:r>
          </a:p>
        </p:txBody>
      </p:sp>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2963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Accessing Form Values</a:t>
            </a:r>
          </a:p>
        </p:txBody>
      </p:sp>
      <p:sp>
        <p:nvSpPr>
          <p:cNvPr id="4" name="Slide Number Placeholder 3">
            <a:extLst>
              <a:ext uri="{FF2B5EF4-FFF2-40B4-BE49-F238E27FC236}">
                <a16:creationId xmlns:a16="http://schemas.microsoft.com/office/drawing/2014/main" id="{7F08C814-FEF3-93E5-923D-9001E6DD60D6}"/>
              </a:ext>
            </a:extLst>
          </p:cNvPr>
          <p:cNvSpPr>
            <a:spLocks noGrp="1"/>
          </p:cNvSpPr>
          <p:nvPr>
            <p:ph type="sldNum" sz="quarter" idx="12"/>
          </p:nvPr>
        </p:nvSpPr>
        <p:spPr/>
        <p:txBody>
          <a:bodyPr/>
          <a:lstStyle/>
          <a:p>
            <a:fld id="{EC47AAD7-037B-4BD0-8FE6-944FB61E3E6F}" type="slidenum">
              <a:rPr lang="en-US" smtClean="0"/>
              <a:t>12</a:t>
            </a:fld>
            <a:endParaRPr lang="en-US"/>
          </a:p>
        </p:txBody>
      </p:sp>
    </p:spTree>
    <p:extLst>
      <p:ext uri="{BB962C8B-B14F-4D97-AF65-F5344CB8AC3E}">
        <p14:creationId xmlns:p14="http://schemas.microsoft.com/office/powerpoint/2010/main" val="2788221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FFA864-538D-CBDA-6D81-60588683CC9F}"/>
              </a:ext>
            </a:extLst>
          </p:cNvPr>
          <p:cNvGrpSpPr/>
          <p:nvPr/>
        </p:nvGrpSpPr>
        <p:grpSpPr>
          <a:xfrm>
            <a:off x="1140540" y="956904"/>
            <a:ext cx="8662756" cy="1353678"/>
            <a:chOff x="471947" y="1163381"/>
            <a:chExt cx="8662756" cy="1353678"/>
          </a:xfrm>
        </p:grpSpPr>
        <p:sp>
          <p:nvSpPr>
            <p:cNvPr id="7" name="Content Placeholder 2">
              <a:extLst>
                <a:ext uri="{FF2B5EF4-FFF2-40B4-BE49-F238E27FC236}">
                  <a16:creationId xmlns:a16="http://schemas.microsoft.com/office/drawing/2014/main" id="{F7EBC691-1A9D-510A-3F04-78F7F5C486A6}"/>
                </a:ext>
              </a:extLst>
            </p:cNvPr>
            <p:cNvSpPr txBox="1">
              <a:spLocks/>
            </p:cNvSpPr>
            <p:nvPr/>
          </p:nvSpPr>
          <p:spPr>
            <a:xfrm>
              <a:off x="471947" y="1163381"/>
              <a:ext cx="8662756" cy="1353678"/>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8" name="TextBox 7">
              <a:extLst>
                <a:ext uri="{FF2B5EF4-FFF2-40B4-BE49-F238E27FC236}">
                  <a16:creationId xmlns:a16="http://schemas.microsoft.com/office/drawing/2014/main" id="{59C45DA2-1D6E-07F2-BED2-41CF1B3BCF18}"/>
                </a:ext>
              </a:extLst>
            </p:cNvPr>
            <p:cNvSpPr txBox="1"/>
            <p:nvPr/>
          </p:nvSpPr>
          <p:spPr>
            <a:xfrm>
              <a:off x="548195" y="1403572"/>
              <a:ext cx="8586508" cy="738664"/>
            </a:xfrm>
            <a:prstGeom prst="rect">
              <a:avLst/>
            </a:prstGeom>
            <a:noFill/>
          </p:spPr>
          <p:txBody>
            <a:bodyPr wrap="square">
              <a:spAutoFit/>
            </a:bodyPr>
            <a:lstStyle/>
            <a:p>
              <a:r>
                <a:rPr lang="en-US" sz="1400" dirty="0">
                  <a:solidFill>
                    <a:srgbClr val="0033B3"/>
                  </a:solidFill>
                  <a:effectLst/>
                  <a:latin typeface="Consolas" panose="020B0609020204030204" pitchFamily="49" charset="0"/>
                </a:rPr>
                <a:t>class </a:t>
              </a:r>
              <a:r>
                <a:rPr lang="en-US" sz="1400" dirty="0" err="1">
                  <a:solidFill>
                    <a:srgbClr val="000000"/>
                  </a:solidFill>
                  <a:effectLst/>
                  <a:latin typeface="Consolas" panose="020B0609020204030204" pitchFamily="49" charset="0"/>
                </a:rPr>
                <a:t>LoginForm</a:t>
              </a:r>
              <a:r>
                <a:rPr lang="en-US" sz="1400" dirty="0">
                  <a:solidFill>
                    <a:srgbClr val="080808"/>
                  </a:solidFill>
                  <a:effectLst/>
                  <a:latin typeface="Consolas" panose="020B0609020204030204" pitchFamily="49" charset="0"/>
                </a:rPr>
                <a:t>(</a:t>
              </a:r>
              <a:r>
                <a:rPr lang="en-US" sz="1400" dirty="0" err="1">
                  <a:solidFill>
                    <a:srgbClr val="080808"/>
                  </a:solidFill>
                  <a:effectLst/>
                  <a:latin typeface="Consolas" panose="020B0609020204030204" pitchFamily="49" charset="0"/>
                </a:rPr>
                <a:t>forms.Form</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name = </a:t>
              </a:r>
              <a:r>
                <a:rPr lang="en-US" sz="1400" dirty="0" err="1">
                  <a:solidFill>
                    <a:srgbClr val="080808"/>
                  </a:solidFill>
                  <a:effectLst/>
                  <a:latin typeface="Consolas" panose="020B0609020204030204" pitchFamily="49" charset="0"/>
                </a:rPr>
                <a:t>forms.CharField</a:t>
              </a:r>
              <a:r>
                <a:rPr lang="en-US" sz="1400" dirty="0">
                  <a:solidFill>
                    <a:srgbClr val="080808"/>
                  </a:solidFill>
                  <a:effectLst/>
                  <a:latin typeface="Consolas" panose="020B0609020204030204" pitchFamily="49" charset="0"/>
                </a:rPr>
                <a:t>(</a:t>
              </a:r>
              <a:r>
                <a:rPr lang="en-US" sz="1400" dirty="0">
                  <a:solidFill>
                    <a:srgbClr val="660099"/>
                  </a:solidFill>
                  <a:effectLst/>
                  <a:latin typeface="Consolas" panose="020B0609020204030204" pitchFamily="49" charset="0"/>
                </a:rPr>
                <a:t>label</a:t>
              </a:r>
              <a:r>
                <a:rPr lang="en-US" sz="1400" dirty="0">
                  <a:solidFill>
                    <a:srgbClr val="080808"/>
                  </a:solidFill>
                  <a:effectLst/>
                  <a:latin typeface="Consolas" panose="020B0609020204030204" pitchFamily="49" charset="0"/>
                </a:rPr>
                <a:t>=</a:t>
              </a:r>
              <a:r>
                <a:rPr lang="en-US" sz="1400" dirty="0">
                  <a:solidFill>
                    <a:srgbClr val="067D17"/>
                  </a:solidFill>
                  <a:effectLst/>
                  <a:latin typeface="Consolas" panose="020B0609020204030204" pitchFamily="49" charset="0"/>
                </a:rPr>
                <a:t>'Enter user name:'</a:t>
              </a:r>
              <a:r>
                <a:rPr lang="en-US" sz="1400" dirty="0">
                  <a:solidFill>
                    <a:srgbClr val="080808"/>
                  </a:solidFill>
                  <a:effectLst/>
                  <a:latin typeface="Consolas" panose="020B0609020204030204" pitchFamily="49" charset="0"/>
                </a:rPr>
                <a:t>, </a:t>
              </a:r>
              <a:r>
                <a:rPr lang="en-US" sz="1400" dirty="0" err="1">
                  <a:solidFill>
                    <a:srgbClr val="660099"/>
                  </a:solidFill>
                  <a:effectLst/>
                  <a:latin typeface="Consolas" panose="020B0609020204030204" pitchFamily="49" charset="0"/>
                </a:rPr>
                <a:t>max_length</a:t>
              </a:r>
              <a:r>
                <a:rPr lang="en-US" sz="1400" dirty="0">
                  <a:solidFill>
                    <a:srgbClr val="080808"/>
                  </a:solidFill>
                  <a:effectLst/>
                  <a:latin typeface="Consolas" panose="020B0609020204030204" pitchFamily="49" charset="0"/>
                </a:rPr>
                <a:t>=</a:t>
              </a:r>
              <a:r>
                <a:rPr lang="en-US" sz="1400" dirty="0">
                  <a:solidFill>
                    <a:srgbClr val="1750EB"/>
                  </a:solidFill>
                  <a:effectLst/>
                  <a:latin typeface="Consolas" panose="020B0609020204030204" pitchFamily="49" charset="0"/>
                </a:rPr>
                <a:t>100</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password = </a:t>
              </a:r>
              <a:r>
                <a:rPr lang="en-US" sz="1400" dirty="0" err="1">
                  <a:solidFill>
                    <a:srgbClr val="080808"/>
                  </a:solidFill>
                  <a:effectLst/>
                  <a:latin typeface="Consolas" panose="020B0609020204030204" pitchFamily="49" charset="0"/>
                </a:rPr>
                <a:t>forms.CharField</a:t>
              </a:r>
              <a:r>
                <a:rPr lang="en-US" sz="1400" dirty="0">
                  <a:solidFill>
                    <a:srgbClr val="080808"/>
                  </a:solidFill>
                  <a:effectLst/>
                  <a:latin typeface="Consolas" panose="020B0609020204030204" pitchFamily="49" charset="0"/>
                </a:rPr>
                <a:t>(</a:t>
              </a:r>
              <a:r>
                <a:rPr lang="en-US" sz="1400" dirty="0">
                  <a:solidFill>
                    <a:srgbClr val="660099"/>
                  </a:solidFill>
                  <a:effectLst/>
                  <a:latin typeface="Consolas" panose="020B0609020204030204" pitchFamily="49" charset="0"/>
                </a:rPr>
                <a:t>label</a:t>
              </a:r>
              <a:r>
                <a:rPr lang="en-US" sz="1400" dirty="0">
                  <a:solidFill>
                    <a:srgbClr val="080808"/>
                  </a:solidFill>
                  <a:effectLst/>
                  <a:latin typeface="Consolas" panose="020B0609020204030204" pitchFamily="49" charset="0"/>
                </a:rPr>
                <a:t>=</a:t>
              </a:r>
              <a:r>
                <a:rPr lang="en-US" sz="1400" dirty="0">
                  <a:solidFill>
                    <a:srgbClr val="067D17"/>
                  </a:solidFill>
                  <a:effectLst/>
                  <a:latin typeface="Consolas" panose="020B0609020204030204" pitchFamily="49" charset="0"/>
                </a:rPr>
                <a:t>'Enter Password:’</a:t>
              </a:r>
              <a:r>
                <a:rPr lang="en-US" sz="1400" dirty="0">
                  <a:solidFill>
                    <a:srgbClr val="080808"/>
                  </a:solidFill>
                  <a:latin typeface="Consolas" panose="020B0609020204030204" pitchFamily="49" charset="0"/>
                </a:rPr>
                <a:t>, </a:t>
              </a:r>
              <a:r>
                <a:rPr lang="en-US" sz="1400" dirty="0">
                  <a:solidFill>
                    <a:srgbClr val="660099"/>
                  </a:solidFill>
                  <a:effectLst/>
                  <a:latin typeface="Consolas" panose="020B0609020204030204" pitchFamily="49" charset="0"/>
                </a:rPr>
                <a:t>widget</a:t>
              </a:r>
              <a:r>
                <a:rPr lang="en-US" sz="1400" dirty="0">
                  <a:solidFill>
                    <a:srgbClr val="080808"/>
                  </a:solidFill>
                  <a:effectLst/>
                  <a:latin typeface="Consolas" panose="020B0609020204030204" pitchFamily="49" charset="0"/>
                </a:rPr>
                <a:t>=</a:t>
              </a:r>
              <a:r>
                <a:rPr lang="en-US" sz="1400" dirty="0" err="1">
                  <a:solidFill>
                    <a:srgbClr val="080808"/>
                  </a:solidFill>
                  <a:effectLst/>
                  <a:latin typeface="Consolas" panose="020B0609020204030204" pitchFamily="49" charset="0"/>
                </a:rPr>
                <a:t>forms.PasswordInput</a:t>
              </a:r>
              <a:r>
                <a:rPr lang="en-US" sz="1400" dirty="0">
                  <a:solidFill>
                    <a:srgbClr val="080808"/>
                  </a:solidFill>
                  <a:effectLst/>
                  <a:latin typeface="Consolas" panose="020B0609020204030204" pitchFamily="49" charset="0"/>
                </a:rPr>
                <a:t>())</a:t>
              </a:r>
            </a:p>
          </p:txBody>
        </p:sp>
      </p:grpSp>
      <p:sp>
        <p:nvSpPr>
          <p:cNvPr id="10" name="TextBox 9">
            <a:extLst>
              <a:ext uri="{FF2B5EF4-FFF2-40B4-BE49-F238E27FC236}">
                <a16:creationId xmlns:a16="http://schemas.microsoft.com/office/drawing/2014/main" id="{647C2D16-C8BB-3AB8-9339-A72A20E15588}"/>
              </a:ext>
            </a:extLst>
          </p:cNvPr>
          <p:cNvSpPr txBox="1"/>
          <p:nvPr/>
        </p:nvSpPr>
        <p:spPr>
          <a:xfrm>
            <a:off x="1140540" y="393290"/>
            <a:ext cx="2025447" cy="369332"/>
          </a:xfrm>
          <a:prstGeom prst="rect">
            <a:avLst/>
          </a:prstGeom>
          <a:noFill/>
        </p:spPr>
        <p:txBody>
          <a:bodyPr wrap="square" rtlCol="0">
            <a:spAutoFit/>
          </a:bodyPr>
          <a:lstStyle/>
          <a:p>
            <a:r>
              <a:rPr lang="en-US" b="1" dirty="0"/>
              <a:t>forms.py</a:t>
            </a:r>
          </a:p>
        </p:txBody>
      </p:sp>
      <p:sp>
        <p:nvSpPr>
          <p:cNvPr id="11" name="Content Placeholder 2">
            <a:extLst>
              <a:ext uri="{FF2B5EF4-FFF2-40B4-BE49-F238E27FC236}">
                <a16:creationId xmlns:a16="http://schemas.microsoft.com/office/drawing/2014/main" id="{87A51617-BCEA-7D85-01FF-7BC18338E96B}"/>
              </a:ext>
            </a:extLst>
          </p:cNvPr>
          <p:cNvSpPr txBox="1">
            <a:spLocks/>
          </p:cNvSpPr>
          <p:nvPr/>
        </p:nvSpPr>
        <p:spPr>
          <a:xfrm>
            <a:off x="1125794" y="3036430"/>
            <a:ext cx="8662756" cy="3236551"/>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12" name="TextBox 11">
            <a:extLst>
              <a:ext uri="{FF2B5EF4-FFF2-40B4-BE49-F238E27FC236}">
                <a16:creationId xmlns:a16="http://schemas.microsoft.com/office/drawing/2014/main" id="{68725693-6F32-C727-E2B8-01BAD10D8D62}"/>
              </a:ext>
            </a:extLst>
          </p:cNvPr>
          <p:cNvSpPr txBox="1"/>
          <p:nvPr/>
        </p:nvSpPr>
        <p:spPr>
          <a:xfrm>
            <a:off x="1202042" y="3276621"/>
            <a:ext cx="8586508" cy="2893100"/>
          </a:xfrm>
          <a:prstGeom prst="rect">
            <a:avLst/>
          </a:prstGeom>
          <a:noFill/>
        </p:spPr>
        <p:txBody>
          <a:bodyPr wrap="square">
            <a:spAutoFit/>
          </a:bodyPr>
          <a:lstStyle/>
          <a:p>
            <a:r>
              <a:rPr lang="en-US" sz="1400" dirty="0">
                <a:solidFill>
                  <a:srgbClr val="0033B3"/>
                </a:solidFill>
                <a:effectLst/>
                <a:latin typeface="Consolas" panose="020B0609020204030204" pitchFamily="49" charset="0"/>
              </a:rPr>
              <a:t>def </a:t>
            </a:r>
            <a:r>
              <a:rPr lang="en-US" sz="1400" dirty="0">
                <a:solidFill>
                  <a:srgbClr val="00627A"/>
                </a:solidFill>
                <a:effectLst/>
                <a:latin typeface="Consolas" panose="020B0609020204030204" pitchFamily="49" charset="0"/>
              </a:rPr>
              <a:t>login</a:t>
            </a:r>
            <a:r>
              <a:rPr lang="en-US" sz="1400" dirty="0">
                <a:solidFill>
                  <a:srgbClr val="080808"/>
                </a:solidFill>
                <a:effectLst/>
                <a:latin typeface="Consolas" panose="020B0609020204030204" pitchFamily="49" charset="0"/>
              </a:rPr>
              <a:t>(request):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solidFill>
                  <a:srgbClr val="0033B3"/>
                </a:solidFill>
                <a:effectLst/>
                <a:latin typeface="Consolas" panose="020B0609020204030204" pitchFamily="49" charset="0"/>
              </a:rPr>
              <a:t>if </a:t>
            </a:r>
            <a:r>
              <a:rPr lang="en-US" sz="1400" dirty="0" err="1">
                <a:solidFill>
                  <a:srgbClr val="080808"/>
                </a:solidFill>
                <a:effectLst/>
                <a:latin typeface="Consolas" panose="020B0609020204030204" pitchFamily="49" charset="0"/>
              </a:rPr>
              <a:t>request.method</a:t>
            </a:r>
            <a:r>
              <a:rPr lang="en-US" sz="1400" dirty="0">
                <a:solidFill>
                  <a:srgbClr val="080808"/>
                </a:solidFill>
                <a:effectLst/>
                <a:latin typeface="Consolas" panose="020B0609020204030204" pitchFamily="49" charset="0"/>
              </a:rPr>
              <a:t> == </a:t>
            </a:r>
            <a:r>
              <a:rPr lang="en-US" sz="1400" dirty="0">
                <a:solidFill>
                  <a:srgbClr val="067D17"/>
                </a:solidFill>
                <a:effectLst/>
                <a:latin typeface="Consolas" panose="020B0609020204030204" pitchFamily="49" charset="0"/>
              </a:rPr>
              <a:t>'POST'</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err="1">
                <a:solidFill>
                  <a:srgbClr val="080808"/>
                </a:solidFill>
                <a:effectLst/>
                <a:latin typeface="Consolas" panose="020B0609020204030204" pitchFamily="49" charset="0"/>
              </a:rPr>
              <a:t>login_form</a:t>
            </a:r>
            <a:r>
              <a:rPr lang="en-US" sz="1400" dirty="0">
                <a:solidFill>
                  <a:srgbClr val="080808"/>
                </a:solidFill>
                <a:effectLst/>
                <a:latin typeface="Consolas" panose="020B0609020204030204" pitchFamily="49" charset="0"/>
              </a:rPr>
              <a:t> = </a:t>
            </a:r>
            <a:r>
              <a:rPr lang="en-US" sz="1400" dirty="0" err="1">
                <a:solidFill>
                  <a:srgbClr val="080808"/>
                </a:solidFill>
                <a:effectLst/>
                <a:latin typeface="Consolas" panose="020B0609020204030204" pitchFamily="49" charset="0"/>
              </a:rPr>
              <a:t>LoginForm</a:t>
            </a:r>
            <a:r>
              <a:rPr lang="en-US" sz="1400" dirty="0">
                <a:solidFill>
                  <a:srgbClr val="080808"/>
                </a:solidFill>
                <a:effectLst/>
                <a:latin typeface="Consolas" panose="020B0609020204030204" pitchFamily="49" charset="0"/>
              </a:rPr>
              <a:t>(</a:t>
            </a:r>
            <a:r>
              <a:rPr lang="en-US" sz="1400" dirty="0" err="1">
                <a:solidFill>
                  <a:srgbClr val="080808"/>
                </a:solidFill>
                <a:effectLst/>
                <a:latin typeface="Consolas" panose="020B0609020204030204" pitchFamily="49" charset="0"/>
              </a:rPr>
              <a:t>request.POST</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solidFill>
                  <a:srgbClr val="0033B3"/>
                </a:solidFill>
                <a:effectLst/>
                <a:latin typeface="Consolas" panose="020B0609020204030204" pitchFamily="49" charset="0"/>
              </a:rPr>
              <a:t>if </a:t>
            </a:r>
            <a:r>
              <a:rPr lang="en-US" sz="1400" dirty="0" err="1">
                <a:solidFill>
                  <a:srgbClr val="080808"/>
                </a:solidFill>
                <a:effectLst/>
                <a:latin typeface="Consolas" panose="020B0609020204030204" pitchFamily="49" charset="0"/>
              </a:rPr>
              <a:t>login_form.is_valid</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name = </a:t>
            </a:r>
            <a:r>
              <a:rPr lang="en-US" sz="1400" dirty="0" err="1">
                <a:solidFill>
                  <a:srgbClr val="080808"/>
                </a:solidFill>
                <a:effectLst/>
                <a:latin typeface="Consolas" panose="020B0609020204030204" pitchFamily="49" charset="0"/>
              </a:rPr>
              <a:t>login_form.cleaned_data</a:t>
            </a:r>
            <a:r>
              <a:rPr lang="en-US" sz="1400" dirty="0">
                <a:solidFill>
                  <a:srgbClr val="080808"/>
                </a:solidFill>
                <a:effectLst/>
                <a:latin typeface="Consolas" panose="020B0609020204030204" pitchFamily="49" charset="0"/>
              </a:rPr>
              <a:t>[</a:t>
            </a:r>
            <a:r>
              <a:rPr lang="en-US" sz="1400" dirty="0">
                <a:solidFill>
                  <a:srgbClr val="067D17"/>
                </a:solidFill>
                <a:effectLst/>
                <a:latin typeface="Consolas" panose="020B0609020204030204" pitchFamily="49" charset="0"/>
              </a:rPr>
              <a:t>'name'</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effectLst/>
                <a:latin typeface="Consolas" panose="020B0609020204030204" pitchFamily="49" charset="0"/>
              </a:rPr>
              <a:t>password</a:t>
            </a:r>
            <a:r>
              <a:rPr lang="en-US" sz="1400" dirty="0">
                <a:solidFill>
                  <a:srgbClr val="808080"/>
                </a:solidFill>
                <a:effectLst/>
                <a:latin typeface="Consolas" panose="020B0609020204030204" pitchFamily="49" charset="0"/>
              </a:rPr>
              <a:t> </a:t>
            </a:r>
            <a:r>
              <a:rPr lang="en-US" sz="1400" dirty="0">
                <a:solidFill>
                  <a:srgbClr val="080808"/>
                </a:solidFill>
                <a:effectLst/>
                <a:latin typeface="Consolas" panose="020B0609020204030204" pitchFamily="49" charset="0"/>
              </a:rPr>
              <a:t>= </a:t>
            </a:r>
            <a:r>
              <a:rPr lang="en-US" sz="1400" dirty="0" err="1">
                <a:solidFill>
                  <a:srgbClr val="080808"/>
                </a:solidFill>
                <a:effectLst/>
                <a:latin typeface="Consolas" panose="020B0609020204030204" pitchFamily="49" charset="0"/>
              </a:rPr>
              <a:t>login_form.cleaned_data</a:t>
            </a:r>
            <a:r>
              <a:rPr lang="en-US" sz="1400" dirty="0">
                <a:solidFill>
                  <a:srgbClr val="080808"/>
                </a:solidFill>
                <a:effectLst/>
                <a:latin typeface="Consolas" panose="020B0609020204030204" pitchFamily="49" charset="0"/>
              </a:rPr>
              <a:t>[</a:t>
            </a:r>
            <a:r>
              <a:rPr lang="en-US" sz="1400" dirty="0">
                <a:solidFill>
                  <a:srgbClr val="067D17"/>
                </a:solidFill>
                <a:effectLst/>
                <a:latin typeface="Consolas" panose="020B0609020204030204" pitchFamily="49" charset="0"/>
              </a:rPr>
              <a:t>'password'</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solidFill>
                  <a:srgbClr val="0033B3"/>
                </a:solidFill>
                <a:effectLst/>
                <a:latin typeface="Consolas" panose="020B0609020204030204" pitchFamily="49" charset="0"/>
              </a:rPr>
              <a:t>return </a:t>
            </a:r>
            <a:r>
              <a:rPr lang="en-US" sz="1400" dirty="0" err="1">
                <a:solidFill>
                  <a:srgbClr val="080808"/>
                </a:solidFill>
                <a:effectLst/>
                <a:latin typeface="Consolas" panose="020B0609020204030204" pitchFamily="49" charset="0"/>
              </a:rPr>
              <a:t>HttpResponse</a:t>
            </a:r>
            <a:r>
              <a:rPr lang="en-US" sz="1400" dirty="0">
                <a:solidFill>
                  <a:srgbClr val="080808"/>
                </a:solidFill>
                <a:effectLst/>
                <a:latin typeface="Consolas" panose="020B0609020204030204" pitchFamily="49" charset="0"/>
              </a:rPr>
              <a:t>(</a:t>
            </a:r>
            <a:r>
              <a:rPr lang="en-US" sz="1400" dirty="0">
                <a:solidFill>
                  <a:srgbClr val="067D17"/>
                </a:solidFill>
                <a:effectLst/>
                <a:latin typeface="Consolas" panose="020B0609020204030204" pitchFamily="49" charset="0"/>
              </a:rPr>
              <a:t>'Welcome ' </a:t>
            </a:r>
            <a:r>
              <a:rPr lang="en-US" sz="1400" dirty="0">
                <a:solidFill>
                  <a:srgbClr val="080808"/>
                </a:solidFill>
                <a:effectLst/>
                <a:latin typeface="Consolas" panose="020B0609020204030204" pitchFamily="49" charset="0"/>
              </a:rPr>
              <a:t>+ name)</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solidFill>
                  <a:srgbClr val="0033B3"/>
                </a:solidFill>
                <a:effectLst/>
                <a:latin typeface="Consolas" panose="020B0609020204030204" pitchFamily="49" charset="0"/>
              </a:rPr>
              <a:t>else</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solidFill>
                  <a:srgbClr val="0033B3"/>
                </a:solidFill>
                <a:effectLst/>
                <a:latin typeface="Consolas" panose="020B0609020204030204" pitchFamily="49" charset="0"/>
              </a:rPr>
              <a:t>pass</a:t>
            </a:r>
            <a:br>
              <a:rPr lang="en-US" sz="1400" dirty="0">
                <a:solidFill>
                  <a:srgbClr val="0033B3"/>
                </a:solidFill>
                <a:effectLst/>
                <a:latin typeface="Consolas" panose="020B0609020204030204" pitchFamily="49" charset="0"/>
              </a:rPr>
            </a:br>
            <a:r>
              <a:rPr lang="en-US" sz="1400" dirty="0">
                <a:solidFill>
                  <a:srgbClr val="0033B3"/>
                </a:solidFill>
                <a:effectLst/>
                <a:latin typeface="Consolas" panose="020B0609020204030204" pitchFamily="49" charset="0"/>
              </a:rPr>
              <a:t>    else</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err="1">
                <a:solidFill>
                  <a:srgbClr val="080808"/>
                </a:solidFill>
                <a:effectLst/>
                <a:latin typeface="Consolas" panose="020B0609020204030204" pitchFamily="49" charset="0"/>
              </a:rPr>
              <a:t>login_form</a:t>
            </a:r>
            <a:r>
              <a:rPr lang="en-US" sz="1400" dirty="0">
                <a:solidFill>
                  <a:srgbClr val="080808"/>
                </a:solidFill>
                <a:effectLst/>
                <a:latin typeface="Consolas" panose="020B0609020204030204" pitchFamily="49" charset="0"/>
              </a:rPr>
              <a:t> = </a:t>
            </a:r>
            <a:r>
              <a:rPr lang="en-US" sz="1400" dirty="0" err="1">
                <a:solidFill>
                  <a:srgbClr val="080808"/>
                </a:solidFill>
                <a:effectLst/>
                <a:latin typeface="Consolas" panose="020B0609020204030204" pitchFamily="49" charset="0"/>
              </a:rPr>
              <a:t>LoginForm</a:t>
            </a:r>
            <a:r>
              <a:rPr lang="en-US" sz="1400" dirty="0">
                <a:solidFill>
                  <a:srgbClr val="080808"/>
                </a:solidFill>
                <a:effectLst/>
                <a:latin typeface="Consolas" panose="020B0609020204030204" pitchFamily="49" charset="0"/>
              </a:rPr>
              <a:t>()</a:t>
            </a:r>
            <a:br>
              <a:rPr lang="en-US" sz="1400" dirty="0">
                <a:solidFill>
                  <a:srgbClr val="080808"/>
                </a:solidFill>
                <a:effectLst/>
                <a:latin typeface="Consolas" panose="020B0609020204030204" pitchFamily="49" charset="0"/>
              </a:rPr>
            </a:br>
            <a:r>
              <a:rPr lang="en-US" sz="1400" dirty="0">
                <a:solidFill>
                  <a:srgbClr val="080808"/>
                </a:solidFill>
                <a:effectLst/>
                <a:latin typeface="Consolas" panose="020B0609020204030204" pitchFamily="49" charset="0"/>
              </a:rPr>
              <a:t>        </a:t>
            </a:r>
            <a:r>
              <a:rPr lang="en-US" sz="1400" dirty="0">
                <a:solidFill>
                  <a:srgbClr val="0033B3"/>
                </a:solidFill>
                <a:effectLst/>
                <a:latin typeface="Consolas" panose="020B0609020204030204" pitchFamily="49" charset="0"/>
              </a:rPr>
              <a:t>return </a:t>
            </a:r>
            <a:r>
              <a:rPr lang="en-US" sz="1400" dirty="0">
                <a:solidFill>
                  <a:srgbClr val="080808"/>
                </a:solidFill>
                <a:effectLst/>
                <a:latin typeface="Consolas" panose="020B0609020204030204" pitchFamily="49" charset="0"/>
              </a:rPr>
              <a:t>render(</a:t>
            </a:r>
            <a:r>
              <a:rPr lang="en-US" sz="1400" dirty="0" err="1">
                <a:solidFill>
                  <a:srgbClr val="080808"/>
                </a:solidFill>
                <a:effectLst/>
                <a:latin typeface="Consolas" panose="020B0609020204030204" pitchFamily="49" charset="0"/>
              </a:rPr>
              <a:t>request,</a:t>
            </a:r>
            <a:r>
              <a:rPr lang="en-US" sz="1400" dirty="0" err="1">
                <a:solidFill>
                  <a:srgbClr val="067D17"/>
                </a:solidFill>
                <a:effectLst/>
                <a:latin typeface="Consolas" panose="020B0609020204030204" pitchFamily="49" charset="0"/>
              </a:rPr>
              <a:t>"login.html</a:t>
            </a:r>
            <a:r>
              <a:rPr lang="en-US" sz="1400" dirty="0">
                <a:solidFill>
                  <a:srgbClr val="067D17"/>
                </a:solidFill>
                <a:effectLst/>
                <a:latin typeface="Consolas" panose="020B0609020204030204" pitchFamily="49" charset="0"/>
              </a:rPr>
              <a:t>"</a:t>
            </a:r>
            <a:r>
              <a:rPr lang="en-US" sz="1400" dirty="0">
                <a:solidFill>
                  <a:srgbClr val="080808"/>
                </a:solidFill>
                <a:effectLst/>
                <a:latin typeface="Consolas" panose="020B0609020204030204" pitchFamily="49" charset="0"/>
              </a:rPr>
              <a:t>,{</a:t>
            </a:r>
            <a:r>
              <a:rPr lang="en-US" sz="1400" dirty="0">
                <a:solidFill>
                  <a:srgbClr val="067D17"/>
                </a:solidFill>
                <a:effectLst/>
                <a:latin typeface="Consolas" panose="020B0609020204030204" pitchFamily="49" charset="0"/>
              </a:rPr>
              <a:t>'form'</a:t>
            </a:r>
            <a:r>
              <a:rPr lang="en-US" sz="1400" dirty="0">
                <a:solidFill>
                  <a:srgbClr val="080808"/>
                </a:solidFill>
                <a:effectLst/>
                <a:latin typeface="Consolas" panose="020B0609020204030204" pitchFamily="49" charset="0"/>
              </a:rPr>
              <a:t>:</a:t>
            </a:r>
            <a:r>
              <a:rPr lang="en-US" sz="1400" dirty="0" err="1">
                <a:solidFill>
                  <a:srgbClr val="080808"/>
                </a:solidFill>
                <a:effectLst/>
                <a:latin typeface="Consolas" panose="020B0609020204030204" pitchFamily="49" charset="0"/>
              </a:rPr>
              <a:t>login_form</a:t>
            </a:r>
            <a:r>
              <a:rPr lang="en-US" sz="1400" dirty="0">
                <a:solidFill>
                  <a:srgbClr val="080808"/>
                </a:solidFill>
                <a:effectLst/>
                <a:latin typeface="Consolas" panose="020B0609020204030204" pitchFamily="49" charset="0"/>
              </a:rPr>
              <a:t>})</a:t>
            </a:r>
          </a:p>
          <a:p>
            <a:endParaRPr lang="en-US" sz="1400" dirty="0">
              <a:solidFill>
                <a:srgbClr val="080808"/>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EE0803D1-8E55-A75A-DDCF-21C632FCFBA8}"/>
              </a:ext>
            </a:extLst>
          </p:cNvPr>
          <p:cNvSpPr txBox="1"/>
          <p:nvPr/>
        </p:nvSpPr>
        <p:spPr>
          <a:xfrm>
            <a:off x="1125789" y="2563838"/>
            <a:ext cx="2025447" cy="369332"/>
          </a:xfrm>
          <a:prstGeom prst="rect">
            <a:avLst/>
          </a:prstGeom>
          <a:noFill/>
        </p:spPr>
        <p:txBody>
          <a:bodyPr wrap="square" rtlCol="0">
            <a:spAutoFit/>
          </a:bodyPr>
          <a:lstStyle/>
          <a:p>
            <a:r>
              <a:rPr lang="en-US" b="1" dirty="0"/>
              <a:t>views.py</a:t>
            </a:r>
          </a:p>
        </p:txBody>
      </p:sp>
      <p:sp>
        <p:nvSpPr>
          <p:cNvPr id="2" name="Slide Number Placeholder 1">
            <a:extLst>
              <a:ext uri="{FF2B5EF4-FFF2-40B4-BE49-F238E27FC236}">
                <a16:creationId xmlns:a16="http://schemas.microsoft.com/office/drawing/2014/main" id="{F0D97827-70E0-E082-818C-18555F0F28DF}"/>
              </a:ext>
            </a:extLst>
          </p:cNvPr>
          <p:cNvSpPr>
            <a:spLocks noGrp="1"/>
          </p:cNvSpPr>
          <p:nvPr>
            <p:ph type="sldNum" sz="quarter" idx="12"/>
          </p:nvPr>
        </p:nvSpPr>
        <p:spPr/>
        <p:txBody>
          <a:bodyPr/>
          <a:lstStyle/>
          <a:p>
            <a:fld id="{EC47AAD7-037B-4BD0-8FE6-944FB61E3E6F}" type="slidenum">
              <a:rPr lang="en-US" smtClean="0"/>
              <a:t>13</a:t>
            </a:fld>
            <a:endParaRPr lang="en-US"/>
          </a:p>
        </p:txBody>
      </p:sp>
    </p:spTree>
    <p:extLst>
      <p:ext uri="{BB962C8B-B14F-4D97-AF65-F5344CB8AC3E}">
        <p14:creationId xmlns:p14="http://schemas.microsoft.com/office/powerpoint/2010/main" val="3436627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6BF17F-7813-262C-3A69-5A738E2D4CF1}"/>
              </a:ext>
            </a:extLst>
          </p:cNvPr>
          <p:cNvPicPr>
            <a:picLocks noChangeAspect="1"/>
          </p:cNvPicPr>
          <p:nvPr/>
        </p:nvPicPr>
        <p:blipFill rotWithShape="1">
          <a:blip r:embed="rId2"/>
          <a:srcRect r="8702" b="60501"/>
          <a:stretch/>
        </p:blipFill>
        <p:spPr>
          <a:xfrm>
            <a:off x="1241453" y="718984"/>
            <a:ext cx="9709093" cy="2321068"/>
          </a:xfrm>
          <a:prstGeom prst="rect">
            <a:avLst/>
          </a:prstGeom>
          <a:ln>
            <a:solidFill>
              <a:schemeClr val="tx1"/>
            </a:solidFill>
          </a:ln>
        </p:spPr>
      </p:pic>
      <p:pic>
        <p:nvPicPr>
          <p:cNvPr id="8" name="Picture 7">
            <a:extLst>
              <a:ext uri="{FF2B5EF4-FFF2-40B4-BE49-F238E27FC236}">
                <a16:creationId xmlns:a16="http://schemas.microsoft.com/office/drawing/2014/main" id="{00CB12D8-A143-2EFF-CA7A-F8162FB8B517}"/>
              </a:ext>
            </a:extLst>
          </p:cNvPr>
          <p:cNvPicPr>
            <a:picLocks noChangeAspect="1"/>
          </p:cNvPicPr>
          <p:nvPr/>
        </p:nvPicPr>
        <p:blipFill rotWithShape="1">
          <a:blip r:embed="rId3"/>
          <a:srcRect r="8952" b="62437"/>
          <a:stretch/>
        </p:blipFill>
        <p:spPr>
          <a:xfrm>
            <a:off x="1241454" y="3787564"/>
            <a:ext cx="9709094" cy="2253128"/>
          </a:xfrm>
          <a:prstGeom prst="rect">
            <a:avLst/>
          </a:prstGeom>
          <a:ln>
            <a:solidFill>
              <a:schemeClr val="tx1"/>
            </a:solidFill>
          </a:ln>
        </p:spPr>
      </p:pic>
      <p:sp>
        <p:nvSpPr>
          <p:cNvPr id="2" name="Slide Number Placeholder 1">
            <a:extLst>
              <a:ext uri="{FF2B5EF4-FFF2-40B4-BE49-F238E27FC236}">
                <a16:creationId xmlns:a16="http://schemas.microsoft.com/office/drawing/2014/main" id="{99437E80-FD6C-E44F-8953-AF02EEE2A000}"/>
              </a:ext>
            </a:extLst>
          </p:cNvPr>
          <p:cNvSpPr>
            <a:spLocks noGrp="1"/>
          </p:cNvSpPr>
          <p:nvPr>
            <p:ph type="sldNum" sz="quarter" idx="12"/>
          </p:nvPr>
        </p:nvSpPr>
        <p:spPr/>
        <p:txBody>
          <a:bodyPr/>
          <a:lstStyle/>
          <a:p>
            <a:fld id="{EC47AAD7-037B-4BD0-8FE6-944FB61E3E6F}" type="slidenum">
              <a:rPr lang="en-US" smtClean="0"/>
              <a:t>14</a:t>
            </a:fld>
            <a:endParaRPr lang="en-US"/>
          </a:p>
        </p:txBody>
      </p:sp>
    </p:spTree>
    <p:extLst>
      <p:ext uri="{BB962C8B-B14F-4D97-AF65-F5344CB8AC3E}">
        <p14:creationId xmlns:p14="http://schemas.microsoft.com/office/powerpoint/2010/main" val="4282900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8B7223-D78B-52B0-9862-5CF077D9C939}"/>
              </a:ext>
            </a:extLst>
          </p:cNvPr>
          <p:cNvSpPr>
            <a:spLocks noGrp="1"/>
          </p:cNvSpPr>
          <p:nvPr>
            <p:ph idx="1"/>
          </p:nvPr>
        </p:nvSpPr>
        <p:spPr>
          <a:xfrm>
            <a:off x="714067" y="1825625"/>
            <a:ext cx="10763865" cy="2992181"/>
          </a:xfrm>
        </p:spPr>
        <p:txBody>
          <a:bodyPr>
            <a:normAutofit/>
          </a:bodyPr>
          <a:lstStyle/>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Call the </a:t>
            </a:r>
            <a:r>
              <a:rPr lang="en-US" sz="2000" dirty="0" err="1">
                <a:solidFill>
                  <a:srgbClr val="0070C0"/>
                </a:solidFill>
                <a:latin typeface="Consolas" panose="020B0609020204030204" pitchFamily="49" charset="0"/>
                <a:cs typeface="Times New Roman" panose="02020603050405020304" pitchFamily="18" charset="0"/>
              </a:rPr>
              <a:t>is_valid</a:t>
            </a:r>
            <a:r>
              <a:rPr lang="en-US" sz="2000" dirty="0">
                <a:solidFill>
                  <a:srgbClr val="0070C0"/>
                </a:solidFill>
                <a:latin typeface="Consolas" panose="020B0609020204030204" pitchFamily="49"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method on the instance to determine if the included values comply with a form’s field definitions.</a:t>
            </a:r>
          </a:p>
          <a:p>
            <a:pPr marL="285750" indent="-285750" algn="just">
              <a:lnSpc>
                <a:spcPct val="150000"/>
              </a:lnSpc>
              <a:buFont typeface="Wingdings" panose="05000000000000000000" pitchFamily="2" charset="2"/>
              <a:buChar char="§"/>
            </a:pPr>
            <a:r>
              <a:rPr lang="en-US" sz="2000" dirty="0" err="1">
                <a:solidFill>
                  <a:srgbClr val="0070C0"/>
                </a:solidFill>
                <a:latin typeface="Consolas" panose="020B0609020204030204" pitchFamily="49" charset="0"/>
                <a:cs typeface="Times New Roman" panose="02020603050405020304" pitchFamily="18" charset="0"/>
              </a:rPr>
              <a:t>is_valid</a:t>
            </a:r>
            <a:r>
              <a:rPr lang="en-US" sz="2000" dirty="0">
                <a:solidFill>
                  <a:srgbClr val="0070C0"/>
                </a:solidFill>
                <a:latin typeface="Consolas" panose="020B0609020204030204" pitchFamily="49"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method returns a Boolean True or False value.</a:t>
            </a:r>
          </a:p>
          <a:p>
            <a:pPr marL="285750" indent="-28575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Calling </a:t>
            </a:r>
            <a:r>
              <a:rPr lang="en-US" sz="2000" dirty="0" err="1">
                <a:solidFill>
                  <a:srgbClr val="0070C0"/>
                </a:solidFill>
                <a:latin typeface="Consolas" panose="020B0609020204030204" pitchFamily="49" charset="0"/>
                <a:cs typeface="Times New Roman" panose="02020603050405020304" pitchFamily="18" charset="0"/>
              </a:rPr>
              <a:t>is_valid</a:t>
            </a:r>
            <a:r>
              <a:rPr lang="en-US" sz="2000" dirty="0">
                <a:solidFill>
                  <a:srgbClr val="0070C0"/>
                </a:solidFill>
                <a:latin typeface="Consolas" panose="020B0609020204030204" pitchFamily="49"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creates the </a:t>
            </a:r>
            <a:r>
              <a:rPr lang="en-US" sz="2000" dirty="0" err="1">
                <a:latin typeface="Times New Roman" panose="02020603050405020304" pitchFamily="18" charset="0"/>
                <a:cs typeface="Times New Roman" panose="02020603050405020304" pitchFamily="18" charset="0"/>
              </a:rPr>
              <a:t>cleaned_data</a:t>
            </a:r>
            <a:r>
              <a:rPr lang="en-US" sz="2000" dirty="0">
                <a:latin typeface="Times New Roman" panose="02020603050405020304" pitchFamily="18" charset="0"/>
                <a:cs typeface="Times New Roman" panose="02020603050405020304" pitchFamily="18" charset="0"/>
              </a:rPr>
              <a:t> dictionary on the form instance to hold the form field values that passed validation rules. </a:t>
            </a:r>
          </a:p>
          <a:p>
            <a:pPr marL="0" indent="0" algn="just">
              <a:lnSpc>
                <a:spcPct val="150000"/>
              </a:lnSpc>
              <a:buNone/>
            </a:pPr>
            <a:endParaRPr lang="en-US" sz="1600" dirty="0">
              <a:solidFill>
                <a:srgbClr val="0D0DB3"/>
              </a:solidFill>
              <a:latin typeface="Consolas" panose="020B0609020204030204" pitchFamily="49" charset="0"/>
              <a:cs typeface="Times New Roman" panose="02020603050405020304" pitchFamily="18" charset="0"/>
            </a:endParaRPr>
          </a:p>
        </p:txBody>
      </p:sp>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2963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Validating Form Values</a:t>
            </a:r>
          </a:p>
        </p:txBody>
      </p:sp>
      <p:sp>
        <p:nvSpPr>
          <p:cNvPr id="4" name="Slide Number Placeholder 3">
            <a:extLst>
              <a:ext uri="{FF2B5EF4-FFF2-40B4-BE49-F238E27FC236}">
                <a16:creationId xmlns:a16="http://schemas.microsoft.com/office/drawing/2014/main" id="{A070AD41-114B-36A4-54A8-36249514BB40}"/>
              </a:ext>
            </a:extLst>
          </p:cNvPr>
          <p:cNvSpPr>
            <a:spLocks noGrp="1"/>
          </p:cNvSpPr>
          <p:nvPr>
            <p:ph type="sldNum" sz="quarter" idx="12"/>
          </p:nvPr>
        </p:nvSpPr>
        <p:spPr/>
        <p:txBody>
          <a:bodyPr/>
          <a:lstStyle/>
          <a:p>
            <a:fld id="{EC47AAD7-037B-4BD0-8FE6-944FB61E3E6F}" type="slidenum">
              <a:rPr lang="en-US" smtClean="0"/>
              <a:t>15</a:t>
            </a:fld>
            <a:endParaRPr lang="en-US"/>
          </a:p>
        </p:txBody>
      </p:sp>
    </p:spTree>
    <p:extLst>
      <p:ext uri="{BB962C8B-B14F-4D97-AF65-F5344CB8AC3E}">
        <p14:creationId xmlns:p14="http://schemas.microsoft.com/office/powerpoint/2010/main" val="1435528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29632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Example : Django form </a:t>
            </a:r>
            <a:r>
              <a:rPr lang="en-US" dirty="0" err="1">
                <a:latin typeface="Consolas" panose="020B0609020204030204" pitchFamily="49" charset="0"/>
              </a:rPr>
              <a:t>is_valid</a:t>
            </a:r>
            <a:r>
              <a:rPr lang="en-US" dirty="0">
                <a:latin typeface="Consolas" panose="020B0609020204030204" pitchFamily="49" charset="0"/>
              </a:rPr>
              <a:t>()</a:t>
            </a:r>
          </a:p>
        </p:txBody>
      </p:sp>
      <p:sp>
        <p:nvSpPr>
          <p:cNvPr id="9" name="Content Placeholder 2">
            <a:extLst>
              <a:ext uri="{FF2B5EF4-FFF2-40B4-BE49-F238E27FC236}">
                <a16:creationId xmlns:a16="http://schemas.microsoft.com/office/drawing/2014/main" id="{D51090E8-327C-7DA1-3F29-0375FA2DF512}"/>
              </a:ext>
            </a:extLst>
          </p:cNvPr>
          <p:cNvSpPr txBox="1">
            <a:spLocks/>
          </p:cNvSpPr>
          <p:nvPr/>
        </p:nvSpPr>
        <p:spPr>
          <a:xfrm>
            <a:off x="1101212" y="1907459"/>
            <a:ext cx="9566788" cy="3797132"/>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3DCAF2D9-9CF7-BF3E-E4B5-4A7AF2F63079}"/>
              </a:ext>
            </a:extLst>
          </p:cNvPr>
          <p:cNvSpPr txBox="1"/>
          <p:nvPr/>
        </p:nvSpPr>
        <p:spPr>
          <a:xfrm>
            <a:off x="1474835" y="2153260"/>
            <a:ext cx="8819541" cy="3046988"/>
          </a:xfrm>
          <a:prstGeom prst="rect">
            <a:avLst/>
          </a:prstGeom>
          <a:noFill/>
        </p:spPr>
        <p:txBody>
          <a:bodyPr wrap="square">
            <a:spAutoFit/>
          </a:bodyPr>
          <a:lstStyle/>
          <a:p>
            <a:pPr algn="l"/>
            <a:r>
              <a:rPr lang="en-US" sz="1600" b="0" i="0" u="none" strike="noStrike" baseline="0" dirty="0">
                <a:latin typeface="Consolas" panose="020B0609020204030204" pitchFamily="49" charset="0"/>
              </a:rPr>
              <a:t>from </a:t>
            </a:r>
            <a:r>
              <a:rPr lang="en-US" sz="1600" b="0" i="0" u="none" strike="noStrike" baseline="0" dirty="0" err="1">
                <a:latin typeface="Consolas" panose="020B0609020204030204" pitchFamily="49" charset="0"/>
              </a:rPr>
              <a:t>django.http</a:t>
            </a:r>
            <a:r>
              <a:rPr lang="en-US" sz="1600" b="0" i="0" u="none" strike="noStrike" baseline="0" dirty="0">
                <a:latin typeface="Consolas" panose="020B0609020204030204" pitchFamily="49" charset="0"/>
              </a:rPr>
              <a:t> import </a:t>
            </a:r>
            <a:r>
              <a:rPr lang="en-US" sz="1600" b="0" i="0" u="none" strike="noStrike" baseline="0" dirty="0" err="1">
                <a:latin typeface="Consolas" panose="020B0609020204030204" pitchFamily="49" charset="0"/>
              </a:rPr>
              <a:t>HttpResponseRedirect</a:t>
            </a:r>
            <a:endParaRPr lang="en-US" sz="1600" b="0" i="0" u="none" strike="noStrike" baseline="0" dirty="0">
              <a:latin typeface="Consolas" panose="020B0609020204030204" pitchFamily="49" charset="0"/>
            </a:endParaRPr>
          </a:p>
          <a:p>
            <a:pPr algn="l"/>
            <a:endParaRPr lang="en-US" sz="1600" b="0" i="0" u="none" strike="noStrike" baseline="0" dirty="0">
              <a:latin typeface="Consolas" panose="020B0609020204030204" pitchFamily="49" charset="0"/>
            </a:endParaRPr>
          </a:p>
          <a:p>
            <a:pPr algn="l"/>
            <a:r>
              <a:rPr lang="en-US" sz="1600" b="0" i="0" u="none" strike="noStrike" baseline="0" dirty="0">
                <a:latin typeface="Consolas" panose="020B0609020204030204" pitchFamily="49" charset="0"/>
              </a:rPr>
              <a:t>if </a:t>
            </a:r>
            <a:r>
              <a:rPr lang="en-US" sz="1600" b="0" i="0" u="none" strike="noStrike" baseline="0" dirty="0" err="1">
                <a:latin typeface="Consolas" panose="020B0609020204030204" pitchFamily="49" charset="0"/>
              </a:rPr>
              <a:t>request.method</a:t>
            </a:r>
            <a:r>
              <a:rPr lang="en-US" sz="1600" b="0" i="0" u="none" strike="noStrike" baseline="0" dirty="0">
                <a:latin typeface="Consolas" panose="020B0609020204030204" pitchFamily="49" charset="0"/>
              </a:rPr>
              <a:t> == </a:t>
            </a:r>
            <a:r>
              <a:rPr lang="en-US" sz="1600" b="0" i="0" u="none" strike="noStrike" baseline="0" dirty="0">
                <a:solidFill>
                  <a:srgbClr val="0070C0"/>
                </a:solidFill>
                <a:latin typeface="Consolas" panose="020B0609020204030204" pitchFamily="49" charset="0"/>
              </a:rPr>
              <a:t>'POST'</a:t>
            </a:r>
            <a:r>
              <a:rPr lang="en-US" sz="1600" b="0" i="0" u="none" strike="noStrike" baseline="0" dirty="0">
                <a:latin typeface="Consolas" panose="020B0609020204030204" pitchFamily="49" charset="0"/>
              </a:rPr>
              <a:t>:</a:t>
            </a:r>
          </a:p>
          <a:p>
            <a:pPr algn="l"/>
            <a:r>
              <a:rPr lang="en-US" sz="1600" b="0" i="0" u="none" strike="noStrike" baseline="0" dirty="0">
                <a:latin typeface="Consolas" panose="020B0609020204030204" pitchFamily="49" charset="0"/>
              </a:rPr>
              <a:t>     form = </a:t>
            </a:r>
            <a:r>
              <a:rPr lang="en-US" sz="1600" b="0" i="0" u="none" strike="noStrike" baseline="0" dirty="0" err="1">
                <a:latin typeface="Consolas" panose="020B0609020204030204" pitchFamily="49" charset="0"/>
              </a:rPr>
              <a:t>ContactForm</a:t>
            </a:r>
            <a:r>
              <a:rPr lang="en-US" sz="1600" b="0" i="0" u="none" strike="noStrike" baseline="0" dirty="0">
                <a:latin typeface="Consolas" panose="020B0609020204030204" pitchFamily="49" charset="0"/>
              </a:rPr>
              <a:t>(</a:t>
            </a:r>
            <a:r>
              <a:rPr lang="en-US" sz="1600" b="0" i="0" u="none" strike="noStrike" baseline="0" dirty="0" err="1">
                <a:latin typeface="Consolas" panose="020B0609020204030204" pitchFamily="49" charset="0"/>
              </a:rPr>
              <a:t>request.POST</a:t>
            </a:r>
            <a:r>
              <a:rPr lang="en-US" sz="1600" b="0" i="0" u="none" strike="noStrike" baseline="0" dirty="0">
                <a:latin typeface="Consolas" panose="020B0609020204030204" pitchFamily="49" charset="0"/>
              </a:rPr>
              <a:t>)</a:t>
            </a:r>
          </a:p>
          <a:p>
            <a:pPr algn="l"/>
            <a:endParaRPr lang="en-US" sz="1600" b="0" i="0" u="none" strike="noStrike" baseline="0" dirty="0">
              <a:latin typeface="Consolas" panose="020B0609020204030204" pitchFamily="49" charset="0"/>
            </a:endParaRPr>
          </a:p>
          <a:p>
            <a:pPr algn="l"/>
            <a:r>
              <a:rPr lang="en-US" sz="1600" b="0" i="0" u="none" strike="noStrike" baseline="0" dirty="0">
                <a:latin typeface="Consolas" panose="020B0609020204030204" pitchFamily="49" charset="0"/>
              </a:rPr>
              <a:t>     if </a:t>
            </a:r>
            <a:r>
              <a:rPr lang="en-US" sz="1600" b="0" i="0" u="none" strike="noStrike" baseline="0" dirty="0" err="1">
                <a:solidFill>
                  <a:srgbClr val="0070C0"/>
                </a:solidFill>
                <a:latin typeface="Consolas" panose="020B0609020204030204" pitchFamily="49" charset="0"/>
              </a:rPr>
              <a:t>form.is_valid</a:t>
            </a:r>
            <a:r>
              <a:rPr lang="en-US" sz="1600" b="0" i="0" u="none" strike="noStrike" baseline="0" dirty="0">
                <a:solidFill>
                  <a:srgbClr val="0070C0"/>
                </a:solidFill>
                <a:latin typeface="Consolas" panose="020B0609020204030204" pitchFamily="49" charset="0"/>
              </a:rPr>
              <a:t>()</a:t>
            </a:r>
            <a:r>
              <a:rPr lang="en-US" sz="1600" b="0" i="0" u="none" strike="noStrike" baseline="0" dirty="0">
                <a:latin typeface="Consolas" panose="020B0609020204030204" pitchFamily="49" charset="0"/>
              </a:rPr>
              <a:t>:</a:t>
            </a:r>
          </a:p>
          <a:p>
            <a:pPr algn="l"/>
            <a:r>
              <a:rPr lang="en-US" sz="1600" dirty="0">
                <a:latin typeface="Consolas" panose="020B0609020204030204" pitchFamily="49" charset="0"/>
              </a:rPr>
              <a:t>          </a:t>
            </a:r>
            <a:r>
              <a:rPr lang="en-US" sz="1600" b="0" i="0" u="none" strike="noStrike" baseline="0" dirty="0">
                <a:latin typeface="Consolas" panose="020B0609020204030204" pitchFamily="49" charset="0"/>
              </a:rPr>
              <a:t>return </a:t>
            </a:r>
            <a:r>
              <a:rPr lang="en-US" sz="1600" b="0" i="0" u="none" strike="noStrike" baseline="0" dirty="0" err="1">
                <a:latin typeface="Consolas" panose="020B0609020204030204" pitchFamily="49" charset="0"/>
              </a:rPr>
              <a:t>HttpResponseRedirect</a:t>
            </a:r>
            <a:r>
              <a:rPr lang="en-US" sz="1600" b="0" i="0" u="none" strike="noStrike" baseline="0" dirty="0">
                <a:latin typeface="Consolas" panose="020B0609020204030204" pitchFamily="49" charset="0"/>
              </a:rPr>
              <a:t>('/about/contact/thankyou')</a:t>
            </a:r>
          </a:p>
          <a:p>
            <a:pPr algn="l"/>
            <a:r>
              <a:rPr lang="en-US" sz="1600" b="0" i="0" u="none" strike="noStrike" baseline="0" dirty="0">
                <a:latin typeface="Consolas" panose="020B0609020204030204" pitchFamily="49" charset="0"/>
              </a:rPr>
              <a:t>     else:</a:t>
            </a:r>
          </a:p>
          <a:p>
            <a:pPr algn="l"/>
            <a:r>
              <a:rPr lang="en-US" sz="1600" b="0" i="0" u="none" strike="noStrike" baseline="0" dirty="0">
                <a:latin typeface="Consolas" panose="020B0609020204030204" pitchFamily="49" charset="0"/>
              </a:rPr>
              <a:t>          pass  </a:t>
            </a:r>
          </a:p>
          <a:p>
            <a:pPr algn="l"/>
            <a:r>
              <a:rPr lang="en-US" sz="1600" b="0" i="0" u="none" strike="noStrike" baseline="0" dirty="0">
                <a:latin typeface="Consolas" panose="020B0609020204030204" pitchFamily="49" charset="0"/>
              </a:rPr>
              <a:t>else:</a:t>
            </a:r>
          </a:p>
          <a:p>
            <a:pPr algn="l"/>
            <a:r>
              <a:rPr lang="en-US" sz="1600" b="0" i="0" u="none" strike="noStrike" baseline="0" dirty="0">
                <a:latin typeface="Consolas" panose="020B0609020204030204" pitchFamily="49" charset="0"/>
              </a:rPr>
              <a:t>     form = </a:t>
            </a:r>
            <a:r>
              <a:rPr lang="en-US" sz="1600" b="0" i="0" u="none" strike="noStrike" baseline="0" dirty="0" err="1">
                <a:latin typeface="Consolas" panose="020B0609020204030204" pitchFamily="49" charset="0"/>
              </a:rPr>
              <a:t>ContactForm</a:t>
            </a:r>
            <a:r>
              <a:rPr lang="en-US" sz="1600" b="0" i="0" u="none" strike="noStrike" baseline="0" dirty="0">
                <a:latin typeface="Consolas" panose="020B0609020204030204" pitchFamily="49" charset="0"/>
              </a:rPr>
              <a:t>()</a:t>
            </a:r>
          </a:p>
          <a:p>
            <a:pPr algn="l"/>
            <a:r>
              <a:rPr lang="en-US" sz="1600" dirty="0">
                <a:latin typeface="Consolas" panose="020B0609020204030204" pitchFamily="49" charset="0"/>
              </a:rPr>
              <a:t>     </a:t>
            </a:r>
            <a:r>
              <a:rPr lang="en-US" sz="1600" b="0" i="0" u="none" strike="noStrike" baseline="0" dirty="0">
                <a:latin typeface="Consolas" panose="020B0609020204030204" pitchFamily="49" charset="0"/>
              </a:rPr>
              <a:t>return render(request, 'about/contact.html', {'</a:t>
            </a:r>
            <a:r>
              <a:rPr lang="en-US" sz="1600" b="0" i="0" u="none" strike="noStrike" baseline="0" dirty="0" err="1">
                <a:latin typeface="Consolas" panose="020B0609020204030204" pitchFamily="49" charset="0"/>
              </a:rPr>
              <a:t>form':form</a:t>
            </a:r>
            <a:r>
              <a:rPr lang="en-US" sz="1600" b="0" i="0" u="none" strike="noStrike" baseline="0" dirty="0">
                <a:latin typeface="Consolas" panose="020B0609020204030204" pitchFamily="49" charset="0"/>
              </a:rPr>
              <a:t>})</a:t>
            </a:r>
            <a:endParaRPr lang="en-US" sz="1600" b="0" i="0" u="none" strike="noStrike" baseline="0" dirty="0">
              <a:solidFill>
                <a:srgbClr val="000000"/>
              </a:solidFill>
              <a:latin typeface="Consolas" panose="020B0609020204030204" pitchFamily="49" charset="0"/>
            </a:endParaRPr>
          </a:p>
        </p:txBody>
      </p:sp>
      <p:sp>
        <p:nvSpPr>
          <p:cNvPr id="3" name="Slide Number Placeholder 2">
            <a:extLst>
              <a:ext uri="{FF2B5EF4-FFF2-40B4-BE49-F238E27FC236}">
                <a16:creationId xmlns:a16="http://schemas.microsoft.com/office/drawing/2014/main" id="{03D1DBAC-AE04-50DD-A03F-5F8703C0F511}"/>
              </a:ext>
            </a:extLst>
          </p:cNvPr>
          <p:cNvSpPr>
            <a:spLocks noGrp="1"/>
          </p:cNvSpPr>
          <p:nvPr>
            <p:ph type="sldNum" sz="quarter" idx="12"/>
          </p:nvPr>
        </p:nvSpPr>
        <p:spPr/>
        <p:txBody>
          <a:bodyPr/>
          <a:lstStyle/>
          <a:p>
            <a:fld id="{EC47AAD7-037B-4BD0-8FE6-944FB61E3E6F}" type="slidenum">
              <a:rPr lang="en-US" smtClean="0"/>
              <a:t>16</a:t>
            </a:fld>
            <a:endParaRPr lang="en-US"/>
          </a:p>
        </p:txBody>
      </p:sp>
    </p:spTree>
    <p:extLst>
      <p:ext uri="{BB962C8B-B14F-4D97-AF65-F5344CB8AC3E}">
        <p14:creationId xmlns:p14="http://schemas.microsoft.com/office/powerpoint/2010/main" val="3622666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355317"/>
            <a:ext cx="10515600" cy="7826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Example : Validation with custom validator method</a:t>
            </a:r>
            <a:endParaRPr lang="en-US" sz="3600" dirty="0">
              <a:latin typeface="Consolas" panose="020B0609020204030204" pitchFamily="49" charset="0"/>
            </a:endParaRPr>
          </a:p>
        </p:txBody>
      </p:sp>
      <p:sp>
        <p:nvSpPr>
          <p:cNvPr id="9" name="Content Placeholder 2">
            <a:extLst>
              <a:ext uri="{FF2B5EF4-FFF2-40B4-BE49-F238E27FC236}">
                <a16:creationId xmlns:a16="http://schemas.microsoft.com/office/drawing/2014/main" id="{D51090E8-327C-7DA1-3F29-0375FA2DF512}"/>
              </a:ext>
            </a:extLst>
          </p:cNvPr>
          <p:cNvSpPr txBox="1">
            <a:spLocks/>
          </p:cNvSpPr>
          <p:nvPr/>
        </p:nvSpPr>
        <p:spPr>
          <a:xfrm>
            <a:off x="673510" y="1220021"/>
            <a:ext cx="10844980" cy="3636435"/>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3DCAF2D9-9CF7-BF3E-E4B5-4A7AF2F63079}"/>
              </a:ext>
            </a:extLst>
          </p:cNvPr>
          <p:cNvSpPr txBox="1"/>
          <p:nvPr/>
        </p:nvSpPr>
        <p:spPr>
          <a:xfrm>
            <a:off x="781663" y="1301637"/>
            <a:ext cx="10628673" cy="3554819"/>
          </a:xfrm>
          <a:prstGeom prst="rect">
            <a:avLst/>
          </a:prstGeom>
          <a:noFill/>
        </p:spPr>
        <p:txBody>
          <a:bodyPr wrap="square">
            <a:spAutoFit/>
          </a:bodyPr>
          <a:lstStyle/>
          <a:p>
            <a:pPr algn="l"/>
            <a:r>
              <a:rPr lang="en-US" sz="1500" b="0" i="0" u="none" strike="noStrike" baseline="0" dirty="0">
                <a:latin typeface="Consolas" panose="020B0609020204030204" pitchFamily="49" charset="0"/>
              </a:rPr>
              <a:t>from </a:t>
            </a:r>
            <a:r>
              <a:rPr lang="en-US" sz="1500" b="0" i="0" u="none" strike="noStrike" baseline="0" dirty="0" err="1">
                <a:latin typeface="Consolas" panose="020B0609020204030204" pitchFamily="49" charset="0"/>
              </a:rPr>
              <a:t>django</a:t>
            </a:r>
            <a:r>
              <a:rPr lang="en-US" sz="1500" b="0" i="0" u="none" strike="noStrike" baseline="0" dirty="0">
                <a:latin typeface="Consolas" panose="020B0609020204030204" pitchFamily="49" charset="0"/>
              </a:rPr>
              <a:t> import forms</a:t>
            </a:r>
          </a:p>
          <a:p>
            <a:pPr algn="l"/>
            <a:endParaRPr lang="en-US" sz="1500" b="0" i="0" u="none" strike="noStrike" baseline="0" dirty="0">
              <a:latin typeface="Consolas" panose="020B0609020204030204" pitchFamily="49" charset="0"/>
            </a:endParaRPr>
          </a:p>
          <a:p>
            <a:pPr algn="l"/>
            <a:r>
              <a:rPr lang="en-US" sz="1500" b="0" i="0" u="none" strike="noStrike" baseline="0" dirty="0">
                <a:latin typeface="Consolas" panose="020B0609020204030204" pitchFamily="49" charset="0"/>
              </a:rPr>
              <a:t>def </a:t>
            </a:r>
            <a:r>
              <a:rPr lang="en-US" sz="1500" b="0" i="0" u="none" strike="noStrike" baseline="0" dirty="0" err="1">
                <a:solidFill>
                  <a:srgbClr val="0070C0"/>
                </a:solidFill>
                <a:latin typeface="Consolas" panose="020B0609020204030204" pitchFamily="49" charset="0"/>
              </a:rPr>
              <a:t>validate_comment_word_count</a:t>
            </a:r>
            <a:r>
              <a:rPr lang="en-US" sz="1500" b="0" i="0" u="none" strike="noStrike" baseline="0" dirty="0">
                <a:latin typeface="Consolas" panose="020B0609020204030204" pitchFamily="49" charset="0"/>
              </a:rPr>
              <a:t>(value):</a:t>
            </a:r>
          </a:p>
          <a:p>
            <a:pPr algn="l"/>
            <a:endParaRPr lang="en-US" sz="1500" b="0" i="0" u="none" strike="noStrike" baseline="0" dirty="0">
              <a:latin typeface="Consolas" panose="020B0609020204030204" pitchFamily="49" charset="0"/>
            </a:endParaRPr>
          </a:p>
          <a:p>
            <a:pPr algn="l"/>
            <a:r>
              <a:rPr lang="en-US" sz="1500" b="0" i="0" u="none" strike="noStrike" baseline="0" dirty="0">
                <a:latin typeface="Consolas" panose="020B0609020204030204" pitchFamily="49" charset="0"/>
              </a:rPr>
              <a:t>    count = </a:t>
            </a:r>
            <a:r>
              <a:rPr lang="en-US" sz="1500" b="0" i="0" u="none" strike="noStrike" baseline="0" dirty="0" err="1">
                <a:latin typeface="Consolas" panose="020B0609020204030204" pitchFamily="49" charset="0"/>
              </a:rPr>
              <a:t>len</a:t>
            </a:r>
            <a:r>
              <a:rPr lang="en-US" sz="1500" b="0" i="0" u="none" strike="noStrike" baseline="0" dirty="0">
                <a:latin typeface="Consolas" panose="020B0609020204030204" pitchFamily="49" charset="0"/>
              </a:rPr>
              <a:t>(</a:t>
            </a:r>
            <a:r>
              <a:rPr lang="en-US" sz="1500" b="0" i="0" u="none" strike="noStrike" baseline="0" dirty="0" err="1">
                <a:latin typeface="Consolas" panose="020B0609020204030204" pitchFamily="49" charset="0"/>
              </a:rPr>
              <a:t>value.split</a:t>
            </a:r>
            <a:r>
              <a:rPr lang="en-US" sz="1500" b="0" i="0" u="none" strike="noStrike" baseline="0" dirty="0">
                <a:latin typeface="Consolas" panose="020B0609020204030204" pitchFamily="49" charset="0"/>
              </a:rPr>
              <a:t>())</a:t>
            </a:r>
          </a:p>
          <a:p>
            <a:pPr algn="l"/>
            <a:r>
              <a:rPr lang="en-US" sz="1500" b="0" i="0" u="none" strike="noStrike" baseline="0" dirty="0">
                <a:latin typeface="Consolas" panose="020B0609020204030204" pitchFamily="49" charset="0"/>
              </a:rPr>
              <a:t>    if count &lt; 30:</a:t>
            </a:r>
          </a:p>
          <a:p>
            <a:pPr algn="l"/>
            <a:r>
              <a:rPr lang="en-US" sz="1500" b="0" i="0" u="none" strike="noStrike" baseline="0" dirty="0">
                <a:latin typeface="Consolas" panose="020B0609020204030204" pitchFamily="49" charset="0"/>
              </a:rPr>
              <a:t>        raise </a:t>
            </a:r>
            <a:r>
              <a:rPr lang="en-US" sz="1500" b="0" i="0" u="none" strike="noStrike" baseline="0" dirty="0" err="1">
                <a:latin typeface="Consolas" panose="020B0609020204030204" pitchFamily="49" charset="0"/>
              </a:rPr>
              <a:t>forms.ValidationError</a:t>
            </a:r>
            <a:r>
              <a:rPr lang="en-US" sz="1500" b="0" i="0" u="none" strike="noStrike" baseline="0" dirty="0">
                <a:latin typeface="Consolas" panose="020B0609020204030204" pitchFamily="49" charset="0"/>
              </a:rPr>
              <a:t>(('Please provide at least a 30 word message,</a:t>
            </a:r>
          </a:p>
          <a:p>
            <a:pPr algn="l"/>
            <a:r>
              <a:rPr lang="en-US" sz="1500" b="0" i="0" u="none" strike="noStrike" baseline="0" dirty="0">
                <a:solidFill>
                  <a:schemeClr val="accent6"/>
                </a:solidFill>
                <a:latin typeface="Consolas" panose="020B0609020204030204" pitchFamily="49" charset="0"/>
              </a:rPr>
              <a:t>        %(count)s </a:t>
            </a:r>
            <a:r>
              <a:rPr lang="en-US" sz="1500" b="0" i="0" u="none" strike="noStrike" baseline="0" dirty="0">
                <a:latin typeface="Consolas" panose="020B0609020204030204" pitchFamily="49" charset="0"/>
              </a:rPr>
              <a:t>words is not descriptive enough'), </a:t>
            </a:r>
            <a:r>
              <a:rPr lang="en-US" sz="1500" b="0" i="0" u="none" strike="noStrike" baseline="0" dirty="0">
                <a:solidFill>
                  <a:schemeClr val="accent6"/>
                </a:solidFill>
                <a:latin typeface="Consolas" panose="020B0609020204030204" pitchFamily="49" charset="0"/>
              </a:rPr>
              <a:t>params={'count': count}</a:t>
            </a:r>
            <a:r>
              <a:rPr lang="en-US" sz="1500" b="0" i="0" u="none" strike="noStrike" baseline="0" dirty="0">
                <a:latin typeface="Consolas" panose="020B0609020204030204" pitchFamily="49" charset="0"/>
              </a:rPr>
              <a:t>)</a:t>
            </a:r>
          </a:p>
          <a:p>
            <a:pPr algn="l"/>
            <a:endParaRPr lang="en-US" sz="1500" b="0" i="0" u="none" strike="noStrike" baseline="0" dirty="0">
              <a:latin typeface="Consolas" panose="020B0609020204030204" pitchFamily="49" charset="0"/>
            </a:endParaRPr>
          </a:p>
          <a:p>
            <a:pPr algn="l"/>
            <a:r>
              <a:rPr lang="en-US" sz="1500" b="0" i="0" u="none" strike="noStrike" baseline="0" dirty="0">
                <a:latin typeface="Consolas" panose="020B0609020204030204" pitchFamily="49" charset="0"/>
              </a:rPr>
              <a:t>class </a:t>
            </a:r>
            <a:r>
              <a:rPr lang="en-US" sz="1500" b="0" i="0" u="none" strike="noStrike" baseline="0" dirty="0" err="1">
                <a:latin typeface="Consolas" panose="020B0609020204030204" pitchFamily="49" charset="0"/>
              </a:rPr>
              <a:t>ContactForm</a:t>
            </a:r>
            <a:r>
              <a:rPr lang="en-US" sz="1500" b="0" i="0" u="none" strike="noStrike" baseline="0" dirty="0">
                <a:latin typeface="Consolas" panose="020B0609020204030204" pitchFamily="49" charset="0"/>
              </a:rPr>
              <a:t>(</a:t>
            </a:r>
            <a:r>
              <a:rPr lang="en-US" sz="1500" b="0" i="0" u="none" strike="noStrike" baseline="0" dirty="0" err="1">
                <a:latin typeface="Consolas" panose="020B0609020204030204" pitchFamily="49" charset="0"/>
              </a:rPr>
              <a:t>forms.Form</a:t>
            </a:r>
            <a:r>
              <a:rPr lang="en-US" sz="1500" b="0" i="0" u="none" strike="noStrike" baseline="0" dirty="0">
                <a:latin typeface="Consolas" panose="020B0609020204030204" pitchFamily="49" charset="0"/>
              </a:rPr>
              <a:t>):</a:t>
            </a:r>
          </a:p>
          <a:p>
            <a:pPr algn="l"/>
            <a:endParaRPr lang="en-US" sz="1500" b="0" i="0" u="none" strike="noStrike" baseline="0" dirty="0">
              <a:latin typeface="Consolas" panose="020B0609020204030204" pitchFamily="49" charset="0"/>
            </a:endParaRPr>
          </a:p>
          <a:p>
            <a:pPr algn="l"/>
            <a:r>
              <a:rPr lang="en-US" sz="1500" b="0" i="0" u="none" strike="noStrike" baseline="0" dirty="0">
                <a:latin typeface="Consolas" panose="020B0609020204030204" pitchFamily="49" charset="0"/>
              </a:rPr>
              <a:t>   name = </a:t>
            </a:r>
            <a:r>
              <a:rPr lang="en-US" sz="1500" b="0" i="0" u="none" strike="noStrike" baseline="0" dirty="0" err="1">
                <a:latin typeface="Consolas" panose="020B0609020204030204" pitchFamily="49" charset="0"/>
              </a:rPr>
              <a:t>forms.CharField</a:t>
            </a:r>
            <a:r>
              <a:rPr lang="en-US" sz="1500" b="0" i="0" u="none" strike="noStrike" baseline="0" dirty="0">
                <a:latin typeface="Consolas" panose="020B0609020204030204" pitchFamily="49" charset="0"/>
              </a:rPr>
              <a:t>(required=False)</a:t>
            </a:r>
          </a:p>
          <a:p>
            <a:pPr algn="l"/>
            <a:r>
              <a:rPr lang="en-US" sz="1500" b="0" i="0" u="none" strike="noStrike" baseline="0" dirty="0">
                <a:latin typeface="Consolas" panose="020B0609020204030204" pitchFamily="49" charset="0"/>
              </a:rPr>
              <a:t>   email = </a:t>
            </a:r>
            <a:r>
              <a:rPr lang="en-US" sz="1500" b="0" i="0" u="none" strike="noStrike" baseline="0" dirty="0" err="1">
                <a:latin typeface="Consolas" panose="020B0609020204030204" pitchFamily="49" charset="0"/>
              </a:rPr>
              <a:t>forms.EmailField</a:t>
            </a:r>
            <a:r>
              <a:rPr lang="en-US" sz="1500" b="0" i="0" u="none" strike="noStrike" baseline="0" dirty="0">
                <a:latin typeface="Consolas" panose="020B0609020204030204" pitchFamily="49" charset="0"/>
              </a:rPr>
              <a:t>(label='Your email’)</a:t>
            </a:r>
          </a:p>
          <a:p>
            <a:pPr algn="l"/>
            <a:r>
              <a:rPr lang="en-US" sz="1500" b="0" i="0" u="none" strike="noStrike" baseline="0" dirty="0">
                <a:latin typeface="Consolas" panose="020B0609020204030204" pitchFamily="49" charset="0"/>
              </a:rPr>
              <a:t>   comment = </a:t>
            </a:r>
            <a:r>
              <a:rPr lang="en-US" sz="1500" b="0" i="0" u="none" strike="noStrike" baseline="0" dirty="0" err="1">
                <a:latin typeface="Consolas" panose="020B0609020204030204" pitchFamily="49" charset="0"/>
              </a:rPr>
              <a:t>forms.CharField</a:t>
            </a:r>
            <a:r>
              <a:rPr lang="en-US" sz="1500" b="0" i="0" u="none" strike="noStrike" baseline="0" dirty="0">
                <a:latin typeface="Consolas" panose="020B0609020204030204" pitchFamily="49" charset="0"/>
              </a:rPr>
              <a:t>(widget=</a:t>
            </a:r>
            <a:r>
              <a:rPr lang="en-US" sz="1500" b="0" i="0" u="none" strike="noStrike" baseline="0" dirty="0" err="1">
                <a:latin typeface="Consolas" panose="020B0609020204030204" pitchFamily="49" charset="0"/>
              </a:rPr>
              <a:t>forms.Textarea,</a:t>
            </a:r>
            <a:r>
              <a:rPr lang="en-US" sz="1500" b="0" i="0" u="none" strike="noStrike" baseline="0" dirty="0" err="1">
                <a:solidFill>
                  <a:srgbClr val="0070C0"/>
                </a:solidFill>
                <a:latin typeface="Consolas" panose="020B0609020204030204" pitchFamily="49" charset="0"/>
              </a:rPr>
              <a:t>validators</a:t>
            </a:r>
            <a:r>
              <a:rPr lang="en-US" sz="1500" b="0" i="0" u="none" strike="noStrike" baseline="0" dirty="0">
                <a:solidFill>
                  <a:srgbClr val="0070C0"/>
                </a:solidFill>
                <a:latin typeface="Consolas" panose="020B0609020204030204" pitchFamily="49" charset="0"/>
              </a:rPr>
              <a:t>=[</a:t>
            </a:r>
            <a:r>
              <a:rPr lang="en-US" sz="1500" b="0" i="0" u="none" strike="noStrike" baseline="0" dirty="0" err="1">
                <a:solidFill>
                  <a:srgbClr val="0070C0"/>
                </a:solidFill>
                <a:latin typeface="Consolas" panose="020B0609020204030204" pitchFamily="49" charset="0"/>
              </a:rPr>
              <a:t>validate_comment_word_count</a:t>
            </a:r>
            <a:r>
              <a:rPr lang="en-US" sz="1500" b="0" i="0" u="none" strike="noStrike" baseline="0" dirty="0">
                <a:solidFill>
                  <a:srgbClr val="0070C0"/>
                </a:solidFill>
                <a:latin typeface="Consolas" panose="020B0609020204030204" pitchFamily="49" charset="0"/>
              </a:rPr>
              <a:t>]</a:t>
            </a:r>
            <a:r>
              <a:rPr lang="en-US" sz="1500" b="0" i="0" u="none" strike="noStrike" baseline="0" dirty="0">
                <a:latin typeface="Consolas" panose="020B0609020204030204" pitchFamily="49" charset="0"/>
              </a:rPr>
              <a:t>)</a:t>
            </a:r>
          </a:p>
          <a:p>
            <a:pPr algn="l"/>
            <a:endParaRPr lang="en-US" sz="1500" b="0" i="0" u="none" strike="noStrike" baseline="0" dirty="0">
              <a:solidFill>
                <a:srgbClr val="000000"/>
              </a:solidFill>
              <a:latin typeface="Consolas" panose="020B0609020204030204" pitchFamily="49" charset="0"/>
            </a:endParaRPr>
          </a:p>
        </p:txBody>
      </p:sp>
      <p:grpSp>
        <p:nvGrpSpPr>
          <p:cNvPr id="4" name="Group 3">
            <a:extLst>
              <a:ext uri="{FF2B5EF4-FFF2-40B4-BE49-F238E27FC236}">
                <a16:creationId xmlns:a16="http://schemas.microsoft.com/office/drawing/2014/main" id="{9B24DE25-6318-7025-A482-A53D2FE6AC3F}"/>
              </a:ext>
            </a:extLst>
          </p:cNvPr>
          <p:cNvGrpSpPr/>
          <p:nvPr/>
        </p:nvGrpSpPr>
        <p:grpSpPr>
          <a:xfrm>
            <a:off x="673510" y="5139264"/>
            <a:ext cx="9430955" cy="1343099"/>
            <a:chOff x="807723" y="943441"/>
            <a:chExt cx="9430955" cy="1343099"/>
          </a:xfrm>
        </p:grpSpPr>
        <p:sp>
          <p:nvSpPr>
            <p:cNvPr id="5" name="Content Placeholder 2">
              <a:extLst>
                <a:ext uri="{FF2B5EF4-FFF2-40B4-BE49-F238E27FC236}">
                  <a16:creationId xmlns:a16="http://schemas.microsoft.com/office/drawing/2014/main" id="{BFA0E4CD-9C88-CC7E-1F33-20AA6E2AF72A}"/>
                </a:ext>
              </a:extLst>
            </p:cNvPr>
            <p:cNvSpPr txBox="1">
              <a:spLocks/>
            </p:cNvSpPr>
            <p:nvPr/>
          </p:nvSpPr>
          <p:spPr>
            <a:xfrm>
              <a:off x="807723" y="943441"/>
              <a:ext cx="9430955" cy="1343099"/>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6" name="TextBox 5">
              <a:extLst>
                <a:ext uri="{FF2B5EF4-FFF2-40B4-BE49-F238E27FC236}">
                  <a16:creationId xmlns:a16="http://schemas.microsoft.com/office/drawing/2014/main" id="{2D741182-0603-1BDD-D5C1-B9D0A073EF0A}"/>
                </a:ext>
              </a:extLst>
            </p:cNvPr>
            <p:cNvSpPr txBox="1"/>
            <p:nvPr/>
          </p:nvSpPr>
          <p:spPr>
            <a:xfrm>
              <a:off x="1020683" y="1107158"/>
              <a:ext cx="9005034" cy="1015663"/>
            </a:xfrm>
            <a:prstGeom prst="rect">
              <a:avLst/>
            </a:prstGeom>
            <a:noFill/>
          </p:spPr>
          <p:txBody>
            <a:bodyPr wrap="square">
              <a:spAutoFit/>
            </a:bodyPr>
            <a:lstStyle/>
            <a:p>
              <a:r>
                <a:rPr lang="en-US" sz="1500" dirty="0">
                  <a:solidFill>
                    <a:srgbClr val="0033B3"/>
                  </a:solidFill>
                  <a:effectLst/>
                  <a:latin typeface="Consolas" panose="020B0609020204030204" pitchFamily="49" charset="0"/>
                </a:rPr>
                <a:t>def </a:t>
              </a:r>
              <a:r>
                <a:rPr lang="en-US" sz="1500" dirty="0">
                  <a:solidFill>
                    <a:srgbClr val="00627A"/>
                  </a:solidFill>
                  <a:effectLst/>
                  <a:latin typeface="Consolas" panose="020B0609020204030204" pitchFamily="49" charset="0"/>
                </a:rPr>
                <a:t>contact</a:t>
              </a:r>
              <a:r>
                <a:rPr lang="en-US" sz="1500" dirty="0">
                  <a:solidFill>
                    <a:srgbClr val="080808"/>
                  </a:solidFill>
                  <a:effectLst/>
                  <a:latin typeface="Consolas" panose="020B0609020204030204" pitchFamily="49" charset="0"/>
                </a:rPr>
                <a:t>(request):</a:t>
              </a:r>
            </a:p>
            <a:p>
              <a:br>
                <a:rPr lang="en-US" sz="1500" dirty="0">
                  <a:solidFill>
                    <a:srgbClr val="080808"/>
                  </a:solidFill>
                  <a:effectLst/>
                  <a:latin typeface="Consolas" panose="020B0609020204030204" pitchFamily="49" charset="0"/>
                </a:rPr>
              </a:br>
              <a:r>
                <a:rPr lang="en-US" sz="1500" dirty="0">
                  <a:solidFill>
                    <a:srgbClr val="080808"/>
                  </a:solidFill>
                  <a:effectLst/>
                  <a:latin typeface="Consolas" panose="020B0609020204030204" pitchFamily="49" charset="0"/>
                </a:rPr>
                <a:t>    </a:t>
              </a:r>
              <a:r>
                <a:rPr lang="en-US" sz="1500" dirty="0" err="1">
                  <a:solidFill>
                    <a:srgbClr val="080808"/>
                  </a:solidFill>
                  <a:effectLst/>
                  <a:latin typeface="Consolas" panose="020B0609020204030204" pitchFamily="49" charset="0"/>
                </a:rPr>
                <a:t>c_form</a:t>
              </a:r>
              <a:r>
                <a:rPr lang="en-US" sz="1500" dirty="0">
                  <a:solidFill>
                    <a:srgbClr val="080808"/>
                  </a:solidFill>
                  <a:effectLst/>
                  <a:latin typeface="Consolas" panose="020B0609020204030204" pitchFamily="49" charset="0"/>
                </a:rPr>
                <a:t> = </a:t>
              </a:r>
              <a:r>
                <a:rPr lang="en-US" sz="1500" dirty="0" err="1">
                  <a:solidFill>
                    <a:srgbClr val="080808"/>
                  </a:solidFill>
                  <a:effectLst/>
                  <a:latin typeface="Consolas" panose="020B0609020204030204" pitchFamily="49" charset="0"/>
                </a:rPr>
                <a:t>ContactForm</a:t>
              </a:r>
              <a:r>
                <a:rPr lang="en-US" sz="1500" dirty="0">
                  <a:solidFill>
                    <a:srgbClr val="080808"/>
                  </a:solidFill>
                  <a:effectLst/>
                  <a:latin typeface="Consolas" panose="020B0609020204030204" pitchFamily="49" charset="0"/>
                </a:rPr>
                <a:t>(</a:t>
              </a:r>
              <a:r>
                <a:rPr lang="en-US" sz="1500" dirty="0" err="1">
                  <a:solidFill>
                    <a:srgbClr val="080808"/>
                  </a:solidFill>
                  <a:effectLst/>
                  <a:latin typeface="Consolas" panose="020B0609020204030204" pitchFamily="49" charset="0"/>
                </a:rPr>
                <a:t>request.POST</a:t>
              </a:r>
              <a:r>
                <a:rPr lang="en-US" sz="1500" dirty="0">
                  <a:solidFill>
                    <a:srgbClr val="080808"/>
                  </a:solidFill>
                  <a:effectLst/>
                  <a:latin typeface="Consolas" panose="020B0609020204030204" pitchFamily="49" charset="0"/>
                </a:rPr>
                <a:t>)</a:t>
              </a:r>
              <a:br>
                <a:rPr lang="en-US" sz="1500" dirty="0">
                  <a:solidFill>
                    <a:srgbClr val="080808"/>
                  </a:solidFill>
                  <a:effectLst/>
                  <a:latin typeface="Consolas" panose="020B0609020204030204" pitchFamily="49" charset="0"/>
                </a:rPr>
              </a:br>
              <a:r>
                <a:rPr lang="en-US" sz="1500" dirty="0">
                  <a:solidFill>
                    <a:srgbClr val="080808"/>
                  </a:solidFill>
                  <a:effectLst/>
                  <a:latin typeface="Consolas" panose="020B0609020204030204" pitchFamily="49" charset="0"/>
                </a:rPr>
                <a:t>    </a:t>
              </a:r>
              <a:r>
                <a:rPr lang="en-US" sz="1500" dirty="0">
                  <a:solidFill>
                    <a:srgbClr val="0033B3"/>
                  </a:solidFill>
                  <a:effectLst/>
                  <a:latin typeface="Consolas" panose="020B0609020204030204" pitchFamily="49" charset="0"/>
                </a:rPr>
                <a:t>return </a:t>
              </a:r>
              <a:r>
                <a:rPr lang="en-US" sz="1500" dirty="0">
                  <a:solidFill>
                    <a:srgbClr val="080808"/>
                  </a:solidFill>
                  <a:effectLst/>
                  <a:latin typeface="Consolas" panose="020B0609020204030204" pitchFamily="49" charset="0"/>
                </a:rPr>
                <a:t>render(request, </a:t>
              </a:r>
              <a:r>
                <a:rPr lang="en-US" sz="1500" dirty="0">
                  <a:solidFill>
                    <a:srgbClr val="067D17"/>
                  </a:solidFill>
                  <a:effectLst/>
                  <a:latin typeface="Consolas" panose="020B0609020204030204" pitchFamily="49" charset="0"/>
                </a:rPr>
                <a:t>"contact.html"</a:t>
              </a:r>
              <a:r>
                <a:rPr lang="en-US" sz="1500" dirty="0">
                  <a:solidFill>
                    <a:srgbClr val="080808"/>
                  </a:solidFill>
                  <a:effectLst/>
                  <a:latin typeface="Consolas" panose="020B0609020204030204" pitchFamily="49" charset="0"/>
                </a:rPr>
                <a:t>, {</a:t>
              </a:r>
              <a:r>
                <a:rPr lang="en-US" sz="1500" dirty="0">
                  <a:solidFill>
                    <a:srgbClr val="067D17"/>
                  </a:solidFill>
                  <a:effectLst/>
                  <a:latin typeface="Consolas" panose="020B0609020204030204" pitchFamily="49" charset="0"/>
                </a:rPr>
                <a:t>'form'</a:t>
              </a:r>
              <a:r>
                <a:rPr lang="en-US" sz="1500" dirty="0">
                  <a:solidFill>
                    <a:srgbClr val="080808"/>
                  </a:solidFill>
                  <a:effectLst/>
                  <a:latin typeface="Consolas" panose="020B0609020204030204" pitchFamily="49" charset="0"/>
                </a:rPr>
                <a:t>: </a:t>
              </a:r>
              <a:r>
                <a:rPr lang="en-US" sz="1500" dirty="0" err="1">
                  <a:solidFill>
                    <a:srgbClr val="080808"/>
                  </a:solidFill>
                  <a:effectLst/>
                  <a:latin typeface="Consolas" panose="020B0609020204030204" pitchFamily="49" charset="0"/>
                </a:rPr>
                <a:t>c_form</a:t>
              </a:r>
              <a:r>
                <a:rPr lang="en-US" sz="1500" dirty="0">
                  <a:solidFill>
                    <a:srgbClr val="080808"/>
                  </a:solidFill>
                  <a:effectLst/>
                  <a:latin typeface="Consolas" panose="020B0609020204030204" pitchFamily="49" charset="0"/>
                </a:rPr>
                <a:t>})</a:t>
              </a:r>
            </a:p>
          </p:txBody>
        </p:sp>
      </p:grpSp>
      <p:grpSp>
        <p:nvGrpSpPr>
          <p:cNvPr id="15" name="Group 14">
            <a:extLst>
              <a:ext uri="{FF2B5EF4-FFF2-40B4-BE49-F238E27FC236}">
                <a16:creationId xmlns:a16="http://schemas.microsoft.com/office/drawing/2014/main" id="{911CFF1E-3BDE-CAFD-AEB4-C0AD4707D3B4}"/>
              </a:ext>
            </a:extLst>
          </p:cNvPr>
          <p:cNvGrpSpPr/>
          <p:nvPr/>
        </p:nvGrpSpPr>
        <p:grpSpPr>
          <a:xfrm>
            <a:off x="9540240" y="1503680"/>
            <a:ext cx="1813559" cy="548640"/>
            <a:chOff x="9540240" y="1503680"/>
            <a:chExt cx="1813559" cy="548640"/>
          </a:xfrm>
        </p:grpSpPr>
        <p:sp>
          <p:nvSpPr>
            <p:cNvPr id="8" name="TextBox 7">
              <a:extLst>
                <a:ext uri="{FF2B5EF4-FFF2-40B4-BE49-F238E27FC236}">
                  <a16:creationId xmlns:a16="http://schemas.microsoft.com/office/drawing/2014/main" id="{6C3D6107-5CB0-6CDE-B574-EFBE98F454D0}"/>
                </a:ext>
              </a:extLst>
            </p:cNvPr>
            <p:cNvSpPr txBox="1"/>
            <p:nvPr/>
          </p:nvSpPr>
          <p:spPr>
            <a:xfrm>
              <a:off x="9723120" y="1503680"/>
              <a:ext cx="1513840" cy="461665"/>
            </a:xfrm>
            <a:prstGeom prst="rect">
              <a:avLst/>
            </a:prstGeom>
            <a:noFill/>
          </p:spPr>
          <p:txBody>
            <a:bodyPr wrap="square" rtlCol="0">
              <a:spAutoFit/>
            </a:bodyPr>
            <a:lstStyle/>
            <a:p>
              <a:pPr algn="ctr"/>
              <a:r>
                <a:rPr lang="en-US" sz="2400" dirty="0">
                  <a:solidFill>
                    <a:srgbClr val="FF0000"/>
                  </a:solidFill>
                </a:rPr>
                <a:t>forms.py</a:t>
              </a:r>
            </a:p>
          </p:txBody>
        </p:sp>
        <p:sp>
          <p:nvSpPr>
            <p:cNvPr id="12" name="Oval 11">
              <a:extLst>
                <a:ext uri="{FF2B5EF4-FFF2-40B4-BE49-F238E27FC236}">
                  <a16:creationId xmlns:a16="http://schemas.microsoft.com/office/drawing/2014/main" id="{2693D0EB-0CA1-4134-29B3-4B1B754D03C0}"/>
                </a:ext>
              </a:extLst>
            </p:cNvPr>
            <p:cNvSpPr/>
            <p:nvPr/>
          </p:nvSpPr>
          <p:spPr>
            <a:xfrm>
              <a:off x="9540240" y="1503680"/>
              <a:ext cx="1813559" cy="5486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2F89870-AA3B-7188-5D1D-DD2A3E15A0EF}"/>
              </a:ext>
            </a:extLst>
          </p:cNvPr>
          <p:cNvGrpSpPr/>
          <p:nvPr/>
        </p:nvGrpSpPr>
        <p:grpSpPr>
          <a:xfrm>
            <a:off x="8227804" y="5354320"/>
            <a:ext cx="1813559" cy="548640"/>
            <a:chOff x="8227804" y="5354320"/>
            <a:chExt cx="1813559" cy="548640"/>
          </a:xfrm>
        </p:grpSpPr>
        <p:sp>
          <p:nvSpPr>
            <p:cNvPr id="11" name="TextBox 10">
              <a:extLst>
                <a:ext uri="{FF2B5EF4-FFF2-40B4-BE49-F238E27FC236}">
                  <a16:creationId xmlns:a16="http://schemas.microsoft.com/office/drawing/2014/main" id="{63E267C6-08B8-628B-7A57-DFF32BA0886D}"/>
                </a:ext>
              </a:extLst>
            </p:cNvPr>
            <p:cNvSpPr txBox="1"/>
            <p:nvPr/>
          </p:nvSpPr>
          <p:spPr>
            <a:xfrm>
              <a:off x="8377664" y="5354320"/>
              <a:ext cx="1513840" cy="461665"/>
            </a:xfrm>
            <a:prstGeom prst="rect">
              <a:avLst/>
            </a:prstGeom>
            <a:noFill/>
          </p:spPr>
          <p:txBody>
            <a:bodyPr wrap="square" rtlCol="0">
              <a:spAutoFit/>
            </a:bodyPr>
            <a:lstStyle/>
            <a:p>
              <a:pPr algn="ctr"/>
              <a:r>
                <a:rPr lang="en-US" sz="2400" dirty="0">
                  <a:solidFill>
                    <a:srgbClr val="FF0000"/>
                  </a:solidFill>
                </a:rPr>
                <a:t>views.py</a:t>
              </a:r>
            </a:p>
          </p:txBody>
        </p:sp>
        <p:sp>
          <p:nvSpPr>
            <p:cNvPr id="13" name="Oval 12">
              <a:extLst>
                <a:ext uri="{FF2B5EF4-FFF2-40B4-BE49-F238E27FC236}">
                  <a16:creationId xmlns:a16="http://schemas.microsoft.com/office/drawing/2014/main" id="{10203E1B-281F-ECAE-6ADB-BCA4B4425709}"/>
                </a:ext>
              </a:extLst>
            </p:cNvPr>
            <p:cNvSpPr/>
            <p:nvPr/>
          </p:nvSpPr>
          <p:spPr>
            <a:xfrm>
              <a:off x="8227804" y="5354320"/>
              <a:ext cx="1813559" cy="54864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D3B15D16-842B-7CBF-DA4C-60606D83F48D}"/>
              </a:ext>
            </a:extLst>
          </p:cNvPr>
          <p:cNvSpPr>
            <a:spLocks noGrp="1"/>
          </p:cNvSpPr>
          <p:nvPr>
            <p:ph type="sldNum" sz="quarter" idx="12"/>
          </p:nvPr>
        </p:nvSpPr>
        <p:spPr/>
        <p:txBody>
          <a:bodyPr/>
          <a:lstStyle/>
          <a:p>
            <a:fld id="{EC47AAD7-037B-4BD0-8FE6-944FB61E3E6F}" type="slidenum">
              <a:rPr lang="en-US" smtClean="0"/>
              <a:t>17</a:t>
            </a:fld>
            <a:endParaRPr lang="en-US"/>
          </a:p>
        </p:txBody>
      </p:sp>
    </p:spTree>
    <p:extLst>
      <p:ext uri="{BB962C8B-B14F-4D97-AF65-F5344CB8AC3E}">
        <p14:creationId xmlns:p14="http://schemas.microsoft.com/office/powerpoint/2010/main" val="433568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E3278A-F6B3-D0D9-69A3-116B4883D415}"/>
              </a:ext>
            </a:extLst>
          </p:cNvPr>
          <p:cNvPicPr>
            <a:picLocks noChangeAspect="1"/>
          </p:cNvPicPr>
          <p:nvPr/>
        </p:nvPicPr>
        <p:blipFill rotWithShape="1">
          <a:blip r:embed="rId3"/>
          <a:srcRect l="38064" t="29392" r="17258" b="15080"/>
          <a:stretch/>
        </p:blipFill>
        <p:spPr>
          <a:xfrm>
            <a:off x="1188279" y="314960"/>
            <a:ext cx="4246880" cy="2969014"/>
          </a:xfrm>
          <a:prstGeom prst="rect">
            <a:avLst/>
          </a:prstGeom>
          <a:ln>
            <a:solidFill>
              <a:schemeClr val="accent1"/>
            </a:solidFill>
          </a:ln>
        </p:spPr>
      </p:pic>
      <p:pic>
        <p:nvPicPr>
          <p:cNvPr id="6" name="Picture 5">
            <a:extLst>
              <a:ext uri="{FF2B5EF4-FFF2-40B4-BE49-F238E27FC236}">
                <a16:creationId xmlns:a16="http://schemas.microsoft.com/office/drawing/2014/main" id="{E516B701-D314-D54F-7D29-F7E0D7D37A88}"/>
              </a:ext>
            </a:extLst>
          </p:cNvPr>
          <p:cNvPicPr>
            <a:picLocks noChangeAspect="1"/>
          </p:cNvPicPr>
          <p:nvPr/>
        </p:nvPicPr>
        <p:blipFill rotWithShape="1">
          <a:blip r:embed="rId4"/>
          <a:srcRect l="38250" t="29185" r="17500" b="15819"/>
          <a:stretch/>
        </p:blipFill>
        <p:spPr>
          <a:xfrm>
            <a:off x="6592972" y="314960"/>
            <a:ext cx="4246881" cy="2969014"/>
          </a:xfrm>
          <a:prstGeom prst="rect">
            <a:avLst/>
          </a:prstGeom>
          <a:ln>
            <a:solidFill>
              <a:schemeClr val="accent1"/>
            </a:solidFill>
          </a:ln>
        </p:spPr>
      </p:pic>
      <p:pic>
        <p:nvPicPr>
          <p:cNvPr id="7" name="Picture 6">
            <a:extLst>
              <a:ext uri="{FF2B5EF4-FFF2-40B4-BE49-F238E27FC236}">
                <a16:creationId xmlns:a16="http://schemas.microsoft.com/office/drawing/2014/main" id="{8EDC2EEA-9421-B5C1-8E74-580D82BE896A}"/>
              </a:ext>
            </a:extLst>
          </p:cNvPr>
          <p:cNvPicPr>
            <a:picLocks noChangeAspect="1"/>
          </p:cNvPicPr>
          <p:nvPr/>
        </p:nvPicPr>
        <p:blipFill rotWithShape="1">
          <a:blip r:embed="rId5"/>
          <a:srcRect l="39500" t="22370" r="15667" b="26912"/>
          <a:stretch/>
        </p:blipFill>
        <p:spPr>
          <a:xfrm>
            <a:off x="3836842" y="3667948"/>
            <a:ext cx="4518316" cy="2875092"/>
          </a:xfrm>
          <a:prstGeom prst="rect">
            <a:avLst/>
          </a:prstGeom>
          <a:ln>
            <a:solidFill>
              <a:schemeClr val="accent1"/>
            </a:solidFill>
          </a:ln>
        </p:spPr>
      </p:pic>
      <p:sp>
        <p:nvSpPr>
          <p:cNvPr id="2" name="Slide Number Placeholder 1">
            <a:extLst>
              <a:ext uri="{FF2B5EF4-FFF2-40B4-BE49-F238E27FC236}">
                <a16:creationId xmlns:a16="http://schemas.microsoft.com/office/drawing/2014/main" id="{166E1FEC-B05D-1D7F-3C11-F8A7035074CA}"/>
              </a:ext>
            </a:extLst>
          </p:cNvPr>
          <p:cNvSpPr>
            <a:spLocks noGrp="1"/>
          </p:cNvSpPr>
          <p:nvPr>
            <p:ph type="sldNum" sz="quarter" idx="12"/>
          </p:nvPr>
        </p:nvSpPr>
        <p:spPr/>
        <p:txBody>
          <a:bodyPr/>
          <a:lstStyle/>
          <a:p>
            <a:fld id="{EC47AAD7-037B-4BD0-8FE6-944FB61E3E6F}" type="slidenum">
              <a:rPr lang="en-US" smtClean="0"/>
              <a:t>18</a:t>
            </a:fld>
            <a:endParaRPr lang="en-US"/>
          </a:p>
        </p:txBody>
      </p:sp>
    </p:spTree>
    <p:extLst>
      <p:ext uri="{BB962C8B-B14F-4D97-AF65-F5344CB8AC3E}">
        <p14:creationId xmlns:p14="http://schemas.microsoft.com/office/powerpoint/2010/main" val="4205105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296325"/>
            <a:ext cx="10515600" cy="9523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dirty="0"/>
              <a:t>Example : Validation with clean_&lt;field&gt;() methods</a:t>
            </a:r>
            <a:endParaRPr lang="en-US" sz="3800" dirty="0">
              <a:latin typeface="Consolas" panose="020B0609020204030204" pitchFamily="49" charset="0"/>
            </a:endParaRPr>
          </a:p>
        </p:txBody>
      </p:sp>
      <p:sp>
        <p:nvSpPr>
          <p:cNvPr id="9" name="Content Placeholder 2">
            <a:extLst>
              <a:ext uri="{FF2B5EF4-FFF2-40B4-BE49-F238E27FC236}">
                <a16:creationId xmlns:a16="http://schemas.microsoft.com/office/drawing/2014/main" id="{D51090E8-327C-7DA1-3F29-0375FA2DF512}"/>
              </a:ext>
            </a:extLst>
          </p:cNvPr>
          <p:cNvSpPr txBox="1">
            <a:spLocks/>
          </p:cNvSpPr>
          <p:nvPr/>
        </p:nvSpPr>
        <p:spPr>
          <a:xfrm>
            <a:off x="324463" y="1376517"/>
            <a:ext cx="11523406" cy="5185158"/>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3DCAF2D9-9CF7-BF3E-E4B5-4A7AF2F63079}"/>
              </a:ext>
            </a:extLst>
          </p:cNvPr>
          <p:cNvSpPr txBox="1"/>
          <p:nvPr/>
        </p:nvSpPr>
        <p:spPr>
          <a:xfrm>
            <a:off x="462114" y="1551848"/>
            <a:ext cx="11336593" cy="4524315"/>
          </a:xfrm>
          <a:prstGeom prst="rect">
            <a:avLst/>
          </a:prstGeom>
          <a:noFill/>
        </p:spPr>
        <p:txBody>
          <a:bodyPr wrap="square">
            <a:spAutoFit/>
          </a:bodyPr>
          <a:lstStyle/>
          <a:p>
            <a:pPr algn="l"/>
            <a:r>
              <a:rPr lang="en-US" sz="1600" b="0" i="0" u="none" strike="noStrike" baseline="0" dirty="0">
                <a:latin typeface="Consolas" panose="020B0609020204030204" pitchFamily="49" charset="0"/>
              </a:rPr>
              <a:t>from </a:t>
            </a:r>
            <a:r>
              <a:rPr lang="en-US" sz="1600" b="0" i="0" u="none" strike="noStrike" baseline="0" dirty="0" err="1">
                <a:latin typeface="Consolas" panose="020B0609020204030204" pitchFamily="49" charset="0"/>
              </a:rPr>
              <a:t>django</a:t>
            </a:r>
            <a:r>
              <a:rPr lang="en-US" sz="1600" b="0" i="0" u="none" strike="noStrike" baseline="0" dirty="0">
                <a:latin typeface="Consolas" panose="020B0609020204030204" pitchFamily="49" charset="0"/>
              </a:rPr>
              <a:t> import forms</a:t>
            </a:r>
          </a:p>
          <a:p>
            <a:pPr algn="l"/>
            <a:endParaRPr lang="en-US" sz="1600" b="0" i="0" u="none" strike="noStrike" baseline="0" dirty="0">
              <a:latin typeface="Consolas" panose="020B0609020204030204" pitchFamily="49" charset="0"/>
            </a:endParaRPr>
          </a:p>
          <a:p>
            <a:pPr algn="l"/>
            <a:r>
              <a:rPr lang="en-US" sz="1600" b="0" i="0" u="none" strike="noStrike" baseline="0" dirty="0">
                <a:latin typeface="Consolas" panose="020B0609020204030204" pitchFamily="49" charset="0"/>
              </a:rPr>
              <a:t>class </a:t>
            </a:r>
            <a:r>
              <a:rPr lang="en-US" sz="1600" b="0" i="0" u="none" strike="noStrike" baseline="0" dirty="0" err="1">
                <a:latin typeface="Consolas" panose="020B0609020204030204" pitchFamily="49" charset="0"/>
              </a:rPr>
              <a:t>ContactForm</a:t>
            </a:r>
            <a:r>
              <a:rPr lang="en-US" sz="1600" b="0" i="0" u="none" strike="noStrike" baseline="0" dirty="0">
                <a:latin typeface="Consolas" panose="020B0609020204030204" pitchFamily="49" charset="0"/>
              </a:rPr>
              <a:t>(</a:t>
            </a:r>
            <a:r>
              <a:rPr lang="en-US" sz="1600" b="0" i="0" u="none" strike="noStrike" baseline="0" dirty="0" err="1">
                <a:latin typeface="Consolas" panose="020B0609020204030204" pitchFamily="49" charset="0"/>
              </a:rPr>
              <a:t>forms.Form</a:t>
            </a:r>
            <a:r>
              <a:rPr lang="en-US" sz="1600" b="0" i="0" u="none" strike="noStrike" baseline="0" dirty="0">
                <a:latin typeface="Consolas" panose="020B0609020204030204" pitchFamily="49" charset="0"/>
              </a:rPr>
              <a:t>):</a:t>
            </a:r>
          </a:p>
          <a:p>
            <a:pPr algn="l"/>
            <a:r>
              <a:rPr lang="en-US" sz="1600" b="0" i="0" u="none" strike="noStrike" baseline="0" dirty="0">
                <a:latin typeface="Consolas" panose="020B0609020204030204" pitchFamily="49" charset="0"/>
              </a:rPr>
              <a:t>     name = </a:t>
            </a:r>
            <a:r>
              <a:rPr lang="en-US" sz="1600" b="0" i="0" u="none" strike="noStrike" baseline="0" dirty="0" err="1">
                <a:latin typeface="Consolas" panose="020B0609020204030204" pitchFamily="49" charset="0"/>
              </a:rPr>
              <a:t>forms.CharField</a:t>
            </a:r>
            <a:r>
              <a:rPr lang="en-US" sz="1600" b="0" i="0" u="none" strike="noStrike" baseline="0" dirty="0">
                <a:latin typeface="Consolas" panose="020B0609020204030204" pitchFamily="49" charset="0"/>
              </a:rPr>
              <a:t>(required=False)</a:t>
            </a:r>
          </a:p>
          <a:p>
            <a:pPr algn="l"/>
            <a:r>
              <a:rPr lang="en-US" sz="1600" b="0" i="0" u="none" strike="noStrike" baseline="0" dirty="0">
                <a:latin typeface="Consolas" panose="020B0609020204030204" pitchFamily="49" charset="0"/>
              </a:rPr>
              <a:t>     email = </a:t>
            </a:r>
            <a:r>
              <a:rPr lang="en-US" sz="1600" b="0" i="0" u="none" strike="noStrike" baseline="0" dirty="0" err="1">
                <a:latin typeface="Consolas" panose="020B0609020204030204" pitchFamily="49" charset="0"/>
              </a:rPr>
              <a:t>forms.EmailField</a:t>
            </a:r>
            <a:r>
              <a:rPr lang="en-US" sz="1600" b="0" i="0" u="none" strike="noStrike" baseline="0" dirty="0">
                <a:latin typeface="Consolas" panose="020B0609020204030204" pitchFamily="49" charset="0"/>
              </a:rPr>
              <a:t>(label='Your email')</a:t>
            </a:r>
          </a:p>
          <a:p>
            <a:pPr algn="l"/>
            <a:r>
              <a:rPr lang="en-US" sz="1600" b="0" i="0" u="none" strike="noStrike" baseline="0" dirty="0">
                <a:latin typeface="Consolas" panose="020B0609020204030204" pitchFamily="49" charset="0"/>
              </a:rPr>
              <a:t>     comment = </a:t>
            </a:r>
            <a:r>
              <a:rPr lang="en-US" sz="1600" b="0" i="0" u="none" strike="noStrike" baseline="0" dirty="0" err="1">
                <a:latin typeface="Consolas" panose="020B0609020204030204" pitchFamily="49" charset="0"/>
              </a:rPr>
              <a:t>forms.CharField</a:t>
            </a:r>
            <a:r>
              <a:rPr lang="en-US" sz="1600" b="0" i="0" u="none" strike="noStrike" baseline="0" dirty="0">
                <a:latin typeface="Consolas" panose="020B0609020204030204" pitchFamily="49" charset="0"/>
              </a:rPr>
              <a:t>(widget=</a:t>
            </a:r>
            <a:r>
              <a:rPr lang="en-US" sz="1600" b="0" i="0" u="none" strike="noStrike" baseline="0" dirty="0" err="1">
                <a:latin typeface="Consolas" panose="020B0609020204030204" pitchFamily="49" charset="0"/>
              </a:rPr>
              <a:t>forms.Textarea</a:t>
            </a:r>
            <a:r>
              <a:rPr lang="en-US" sz="1600" b="0" i="0" u="none" strike="noStrike" baseline="0" dirty="0">
                <a:latin typeface="Consolas" panose="020B0609020204030204" pitchFamily="49" charset="0"/>
              </a:rPr>
              <a:t>)</a:t>
            </a:r>
          </a:p>
          <a:p>
            <a:pPr algn="l"/>
            <a:endParaRPr lang="en-US" sz="1600" b="0" i="0" u="none" strike="noStrike" baseline="0" dirty="0">
              <a:latin typeface="Consolas" panose="020B0609020204030204" pitchFamily="49" charset="0"/>
            </a:endParaRPr>
          </a:p>
          <a:p>
            <a:pPr algn="l"/>
            <a:r>
              <a:rPr lang="en-US" sz="1600" b="0" i="0" u="none" strike="noStrike" baseline="0" dirty="0">
                <a:latin typeface="Consolas" panose="020B0609020204030204" pitchFamily="49" charset="0"/>
              </a:rPr>
              <a:t>def </a:t>
            </a:r>
            <a:r>
              <a:rPr lang="en-US" sz="1600" b="0" i="0" u="none" strike="noStrike" baseline="0" dirty="0" err="1">
                <a:solidFill>
                  <a:srgbClr val="0D0DB3"/>
                </a:solidFill>
                <a:latin typeface="Consolas" panose="020B0609020204030204" pitchFamily="49" charset="0"/>
              </a:rPr>
              <a:t>clean_name</a:t>
            </a:r>
            <a:r>
              <a:rPr lang="en-US" sz="1600" b="0" i="0" u="none" strike="noStrike" baseline="0" dirty="0">
                <a:solidFill>
                  <a:srgbClr val="0D0DB3"/>
                </a:solidFill>
                <a:latin typeface="Consolas" panose="020B0609020204030204" pitchFamily="49" charset="0"/>
              </a:rPr>
              <a:t>(self)</a:t>
            </a:r>
            <a:r>
              <a:rPr lang="en-US" sz="1600" b="0" i="0" u="none" strike="noStrike" baseline="0" dirty="0">
                <a:latin typeface="Consolas" panose="020B0609020204030204" pitchFamily="49" charset="0"/>
              </a:rPr>
              <a:t>:</a:t>
            </a:r>
          </a:p>
          <a:p>
            <a:pPr algn="l"/>
            <a:r>
              <a:rPr lang="en-US" sz="1600" b="0" i="0" u="none" strike="noStrike" baseline="0" dirty="0">
                <a:latin typeface="Consolas" panose="020B0609020204030204" pitchFamily="49" charset="0"/>
              </a:rPr>
              <a:t>    value = </a:t>
            </a:r>
            <a:r>
              <a:rPr lang="en-US" sz="1600" b="0" i="0" u="none" strike="noStrike" baseline="0" dirty="0" err="1">
                <a:latin typeface="Consolas" panose="020B0609020204030204" pitchFamily="49" charset="0"/>
              </a:rPr>
              <a:t>self.cleaned_data</a:t>
            </a:r>
            <a:r>
              <a:rPr lang="en-US" sz="1600" b="0" i="0" u="none" strike="noStrike" baseline="0" dirty="0">
                <a:latin typeface="Consolas" panose="020B0609020204030204" pitchFamily="49" charset="0"/>
              </a:rPr>
              <a:t>['name']</a:t>
            </a:r>
          </a:p>
          <a:p>
            <a:pPr algn="l"/>
            <a:r>
              <a:rPr lang="en-US" sz="1600" b="0" i="0" u="none" strike="noStrike" baseline="0" dirty="0">
                <a:latin typeface="Consolas" panose="020B0609020204030204" pitchFamily="49" charset="0"/>
              </a:rPr>
              <a:t>    if </a:t>
            </a:r>
            <a:r>
              <a:rPr lang="en-US" sz="1600" b="0" i="0" u="none" strike="noStrike" baseline="0" dirty="0" err="1">
                <a:latin typeface="Consolas" panose="020B0609020204030204" pitchFamily="49" charset="0"/>
              </a:rPr>
              <a:t>value.isupper</a:t>
            </a:r>
            <a:r>
              <a:rPr lang="en-US" sz="1600" b="0" i="0" u="none" strike="noStrike" baseline="0" dirty="0">
                <a:latin typeface="Consolas" panose="020B0609020204030204" pitchFamily="49" charset="0"/>
              </a:rPr>
              <a:t>():</a:t>
            </a:r>
          </a:p>
          <a:p>
            <a:pPr algn="l"/>
            <a:r>
              <a:rPr lang="en-US" sz="1600" b="0" i="0" u="none" strike="noStrike" baseline="0" dirty="0">
                <a:latin typeface="Consolas" panose="020B0609020204030204" pitchFamily="49" charset="0"/>
              </a:rPr>
              <a:t>       raise </a:t>
            </a:r>
            <a:r>
              <a:rPr lang="en-US" sz="1600" i="0" u="none" strike="noStrike" baseline="0" dirty="0" err="1">
                <a:solidFill>
                  <a:srgbClr val="FF0000"/>
                </a:solidFill>
                <a:latin typeface="Consolas" panose="020B0609020204030204" pitchFamily="49" charset="0"/>
              </a:rPr>
              <a:t>forms.ValidationError</a:t>
            </a:r>
            <a:r>
              <a:rPr lang="en-US" sz="1600" b="0" i="0" u="none" strike="noStrike" baseline="0" dirty="0">
                <a:latin typeface="Consolas" panose="020B0609020204030204" pitchFamily="49" charset="0"/>
              </a:rPr>
              <a:t>("Please don't use all uppercase for name”, code='uppercase’)</a:t>
            </a:r>
          </a:p>
          <a:p>
            <a:pPr algn="l"/>
            <a:r>
              <a:rPr lang="en-US" sz="1600" dirty="0">
                <a:latin typeface="Consolas" panose="020B0609020204030204" pitchFamily="49" charset="0"/>
              </a:rPr>
              <a:t>    </a:t>
            </a:r>
            <a:r>
              <a:rPr lang="en-US" sz="1600" b="0" i="0" u="none" strike="noStrike" baseline="0" dirty="0">
                <a:latin typeface="Consolas" panose="020B0609020204030204" pitchFamily="49" charset="0"/>
              </a:rPr>
              <a:t>return value</a:t>
            </a:r>
          </a:p>
          <a:p>
            <a:pPr algn="l"/>
            <a:endParaRPr lang="en-US" sz="1600" b="0" i="0" u="none" strike="noStrike" baseline="0" dirty="0">
              <a:latin typeface="Consolas" panose="020B0609020204030204" pitchFamily="49" charset="0"/>
            </a:endParaRPr>
          </a:p>
          <a:p>
            <a:pPr algn="l"/>
            <a:r>
              <a:rPr lang="en-US" sz="1600" b="0" i="0" u="none" strike="noStrike" baseline="0" dirty="0">
                <a:latin typeface="Consolas" panose="020B0609020204030204" pitchFamily="49" charset="0"/>
              </a:rPr>
              <a:t>def </a:t>
            </a:r>
            <a:r>
              <a:rPr lang="en-US" sz="1600" b="0" i="0" u="none" strike="noStrike" baseline="0" dirty="0" err="1">
                <a:solidFill>
                  <a:srgbClr val="0D0DB3"/>
                </a:solidFill>
                <a:latin typeface="Consolas" panose="020B0609020204030204" pitchFamily="49" charset="0"/>
              </a:rPr>
              <a:t>clean_email</a:t>
            </a:r>
            <a:r>
              <a:rPr lang="en-US" sz="1600" b="0" i="0" u="none" strike="noStrike" baseline="0" dirty="0">
                <a:solidFill>
                  <a:srgbClr val="0D0DB3"/>
                </a:solidFill>
                <a:latin typeface="Consolas" panose="020B0609020204030204" pitchFamily="49" charset="0"/>
              </a:rPr>
              <a:t>(self)</a:t>
            </a:r>
            <a:r>
              <a:rPr lang="en-US" sz="1600" b="0" i="0" u="none" strike="noStrike" baseline="0" dirty="0">
                <a:latin typeface="Consolas" panose="020B0609020204030204" pitchFamily="49" charset="0"/>
              </a:rPr>
              <a:t>:</a:t>
            </a:r>
          </a:p>
          <a:p>
            <a:pPr algn="l"/>
            <a:r>
              <a:rPr lang="en-US" sz="1600" b="0" i="0" u="none" strike="noStrike" baseline="0" dirty="0">
                <a:latin typeface="Consolas" panose="020B0609020204030204" pitchFamily="49" charset="0"/>
              </a:rPr>
              <a:t>    value = </a:t>
            </a:r>
            <a:r>
              <a:rPr lang="en-US" sz="1600" b="0" i="0" u="none" strike="noStrike" baseline="0" dirty="0" err="1">
                <a:latin typeface="Consolas" panose="020B0609020204030204" pitchFamily="49" charset="0"/>
              </a:rPr>
              <a:t>self.cleaned_data</a:t>
            </a:r>
            <a:r>
              <a:rPr lang="en-US" sz="1600" b="0" i="0" u="none" strike="noStrike" baseline="0" dirty="0">
                <a:latin typeface="Consolas" panose="020B0609020204030204" pitchFamily="49" charset="0"/>
              </a:rPr>
              <a:t>['email']</a:t>
            </a:r>
          </a:p>
          <a:p>
            <a:pPr algn="l"/>
            <a:r>
              <a:rPr lang="en-US" sz="1600" b="0" i="0" u="none" strike="noStrike" baseline="0" dirty="0">
                <a:latin typeface="Consolas" panose="020B0609020204030204" pitchFamily="49" charset="0"/>
              </a:rPr>
              <a:t>    if </a:t>
            </a:r>
            <a:r>
              <a:rPr lang="en-US" sz="1600" b="0" i="0" u="none" strike="noStrike" baseline="0" dirty="0" err="1">
                <a:latin typeface="Consolas" panose="020B0609020204030204" pitchFamily="49" charset="0"/>
              </a:rPr>
              <a:t>value.endswith</a:t>
            </a:r>
            <a:r>
              <a:rPr lang="en-US" sz="1600" b="0" i="0" u="none" strike="noStrike" baseline="0" dirty="0">
                <a:latin typeface="Consolas" panose="020B0609020204030204" pitchFamily="49" charset="0"/>
              </a:rPr>
              <a:t>('@hotmail.com'):</a:t>
            </a:r>
          </a:p>
          <a:p>
            <a:pPr algn="l"/>
            <a:r>
              <a:rPr lang="en-US" sz="1600" b="0" i="0" u="none" strike="noStrike" baseline="0" dirty="0">
                <a:latin typeface="Consolas" panose="020B0609020204030204" pitchFamily="49" charset="0"/>
              </a:rPr>
              <a:t>       raise </a:t>
            </a:r>
            <a:r>
              <a:rPr lang="en-US" sz="1600" dirty="0" err="1">
                <a:solidFill>
                  <a:srgbClr val="FF0000"/>
                </a:solidFill>
                <a:latin typeface="Consolas" panose="020B0609020204030204" pitchFamily="49" charset="0"/>
              </a:rPr>
              <a:t>forms.ValidationError</a:t>
            </a:r>
            <a:r>
              <a:rPr lang="en-US" sz="1600" b="0" i="0" u="none" strike="noStrike" baseline="0" dirty="0">
                <a:latin typeface="Consolas" panose="020B0609020204030204" pitchFamily="49" charset="0"/>
              </a:rPr>
              <a:t>("Please don't use a </a:t>
            </a:r>
            <a:r>
              <a:rPr lang="en-US" sz="1600" b="0" i="0" u="none" strike="noStrike" baseline="0" dirty="0" err="1">
                <a:latin typeface="Consolas" panose="020B0609020204030204" pitchFamily="49" charset="0"/>
              </a:rPr>
              <a:t>hotmail</a:t>
            </a:r>
            <a:r>
              <a:rPr lang="en-US" sz="1600" b="0" i="0" u="none" strike="noStrike" baseline="0" dirty="0">
                <a:latin typeface="Consolas" panose="020B0609020204030204" pitchFamily="49" charset="0"/>
              </a:rPr>
              <a:t> email”, code='</a:t>
            </a:r>
            <a:r>
              <a:rPr lang="en-US" sz="1600" b="0" i="0" u="none" strike="noStrike" baseline="0" dirty="0" err="1">
                <a:latin typeface="Consolas" panose="020B0609020204030204" pitchFamily="49" charset="0"/>
              </a:rPr>
              <a:t>hotmail</a:t>
            </a:r>
            <a:r>
              <a:rPr lang="en-US" sz="1600" b="0" i="0" u="none" strike="noStrike" baseline="0" dirty="0">
                <a:latin typeface="Consolas" panose="020B0609020204030204" pitchFamily="49" charset="0"/>
              </a:rPr>
              <a:t>’)</a:t>
            </a:r>
          </a:p>
          <a:p>
            <a:pPr algn="l"/>
            <a:r>
              <a:rPr lang="en-US" sz="1600" b="0" i="0" u="none" strike="noStrike" baseline="0" dirty="0">
                <a:latin typeface="Consolas" panose="020B0609020204030204" pitchFamily="49" charset="0"/>
              </a:rPr>
              <a:t>    return value</a:t>
            </a:r>
            <a:endParaRPr lang="en-US" sz="1600" b="0" i="0" u="none" strike="noStrike" baseline="0" dirty="0">
              <a:solidFill>
                <a:srgbClr val="000000"/>
              </a:solidFill>
              <a:latin typeface="Consolas" panose="020B0609020204030204" pitchFamily="49" charset="0"/>
            </a:endParaRPr>
          </a:p>
        </p:txBody>
      </p:sp>
      <p:sp>
        <p:nvSpPr>
          <p:cNvPr id="3" name="Slide Number Placeholder 2">
            <a:extLst>
              <a:ext uri="{FF2B5EF4-FFF2-40B4-BE49-F238E27FC236}">
                <a16:creationId xmlns:a16="http://schemas.microsoft.com/office/drawing/2014/main" id="{ED5AA0E5-22D8-E0C2-6216-1C7C40A03C56}"/>
              </a:ext>
            </a:extLst>
          </p:cNvPr>
          <p:cNvSpPr>
            <a:spLocks noGrp="1"/>
          </p:cNvSpPr>
          <p:nvPr>
            <p:ph type="sldNum" sz="quarter" idx="12"/>
          </p:nvPr>
        </p:nvSpPr>
        <p:spPr/>
        <p:txBody>
          <a:bodyPr/>
          <a:lstStyle/>
          <a:p>
            <a:fld id="{EC47AAD7-037B-4BD0-8FE6-944FB61E3E6F}" type="slidenum">
              <a:rPr lang="en-US" smtClean="0"/>
              <a:t>19</a:t>
            </a:fld>
            <a:endParaRPr lang="en-US"/>
          </a:p>
        </p:txBody>
      </p:sp>
    </p:spTree>
    <p:extLst>
      <p:ext uri="{BB962C8B-B14F-4D97-AF65-F5344CB8AC3E}">
        <p14:creationId xmlns:p14="http://schemas.microsoft.com/office/powerpoint/2010/main" val="3525467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936522" y="207835"/>
            <a:ext cx="10515600" cy="9130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Django Form Field Widget</a:t>
            </a:r>
          </a:p>
        </p:txBody>
      </p:sp>
      <p:graphicFrame>
        <p:nvGraphicFramePr>
          <p:cNvPr id="6" name="Table 6">
            <a:extLst>
              <a:ext uri="{FF2B5EF4-FFF2-40B4-BE49-F238E27FC236}">
                <a16:creationId xmlns:a16="http://schemas.microsoft.com/office/drawing/2014/main" id="{B2807716-3C8F-3D33-2B30-B17FB4634CB3}"/>
              </a:ext>
            </a:extLst>
          </p:cNvPr>
          <p:cNvGraphicFramePr>
            <a:graphicFrameLocks noGrp="1"/>
          </p:cNvGraphicFramePr>
          <p:nvPr>
            <p:extLst>
              <p:ext uri="{D42A27DB-BD31-4B8C-83A1-F6EECF244321}">
                <p14:modId xmlns:p14="http://schemas.microsoft.com/office/powerpoint/2010/main" val="2027044119"/>
              </p:ext>
            </p:extLst>
          </p:nvPr>
        </p:nvGraphicFramePr>
        <p:xfrm>
          <a:off x="476865" y="1219645"/>
          <a:ext cx="11238270" cy="5430520"/>
        </p:xfrm>
        <a:graphic>
          <a:graphicData uri="http://schemas.openxmlformats.org/drawingml/2006/table">
            <a:tbl>
              <a:tblPr firstRow="1" bandRow="1">
                <a:tableStyleId>{5940675A-B579-460E-94D1-54222C63F5DA}</a:tableStyleId>
              </a:tblPr>
              <a:tblGrid>
                <a:gridCol w="1465005">
                  <a:extLst>
                    <a:ext uri="{9D8B030D-6E8A-4147-A177-3AD203B41FA5}">
                      <a16:colId xmlns:a16="http://schemas.microsoft.com/office/drawing/2014/main" val="2995984710"/>
                    </a:ext>
                  </a:extLst>
                </a:gridCol>
                <a:gridCol w="2467897">
                  <a:extLst>
                    <a:ext uri="{9D8B030D-6E8A-4147-A177-3AD203B41FA5}">
                      <a16:colId xmlns:a16="http://schemas.microsoft.com/office/drawing/2014/main" val="119368562"/>
                    </a:ext>
                  </a:extLst>
                </a:gridCol>
                <a:gridCol w="2526891">
                  <a:extLst>
                    <a:ext uri="{9D8B030D-6E8A-4147-A177-3AD203B41FA5}">
                      <a16:colId xmlns:a16="http://schemas.microsoft.com/office/drawing/2014/main" val="152685907"/>
                    </a:ext>
                  </a:extLst>
                </a:gridCol>
                <a:gridCol w="2143432">
                  <a:extLst>
                    <a:ext uri="{9D8B030D-6E8A-4147-A177-3AD203B41FA5}">
                      <a16:colId xmlns:a16="http://schemas.microsoft.com/office/drawing/2014/main" val="974230200"/>
                    </a:ext>
                  </a:extLst>
                </a:gridCol>
                <a:gridCol w="2635045">
                  <a:extLst>
                    <a:ext uri="{9D8B030D-6E8A-4147-A177-3AD203B41FA5}">
                      <a16:colId xmlns:a16="http://schemas.microsoft.com/office/drawing/2014/main" val="3105657739"/>
                    </a:ext>
                  </a:extLst>
                </a:gridCol>
              </a:tblGrid>
              <a:tr h="370840">
                <a:tc>
                  <a:txBody>
                    <a:bodyPr/>
                    <a:lstStyle/>
                    <a:p>
                      <a:pPr algn="ctr"/>
                      <a:r>
                        <a:rPr lang="en-US" sz="1400" dirty="0">
                          <a:latin typeface="Times New Roman" panose="02020603050405020304" pitchFamily="18" charset="0"/>
                          <a:cs typeface="Times New Roman" panose="02020603050405020304" pitchFamily="18" charset="0"/>
                        </a:rPr>
                        <a:t>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Django 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HTML output</a:t>
                      </a:r>
                    </a:p>
                  </a:txBody>
                  <a:tcPr/>
                </a:tc>
                <a:tc>
                  <a:txBody>
                    <a:bodyPr/>
                    <a:lstStyle/>
                    <a:p>
                      <a:pPr algn="ctr"/>
                      <a:r>
                        <a:rPr lang="en-US" sz="1400" dirty="0">
                          <a:latin typeface="Times New Roman" panose="02020603050405020304" pitchFamily="18" charset="0"/>
                          <a:cs typeface="Times New Roman" panose="02020603050405020304" pitchFamily="18" charset="0"/>
                        </a:rPr>
                        <a:t>Django Widget</a:t>
                      </a:r>
                    </a:p>
                  </a:txBody>
                  <a:tcPr/>
                </a:tc>
                <a:tc>
                  <a:txBody>
                    <a:bodyPr/>
                    <a:lstStyle/>
                    <a:p>
                      <a:pPr algn="ctr"/>
                      <a:r>
                        <a:rPr lang="en-US" sz="1400" dirty="0">
                          <a:latin typeface="Times New Roman" panose="02020603050405020304" pitchFamily="18" charset="0"/>
                          <a:cs typeface="Times New Roman" panose="02020603050405020304" pitchFamily="18" charset="0"/>
                        </a:rPr>
                        <a:t>Validation Behavior</a:t>
                      </a:r>
                    </a:p>
                  </a:txBody>
                  <a:tcPr/>
                </a:tc>
                <a:extLst>
                  <a:ext uri="{0D108BD9-81ED-4DB2-BD59-A6C34878D82A}">
                    <a16:rowId xmlns:a16="http://schemas.microsoft.com/office/drawing/2014/main" val="1249435633"/>
                  </a:ext>
                </a:extLst>
              </a:tr>
              <a:tr h="370840">
                <a:tc>
                  <a:txBody>
                    <a:bodyPr/>
                    <a:lstStyle/>
                    <a:p>
                      <a:pPr algn="l"/>
                      <a:r>
                        <a:rPr lang="en-US" sz="1400" dirty="0">
                          <a:latin typeface="Times New Roman" panose="02020603050405020304" pitchFamily="18" charset="0"/>
                          <a:cs typeface="Times New Roman" panose="02020603050405020304" pitchFamily="18" charset="0"/>
                        </a:rPr>
                        <a:t>Boolean</a:t>
                      </a:r>
                    </a:p>
                  </a:txBody>
                  <a:tcPr/>
                </a:tc>
                <a:tc>
                  <a:txBody>
                    <a:bodyPr/>
                    <a:lstStyle/>
                    <a:p>
                      <a:pPr algn="l"/>
                      <a:r>
                        <a:rPr lang="en-US" sz="1400" dirty="0" err="1">
                          <a:latin typeface="Times New Roman" panose="02020603050405020304" pitchFamily="18" charset="0"/>
                          <a:cs typeface="Times New Roman" panose="02020603050405020304" pitchFamily="18" charset="0"/>
                        </a:rPr>
                        <a:t>Forms.BooleanField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type='checkbox'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a:t>
                      </a:r>
                      <a:r>
                        <a:rPr lang="en-US" sz="1400" dirty="0">
                          <a:latin typeface="Times New Roman" panose="02020603050405020304" pitchFamily="18" charset="0"/>
                          <a:cs typeface="Times New Roman" panose="02020603050405020304" pitchFamily="18" charset="0"/>
                        </a:rPr>
                        <a:t>.</a:t>
                      </a:r>
                    </a:p>
                    <a:p>
                      <a:pPr algn="l"/>
                      <a:r>
                        <a:rPr lang="en-US" sz="1400" dirty="0" err="1">
                          <a:latin typeface="Times New Roman" panose="02020603050405020304" pitchFamily="18" charset="0"/>
                          <a:cs typeface="Times New Roman" panose="02020603050405020304" pitchFamily="18" charset="0"/>
                        </a:rPr>
                        <a:t>CheckboxInput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Generates HTML checkbox input markup to obtain a Boolean True or False value; returns False when the checkbox is unchecked, True when the check box is checked.</a:t>
                      </a:r>
                    </a:p>
                  </a:txBody>
                  <a:tcPr/>
                </a:tc>
                <a:extLst>
                  <a:ext uri="{0D108BD9-81ED-4DB2-BD59-A6C34878D82A}">
                    <a16:rowId xmlns:a16="http://schemas.microsoft.com/office/drawing/2014/main" val="878750101"/>
                  </a:ext>
                </a:extLst>
              </a:tr>
              <a:tr h="370840">
                <a:tc>
                  <a:txBody>
                    <a:bodyPr/>
                    <a:lstStyle/>
                    <a:p>
                      <a:pPr algn="l"/>
                      <a:r>
                        <a:rPr lang="en-US" sz="1400" dirty="0">
                          <a:latin typeface="Times New Roman" panose="02020603050405020304" pitchFamily="18" charset="0"/>
                          <a:cs typeface="Times New Roman" panose="02020603050405020304" pitchFamily="18" charset="0"/>
                        </a:rPr>
                        <a:t>Boolean</a:t>
                      </a:r>
                    </a:p>
                  </a:txBody>
                  <a:tcPr/>
                </a:tc>
                <a:tc>
                  <a:txBody>
                    <a:bodyPr/>
                    <a:lstStyle/>
                    <a:p>
                      <a:pPr algn="l"/>
                      <a:r>
                        <a:rPr lang="en-US" sz="1400" dirty="0" err="1">
                          <a:latin typeface="Times New Roman" panose="02020603050405020304" pitchFamily="18" charset="0"/>
                          <a:cs typeface="Times New Roman" panose="02020603050405020304" pitchFamily="18" charset="0"/>
                        </a:rPr>
                        <a:t>Forms.NullBooleanField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&lt;select&gt;&lt;option value="1"</a:t>
                      </a:r>
                    </a:p>
                    <a:p>
                      <a:pPr algn="l"/>
                      <a:r>
                        <a:rPr lang="en-US" sz="1400" dirty="0">
                          <a:latin typeface="Times New Roman" panose="02020603050405020304" pitchFamily="18" charset="0"/>
                          <a:cs typeface="Times New Roman" panose="02020603050405020304" pitchFamily="18" charset="0"/>
                        </a:rPr>
                        <a:t>selected="selected"&gt;Unknown</a:t>
                      </a:r>
                    </a:p>
                    <a:p>
                      <a:pPr algn="l"/>
                      <a:r>
                        <a:rPr lang="en-US" sz="1400" dirty="0">
                          <a:latin typeface="Times New Roman" panose="02020603050405020304" pitchFamily="18" charset="0"/>
                          <a:cs typeface="Times New Roman" panose="02020603050405020304" pitchFamily="18" charset="0"/>
                        </a:rPr>
                        <a:t>&lt;/option&gt;&lt;option value="2"&gt;Yes</a:t>
                      </a:r>
                    </a:p>
                    <a:p>
                      <a:pPr algn="l"/>
                      <a:r>
                        <a:rPr lang="en-US" sz="1400" dirty="0">
                          <a:latin typeface="Times New Roman" panose="02020603050405020304" pitchFamily="18" charset="0"/>
                          <a:cs typeface="Times New Roman" panose="02020603050405020304" pitchFamily="18" charset="0"/>
                        </a:rPr>
                        <a:t>&lt;/option&gt;&lt;option value="3"&gt;No</a:t>
                      </a:r>
                    </a:p>
                    <a:p>
                      <a:pPr algn="l"/>
                      <a:r>
                        <a:rPr lang="en-US" sz="1400" dirty="0">
                          <a:latin typeface="Times New Roman" panose="02020603050405020304" pitchFamily="18" charset="0"/>
                          <a:cs typeface="Times New Roman" panose="02020603050405020304" pitchFamily="18" charset="0"/>
                        </a:rPr>
                        <a:t>&lt;/option&gt;&lt;/select&gt;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a:t>
                      </a:r>
                      <a:r>
                        <a:rPr lang="en-US" sz="1400" dirty="0">
                          <a:latin typeface="Times New Roman" panose="02020603050405020304" pitchFamily="18" charset="0"/>
                          <a:cs typeface="Times New Roman" panose="02020603050405020304" pitchFamily="18" charset="0"/>
                        </a:rPr>
                        <a:t>.</a:t>
                      </a:r>
                    </a:p>
                    <a:p>
                      <a:pPr algn="l"/>
                      <a:r>
                        <a:rPr lang="en-US" sz="1400" dirty="0" err="1">
                          <a:latin typeface="Times New Roman" panose="02020603050405020304" pitchFamily="18" charset="0"/>
                          <a:cs typeface="Times New Roman" panose="02020603050405020304" pitchFamily="18" charset="0"/>
                        </a:rPr>
                        <a:t>NullBooleanSelect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Works just like </a:t>
                      </a:r>
                      <a:r>
                        <a:rPr lang="en-US" sz="1400" dirty="0" err="1">
                          <a:latin typeface="Times New Roman" panose="02020603050405020304" pitchFamily="18" charset="0"/>
                          <a:cs typeface="Times New Roman" panose="02020603050405020304" pitchFamily="18" charset="0"/>
                        </a:rPr>
                        <a:t>BooleanField</a:t>
                      </a:r>
                      <a:r>
                        <a:rPr lang="en-US" sz="1400" dirty="0">
                          <a:latin typeface="Times New Roman" panose="02020603050405020304" pitchFamily="18" charset="0"/>
                          <a:cs typeface="Times New Roman" panose="02020603050405020304" pitchFamily="18" charset="0"/>
                        </a:rPr>
                        <a:t> but also allows "Unknown" value; returns None when the Unknown(1) value is selected, True when the Yes(2) value is selected and False when the No(3) value is selected.</a:t>
                      </a:r>
                    </a:p>
                  </a:txBody>
                  <a:tcPr/>
                </a:tc>
                <a:extLst>
                  <a:ext uri="{0D108BD9-81ED-4DB2-BD59-A6C34878D82A}">
                    <a16:rowId xmlns:a16="http://schemas.microsoft.com/office/drawing/2014/main" val="1202288536"/>
                  </a:ext>
                </a:extLst>
              </a:tr>
              <a:tr h="370840">
                <a:tc>
                  <a:txBody>
                    <a:bodyPr/>
                    <a:lstStyle/>
                    <a:p>
                      <a:pPr algn="l"/>
                      <a:r>
                        <a:rPr lang="en-US" sz="1400" dirty="0">
                          <a:latin typeface="Times New Roman" panose="02020603050405020304" pitchFamily="18" charset="0"/>
                          <a:cs typeface="Times New Roman" panose="02020603050405020304" pitchFamily="18" charset="0"/>
                        </a:rPr>
                        <a:t>Text</a:t>
                      </a:r>
                    </a:p>
                  </a:txBody>
                  <a:tcPr/>
                </a:tc>
                <a:tc>
                  <a:txBody>
                    <a:bodyPr/>
                    <a:lstStyle/>
                    <a:p>
                      <a:pPr algn="l"/>
                      <a:r>
                        <a:rPr lang="en-US" sz="1400" dirty="0" err="1">
                          <a:latin typeface="Times New Roman" panose="02020603050405020304" pitchFamily="18" charset="0"/>
                          <a:cs typeface="Times New Roman" panose="02020603050405020304" pitchFamily="18" charset="0"/>
                        </a:rPr>
                        <a:t>Forms.CharField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type=“text”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a:t>
                      </a:r>
                      <a:r>
                        <a:rPr lang="en-US" sz="1400" dirty="0">
                          <a:latin typeface="Times New Roman" panose="02020603050405020304" pitchFamily="18" charset="0"/>
                          <a:cs typeface="Times New Roman" panose="02020603050405020304" pitchFamily="18" charset="0"/>
                        </a:rPr>
                        <a:t>.</a:t>
                      </a:r>
                    </a:p>
                    <a:p>
                      <a:pPr algn="l"/>
                      <a:r>
                        <a:rPr lang="en-US" sz="1400" dirty="0" err="1">
                          <a:latin typeface="Times New Roman" panose="02020603050405020304" pitchFamily="18" charset="0"/>
                          <a:cs typeface="Times New Roman" panose="02020603050405020304" pitchFamily="18" charset="0"/>
                        </a:rPr>
                        <a:t>TextInput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Generates HTML text input markup.</a:t>
                      </a:r>
                    </a:p>
                  </a:txBody>
                  <a:tcPr/>
                </a:tc>
                <a:extLst>
                  <a:ext uri="{0D108BD9-81ED-4DB2-BD59-A6C34878D82A}">
                    <a16:rowId xmlns:a16="http://schemas.microsoft.com/office/drawing/2014/main" val="3451840902"/>
                  </a:ext>
                </a:extLst>
              </a:tr>
              <a:tr h="370840">
                <a:tc>
                  <a:txBody>
                    <a:bodyPr/>
                    <a:lstStyle/>
                    <a:p>
                      <a:pPr algn="l"/>
                      <a:r>
                        <a:rPr lang="en-US" sz="1400" dirty="0">
                          <a:latin typeface="Times New Roman" panose="02020603050405020304" pitchFamily="18" charset="0"/>
                          <a:cs typeface="Times New Roman" panose="02020603050405020304" pitchFamily="18" charset="0"/>
                        </a:rPr>
                        <a:t>Text(specified)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latin typeface="Times New Roman" panose="02020603050405020304" pitchFamily="18" charset="0"/>
                          <a:cs typeface="Times New Roman" panose="02020603050405020304" pitchFamily="18" charset="0"/>
                        </a:rPr>
                        <a:t>Forms.CharField</a:t>
                      </a:r>
                      <a:r>
                        <a:rPr lang="en-US" sz="1400" dirty="0">
                          <a:latin typeface="Times New Roman" panose="02020603050405020304" pitchFamily="18" charset="0"/>
                          <a:cs typeface="Times New Roman" panose="02020603050405020304" pitchFamily="18"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&lt;input type=“email”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a:t>
                      </a:r>
                      <a:r>
                        <a:rPr lang="en-US" sz="1400" dirty="0">
                          <a:latin typeface="Times New Roman" panose="02020603050405020304" pitchFamily="18" charset="0"/>
                          <a:cs typeface="Times New Roman" panose="02020603050405020304" pitchFamily="18" charset="0"/>
                        </a:rPr>
                        <a:t>.</a:t>
                      </a:r>
                    </a:p>
                    <a:p>
                      <a:pPr algn="l"/>
                      <a:r>
                        <a:rPr lang="en-US" sz="1400" dirty="0" err="1">
                          <a:latin typeface="Times New Roman" panose="02020603050405020304" pitchFamily="18" charset="0"/>
                          <a:cs typeface="Times New Roman" panose="02020603050405020304" pitchFamily="18" charset="0"/>
                        </a:rPr>
                        <a:t>EmailInput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Generates HTML email input</a:t>
                      </a:r>
                    </a:p>
                    <a:p>
                      <a:pPr algn="l"/>
                      <a:r>
                        <a:rPr lang="en-US" sz="1400" dirty="0">
                          <a:latin typeface="Times New Roman" panose="02020603050405020304" pitchFamily="18" charset="0"/>
                          <a:cs typeface="Times New Roman" panose="02020603050405020304" pitchFamily="18" charset="0"/>
                        </a:rPr>
                        <a:t>markup. Note this HTML5 markup is for client-side email validation and only works if a browser supports HTML5. If a browser doesn’t support HTML5, then it treats this markup as a</a:t>
                      </a:r>
                    </a:p>
                    <a:p>
                      <a:pPr algn="l"/>
                      <a:r>
                        <a:rPr lang="en-US" sz="1400" dirty="0">
                          <a:latin typeface="Times New Roman" panose="02020603050405020304" pitchFamily="18" charset="0"/>
                          <a:cs typeface="Times New Roman" panose="02020603050405020304" pitchFamily="18" charset="0"/>
                        </a:rPr>
                        <a:t>regular text input. </a:t>
                      </a:r>
                    </a:p>
                  </a:txBody>
                  <a:tcPr/>
                </a:tc>
                <a:extLst>
                  <a:ext uri="{0D108BD9-81ED-4DB2-BD59-A6C34878D82A}">
                    <a16:rowId xmlns:a16="http://schemas.microsoft.com/office/drawing/2014/main" val="2039782038"/>
                  </a:ext>
                </a:extLst>
              </a:tr>
            </a:tbl>
          </a:graphicData>
        </a:graphic>
      </p:graphicFrame>
      <p:sp>
        <p:nvSpPr>
          <p:cNvPr id="3" name="Slide Number Placeholder 2">
            <a:extLst>
              <a:ext uri="{FF2B5EF4-FFF2-40B4-BE49-F238E27FC236}">
                <a16:creationId xmlns:a16="http://schemas.microsoft.com/office/drawing/2014/main" id="{9A06A211-D89A-A570-6FF3-06526B4AE3E1}"/>
              </a:ext>
            </a:extLst>
          </p:cNvPr>
          <p:cNvSpPr>
            <a:spLocks noGrp="1"/>
          </p:cNvSpPr>
          <p:nvPr>
            <p:ph type="sldNum" sz="quarter" idx="12"/>
          </p:nvPr>
        </p:nvSpPr>
        <p:spPr/>
        <p:txBody>
          <a:bodyPr/>
          <a:lstStyle/>
          <a:p>
            <a:fld id="{EC47AAD7-037B-4BD0-8FE6-944FB61E3E6F}" type="slidenum">
              <a:rPr lang="en-US" smtClean="0"/>
              <a:t>20</a:t>
            </a:fld>
            <a:endParaRPr lang="en-US"/>
          </a:p>
        </p:txBody>
      </p:sp>
    </p:spTree>
    <p:extLst>
      <p:ext uri="{BB962C8B-B14F-4D97-AF65-F5344CB8AC3E}">
        <p14:creationId xmlns:p14="http://schemas.microsoft.com/office/powerpoint/2010/main" val="3465872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506361" y="406447"/>
            <a:ext cx="10515600" cy="6475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Django Form Field Widget</a:t>
            </a:r>
          </a:p>
        </p:txBody>
      </p:sp>
      <p:graphicFrame>
        <p:nvGraphicFramePr>
          <p:cNvPr id="6" name="Table 6">
            <a:extLst>
              <a:ext uri="{FF2B5EF4-FFF2-40B4-BE49-F238E27FC236}">
                <a16:creationId xmlns:a16="http://schemas.microsoft.com/office/drawing/2014/main" id="{B2807716-3C8F-3D33-2B30-B17FB4634CB3}"/>
              </a:ext>
            </a:extLst>
          </p:cNvPr>
          <p:cNvGraphicFramePr>
            <a:graphicFrameLocks noGrp="1"/>
          </p:cNvGraphicFramePr>
          <p:nvPr>
            <p:extLst>
              <p:ext uri="{D42A27DB-BD31-4B8C-83A1-F6EECF244321}">
                <p14:modId xmlns:p14="http://schemas.microsoft.com/office/powerpoint/2010/main" val="1165357994"/>
              </p:ext>
            </p:extLst>
          </p:nvPr>
        </p:nvGraphicFramePr>
        <p:xfrm>
          <a:off x="278990" y="1377127"/>
          <a:ext cx="11634019" cy="5177666"/>
        </p:xfrm>
        <a:graphic>
          <a:graphicData uri="http://schemas.openxmlformats.org/drawingml/2006/table">
            <a:tbl>
              <a:tblPr firstRow="1" bandRow="1">
                <a:tableStyleId>{5940675A-B579-460E-94D1-54222C63F5DA}</a:tableStyleId>
              </a:tblPr>
              <a:tblGrid>
                <a:gridCol w="1549810">
                  <a:extLst>
                    <a:ext uri="{9D8B030D-6E8A-4147-A177-3AD203B41FA5}">
                      <a16:colId xmlns:a16="http://schemas.microsoft.com/office/drawing/2014/main" val="2995984710"/>
                    </a:ext>
                  </a:extLst>
                </a:gridCol>
                <a:gridCol w="2448232">
                  <a:extLst>
                    <a:ext uri="{9D8B030D-6E8A-4147-A177-3AD203B41FA5}">
                      <a16:colId xmlns:a16="http://schemas.microsoft.com/office/drawing/2014/main" val="119368562"/>
                    </a:ext>
                  </a:extLst>
                </a:gridCol>
                <a:gridCol w="1966452">
                  <a:extLst>
                    <a:ext uri="{9D8B030D-6E8A-4147-A177-3AD203B41FA5}">
                      <a16:colId xmlns:a16="http://schemas.microsoft.com/office/drawing/2014/main" val="152685907"/>
                    </a:ext>
                  </a:extLst>
                </a:gridCol>
                <a:gridCol w="2723535">
                  <a:extLst>
                    <a:ext uri="{9D8B030D-6E8A-4147-A177-3AD203B41FA5}">
                      <a16:colId xmlns:a16="http://schemas.microsoft.com/office/drawing/2014/main" val="974230200"/>
                    </a:ext>
                  </a:extLst>
                </a:gridCol>
                <a:gridCol w="2945990">
                  <a:extLst>
                    <a:ext uri="{9D8B030D-6E8A-4147-A177-3AD203B41FA5}">
                      <a16:colId xmlns:a16="http://schemas.microsoft.com/office/drawing/2014/main" val="3105657739"/>
                    </a:ext>
                  </a:extLst>
                </a:gridCol>
              </a:tblGrid>
              <a:tr h="422786">
                <a:tc>
                  <a:txBody>
                    <a:bodyPr/>
                    <a:lstStyle/>
                    <a:p>
                      <a:pPr algn="ctr"/>
                      <a:r>
                        <a:rPr lang="en-US" sz="1400" dirty="0">
                          <a:latin typeface="Times New Roman" panose="02020603050405020304" pitchFamily="18" charset="0"/>
                          <a:cs typeface="Times New Roman" panose="02020603050405020304" pitchFamily="18" charset="0"/>
                        </a:rPr>
                        <a:t>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Django 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HTML output</a:t>
                      </a:r>
                    </a:p>
                  </a:txBody>
                  <a:tcPr/>
                </a:tc>
                <a:tc>
                  <a:txBody>
                    <a:bodyPr/>
                    <a:lstStyle/>
                    <a:p>
                      <a:pPr algn="ctr"/>
                      <a:r>
                        <a:rPr lang="en-US" sz="1400" dirty="0">
                          <a:latin typeface="Times New Roman" panose="02020603050405020304" pitchFamily="18" charset="0"/>
                          <a:cs typeface="Times New Roman" panose="02020603050405020304" pitchFamily="18" charset="0"/>
                        </a:rPr>
                        <a:t>Django Widget</a:t>
                      </a:r>
                    </a:p>
                  </a:txBody>
                  <a:tcPr/>
                </a:tc>
                <a:tc>
                  <a:txBody>
                    <a:bodyPr/>
                    <a:lstStyle/>
                    <a:p>
                      <a:pPr algn="ctr"/>
                      <a:r>
                        <a:rPr lang="en-US" sz="1400" dirty="0">
                          <a:latin typeface="Times New Roman" panose="02020603050405020304" pitchFamily="18" charset="0"/>
                          <a:cs typeface="Times New Roman" panose="02020603050405020304" pitchFamily="18" charset="0"/>
                        </a:rPr>
                        <a:t>Validation Behavior</a:t>
                      </a:r>
                    </a:p>
                  </a:txBody>
                  <a:tcPr/>
                </a:tc>
                <a:extLst>
                  <a:ext uri="{0D108BD9-81ED-4DB2-BD59-A6C34878D82A}">
                    <a16:rowId xmlns:a16="http://schemas.microsoft.com/office/drawing/2014/main" val="1249435633"/>
                  </a:ext>
                </a:extLst>
              </a:tr>
              <a:tr h="370840">
                <a:tc>
                  <a:txBody>
                    <a:bodyPr/>
                    <a:lstStyle/>
                    <a:p>
                      <a:pPr algn="l"/>
                      <a:r>
                        <a:rPr lang="en-US" sz="1400" dirty="0">
                          <a:latin typeface="Times New Roman" panose="02020603050405020304" pitchFamily="18" charset="0"/>
                          <a:cs typeface="Times New Roman" panose="02020603050405020304" pitchFamily="18" charset="0"/>
                        </a:rPr>
                        <a:t>Text(Specialized)</a:t>
                      </a:r>
                    </a:p>
                  </a:txBody>
                  <a:tcPr/>
                </a:tc>
                <a:tc>
                  <a:txBody>
                    <a:bodyPr/>
                    <a:lstStyle/>
                    <a:p>
                      <a:pPr algn="l"/>
                      <a:r>
                        <a:rPr lang="en-US" sz="1400" dirty="0" err="1">
                          <a:latin typeface="Times New Roman" panose="02020603050405020304" pitchFamily="18" charset="0"/>
                          <a:cs typeface="Times New Roman" panose="02020603050405020304" pitchFamily="18" charset="0"/>
                        </a:rPr>
                        <a:t>forms.GenericIPAddressField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type="text"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forms.widgets.TextInput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Works just like </a:t>
                      </a:r>
                      <a:r>
                        <a:rPr lang="en-US" sz="1400" dirty="0" err="1">
                          <a:latin typeface="Times New Roman" panose="02020603050405020304" pitchFamily="18" charset="0"/>
                          <a:cs typeface="Times New Roman" panose="02020603050405020304" pitchFamily="18" charset="0"/>
                        </a:rPr>
                        <a:t>CharField</a:t>
                      </a:r>
                      <a:r>
                        <a:rPr lang="en-US" sz="1400" dirty="0">
                          <a:latin typeface="Times New Roman" panose="02020603050405020304" pitchFamily="18" charset="0"/>
                          <a:cs typeface="Times New Roman" panose="02020603050405020304" pitchFamily="18" charset="0"/>
                        </a:rPr>
                        <a:t>, but server-side Django validates the (text) value can be converted to an IPv4 or IPv6 address (e.g., 192.46.3.2,</a:t>
                      </a:r>
                    </a:p>
                    <a:p>
                      <a:pPr algn="l"/>
                      <a:r>
                        <a:rPr lang="en-US" sz="1400" dirty="0">
                          <a:latin typeface="Times New Roman" panose="02020603050405020304" pitchFamily="18" charset="0"/>
                          <a:cs typeface="Times New Roman" panose="02020603050405020304" pitchFamily="18" charset="0"/>
                        </a:rPr>
                        <a:t>2001:0db8:85a3:0000:0000:8a2e:0370:7334).</a:t>
                      </a:r>
                    </a:p>
                  </a:txBody>
                  <a:tcPr/>
                </a:tc>
                <a:extLst>
                  <a:ext uri="{0D108BD9-81ED-4DB2-BD59-A6C34878D82A}">
                    <a16:rowId xmlns:a16="http://schemas.microsoft.com/office/drawing/2014/main" val="878750101"/>
                  </a:ext>
                </a:extLst>
              </a:tr>
              <a:tr h="655500">
                <a:tc>
                  <a:txBody>
                    <a:bodyPr/>
                    <a:lstStyle/>
                    <a:p>
                      <a:pPr algn="l"/>
                      <a:r>
                        <a:rPr lang="en-US" sz="1400" dirty="0">
                          <a:latin typeface="Times New Roman" panose="02020603050405020304" pitchFamily="18" charset="0"/>
                          <a:cs typeface="Times New Roman" panose="02020603050405020304" pitchFamily="18" charset="0"/>
                        </a:rPr>
                        <a:t>Text(Specialized)</a:t>
                      </a:r>
                    </a:p>
                  </a:txBody>
                  <a:tcPr/>
                </a:tc>
                <a:tc>
                  <a:txBody>
                    <a:bodyPr/>
                    <a:lstStyle/>
                    <a:p>
                      <a:pPr algn="l"/>
                      <a:r>
                        <a:rPr lang="en-US" sz="1400" dirty="0" err="1">
                          <a:latin typeface="Times New Roman" panose="02020603050405020304" pitchFamily="18" charset="0"/>
                          <a:cs typeface="Times New Roman" panose="02020603050405020304" pitchFamily="18" charset="0"/>
                        </a:rPr>
                        <a:t>forms.SlugField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type="text"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forms.widgets.TextInput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In Django a ‘slug’ is a value that contains only lowercase letters, numbers, underscores and hyphens, which is typically used to sanitize</a:t>
                      </a:r>
                    </a:p>
                    <a:p>
                      <a:pPr algn="l"/>
                      <a:r>
                        <a:rPr lang="en-US" sz="1400" dirty="0">
                          <a:latin typeface="Times New Roman" panose="02020603050405020304" pitchFamily="18" charset="0"/>
                          <a:cs typeface="Times New Roman" panose="02020603050405020304" pitchFamily="18" charset="0"/>
                        </a:rPr>
                        <a:t>URLs and file names (e.g., the slug representation of 'What is a Slug?! A sanitized-string' is what-is-a-slug-a-sanitized string.</a:t>
                      </a:r>
                    </a:p>
                  </a:txBody>
                  <a:tcPr/>
                </a:tc>
                <a:extLst>
                  <a:ext uri="{0D108BD9-81ED-4DB2-BD59-A6C34878D82A}">
                    <a16:rowId xmlns:a16="http://schemas.microsoft.com/office/drawing/2014/main" val="1202288536"/>
                  </a:ext>
                </a:extLst>
              </a:tr>
              <a:tr h="0">
                <a:tc>
                  <a:txBody>
                    <a:bodyPr/>
                    <a:lstStyle/>
                    <a:p>
                      <a:pPr algn="l"/>
                      <a:r>
                        <a:rPr lang="en-US" sz="1400" dirty="0">
                          <a:latin typeface="Times New Roman" panose="02020603050405020304" pitchFamily="18" charset="0"/>
                          <a:cs typeface="Times New Roman" panose="02020603050405020304" pitchFamily="18" charset="0"/>
                        </a:rPr>
                        <a:t>Files(Specialized)</a:t>
                      </a:r>
                    </a:p>
                  </a:txBody>
                  <a:tcPr/>
                </a:tc>
                <a:tc>
                  <a:txBody>
                    <a:bodyPr/>
                    <a:lstStyle/>
                    <a:p>
                      <a:pPr algn="l"/>
                      <a:r>
                        <a:rPr lang="en-US" sz="1400" dirty="0" err="1">
                          <a:latin typeface="Times New Roman" panose="02020603050405020304" pitchFamily="18" charset="0"/>
                          <a:cs typeface="Times New Roman" panose="02020603050405020304" pitchFamily="18" charset="0"/>
                        </a:rPr>
                        <a:t>forms.ImageField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type="file"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forms.widgets.ClearableFileInput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Generates HTML file input markup so an end user is able to select an image file through his web browser. Works just like File Field but provides additional utilities to handle post-processing of images using the Pillow package. </a:t>
                      </a:r>
                    </a:p>
                  </a:txBody>
                  <a:tcPr/>
                </a:tc>
                <a:extLst>
                  <a:ext uri="{0D108BD9-81ED-4DB2-BD59-A6C34878D82A}">
                    <a16:rowId xmlns:a16="http://schemas.microsoft.com/office/drawing/2014/main" val="3451840902"/>
                  </a:ext>
                </a:extLst>
              </a:tr>
            </a:tbl>
          </a:graphicData>
        </a:graphic>
      </p:graphicFrame>
      <p:sp>
        <p:nvSpPr>
          <p:cNvPr id="3" name="Slide Number Placeholder 2">
            <a:extLst>
              <a:ext uri="{FF2B5EF4-FFF2-40B4-BE49-F238E27FC236}">
                <a16:creationId xmlns:a16="http://schemas.microsoft.com/office/drawing/2014/main" id="{0E3266CD-9243-C460-17BF-E39470EFE51F}"/>
              </a:ext>
            </a:extLst>
          </p:cNvPr>
          <p:cNvSpPr>
            <a:spLocks noGrp="1"/>
          </p:cNvSpPr>
          <p:nvPr>
            <p:ph type="sldNum" sz="quarter" idx="12"/>
          </p:nvPr>
        </p:nvSpPr>
        <p:spPr/>
        <p:txBody>
          <a:bodyPr/>
          <a:lstStyle/>
          <a:p>
            <a:fld id="{EC47AAD7-037B-4BD0-8FE6-944FB61E3E6F}" type="slidenum">
              <a:rPr lang="en-US" smtClean="0"/>
              <a:t>21</a:t>
            </a:fld>
            <a:endParaRPr lang="en-US"/>
          </a:p>
        </p:txBody>
      </p:sp>
    </p:spTree>
    <p:extLst>
      <p:ext uri="{BB962C8B-B14F-4D97-AF65-F5344CB8AC3E}">
        <p14:creationId xmlns:p14="http://schemas.microsoft.com/office/powerpoint/2010/main" val="1465054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C510DDA0-F0DC-FB54-7886-7BDCC62C2A8E}"/>
              </a:ext>
            </a:extLst>
          </p:cNvPr>
          <p:cNvGraphicFramePr>
            <a:graphicFrameLocks noGrp="1"/>
          </p:cNvGraphicFramePr>
          <p:nvPr>
            <p:extLst>
              <p:ext uri="{D42A27DB-BD31-4B8C-83A1-F6EECF244321}">
                <p14:modId xmlns:p14="http://schemas.microsoft.com/office/powerpoint/2010/main" val="426670586"/>
              </p:ext>
            </p:extLst>
          </p:nvPr>
        </p:nvGraphicFramePr>
        <p:xfrm>
          <a:off x="278990" y="1565904"/>
          <a:ext cx="11634019" cy="4451437"/>
        </p:xfrm>
        <a:graphic>
          <a:graphicData uri="http://schemas.openxmlformats.org/drawingml/2006/table">
            <a:tbl>
              <a:tblPr firstRow="1" bandRow="1">
                <a:tableStyleId>{5940675A-B579-460E-94D1-54222C63F5DA}</a:tableStyleId>
              </a:tblPr>
              <a:tblGrid>
                <a:gridCol w="1520313">
                  <a:extLst>
                    <a:ext uri="{9D8B030D-6E8A-4147-A177-3AD203B41FA5}">
                      <a16:colId xmlns:a16="http://schemas.microsoft.com/office/drawing/2014/main" val="2995984710"/>
                    </a:ext>
                  </a:extLst>
                </a:gridCol>
                <a:gridCol w="1956620">
                  <a:extLst>
                    <a:ext uri="{9D8B030D-6E8A-4147-A177-3AD203B41FA5}">
                      <a16:colId xmlns:a16="http://schemas.microsoft.com/office/drawing/2014/main" val="119368562"/>
                    </a:ext>
                  </a:extLst>
                </a:gridCol>
                <a:gridCol w="2182761">
                  <a:extLst>
                    <a:ext uri="{9D8B030D-6E8A-4147-A177-3AD203B41FA5}">
                      <a16:colId xmlns:a16="http://schemas.microsoft.com/office/drawing/2014/main" val="152685907"/>
                    </a:ext>
                  </a:extLst>
                </a:gridCol>
                <a:gridCol w="2536722">
                  <a:extLst>
                    <a:ext uri="{9D8B030D-6E8A-4147-A177-3AD203B41FA5}">
                      <a16:colId xmlns:a16="http://schemas.microsoft.com/office/drawing/2014/main" val="974230200"/>
                    </a:ext>
                  </a:extLst>
                </a:gridCol>
                <a:gridCol w="3437603">
                  <a:extLst>
                    <a:ext uri="{9D8B030D-6E8A-4147-A177-3AD203B41FA5}">
                      <a16:colId xmlns:a16="http://schemas.microsoft.com/office/drawing/2014/main" val="3105657739"/>
                    </a:ext>
                  </a:extLst>
                </a:gridCol>
              </a:tblGrid>
              <a:tr h="630535">
                <a:tc>
                  <a:txBody>
                    <a:bodyPr/>
                    <a:lstStyle/>
                    <a:p>
                      <a:pPr algn="ctr"/>
                      <a:r>
                        <a:rPr lang="en-US" sz="1400" dirty="0">
                          <a:latin typeface="Times New Roman" panose="02020603050405020304" pitchFamily="18" charset="0"/>
                          <a:cs typeface="Times New Roman" panose="02020603050405020304" pitchFamily="18" charset="0"/>
                        </a:rPr>
                        <a:t>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Django 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HTML output</a:t>
                      </a:r>
                    </a:p>
                  </a:txBody>
                  <a:tcPr/>
                </a:tc>
                <a:tc>
                  <a:txBody>
                    <a:bodyPr/>
                    <a:lstStyle/>
                    <a:p>
                      <a:pPr algn="ctr"/>
                      <a:r>
                        <a:rPr lang="en-US" sz="1400" dirty="0">
                          <a:latin typeface="Times New Roman" panose="02020603050405020304" pitchFamily="18" charset="0"/>
                          <a:cs typeface="Times New Roman" panose="02020603050405020304" pitchFamily="18" charset="0"/>
                        </a:rPr>
                        <a:t>Django Widget</a:t>
                      </a:r>
                    </a:p>
                  </a:txBody>
                  <a:tcPr/>
                </a:tc>
                <a:tc>
                  <a:txBody>
                    <a:bodyPr/>
                    <a:lstStyle/>
                    <a:p>
                      <a:pPr algn="ctr"/>
                      <a:r>
                        <a:rPr lang="en-US" sz="1400" dirty="0">
                          <a:latin typeface="Times New Roman" panose="02020603050405020304" pitchFamily="18" charset="0"/>
                          <a:cs typeface="Times New Roman" panose="02020603050405020304" pitchFamily="18" charset="0"/>
                        </a:rPr>
                        <a:t>Validation Behavior</a:t>
                      </a:r>
                    </a:p>
                  </a:txBody>
                  <a:tcPr/>
                </a:tc>
                <a:extLst>
                  <a:ext uri="{0D108BD9-81ED-4DB2-BD59-A6C34878D82A}">
                    <a16:rowId xmlns:a16="http://schemas.microsoft.com/office/drawing/2014/main" val="1249435633"/>
                  </a:ext>
                </a:extLst>
              </a:tr>
              <a:tr h="1356956">
                <a:tc>
                  <a:txBody>
                    <a:bodyPr/>
                    <a:lstStyle/>
                    <a:p>
                      <a:pPr algn="l"/>
                      <a:r>
                        <a:rPr lang="en-US" sz="1400" dirty="0">
                          <a:latin typeface="Times New Roman" panose="02020603050405020304" pitchFamily="18" charset="0"/>
                          <a:cs typeface="Times New Roman" panose="02020603050405020304" pitchFamily="18" charset="0"/>
                        </a:rPr>
                        <a:t>Date/time</a:t>
                      </a:r>
                    </a:p>
                  </a:txBody>
                  <a:tcPr/>
                </a:tc>
                <a:tc>
                  <a:txBody>
                    <a:bodyPr/>
                    <a:lstStyle/>
                    <a:p>
                      <a:pPr algn="l"/>
                      <a:r>
                        <a:rPr lang="en-US" sz="1400" dirty="0" err="1">
                          <a:latin typeface="Times New Roman" panose="02020603050405020304" pitchFamily="18" charset="0"/>
                          <a:cs typeface="Times New Roman" panose="02020603050405020304" pitchFamily="18" charset="0"/>
                        </a:rPr>
                        <a:t>forms.DateField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type=“text”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forms.widgets.DateInput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Server-side Django validates the (text) value can be converted to a </a:t>
                      </a:r>
                      <a:r>
                        <a:rPr lang="en-US" sz="1400" dirty="0" err="1">
                          <a:latin typeface="Times New Roman" panose="02020603050405020304" pitchFamily="18" charset="0"/>
                          <a:cs typeface="Times New Roman" panose="02020603050405020304" pitchFamily="18" charset="0"/>
                        </a:rPr>
                        <a:t>datetime.date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datetime.datetime</a:t>
                      </a:r>
                      <a:r>
                        <a:rPr lang="en-US" sz="1400" dirty="0">
                          <a:latin typeface="Times New Roman" panose="02020603050405020304" pitchFamily="18" charset="0"/>
                          <a:cs typeface="Times New Roman" panose="02020603050405020304" pitchFamily="18" charset="0"/>
                        </a:rPr>
                        <a:t>, or string formatted in a particular date format (e.g. 2017-12-25, 11/25/17).</a:t>
                      </a:r>
                    </a:p>
                  </a:txBody>
                  <a:tcPr/>
                </a:tc>
                <a:extLst>
                  <a:ext uri="{0D108BD9-81ED-4DB2-BD59-A6C34878D82A}">
                    <a16:rowId xmlns:a16="http://schemas.microsoft.com/office/drawing/2014/main" val="878750101"/>
                  </a:ext>
                </a:extLst>
              </a:tr>
              <a:tr h="1106990">
                <a:tc>
                  <a:txBody>
                    <a:bodyPr/>
                    <a:lstStyle/>
                    <a:p>
                      <a:pPr algn="l"/>
                      <a:r>
                        <a:rPr lang="en-US" sz="1400" dirty="0">
                          <a:latin typeface="Times New Roman" panose="02020603050405020304" pitchFamily="18" charset="0"/>
                          <a:cs typeface="Times New Roman" panose="02020603050405020304" pitchFamily="18" charset="0"/>
                        </a:rPr>
                        <a:t>Date/time</a:t>
                      </a:r>
                    </a:p>
                  </a:txBody>
                  <a:tcPr/>
                </a:tc>
                <a:tc>
                  <a:txBody>
                    <a:bodyPr/>
                    <a:lstStyle/>
                    <a:p>
                      <a:pPr algn="l"/>
                      <a:r>
                        <a:rPr lang="en-US" sz="1400" dirty="0" err="1">
                          <a:latin typeface="Times New Roman" panose="02020603050405020304" pitchFamily="18" charset="0"/>
                          <a:cs typeface="Times New Roman" panose="02020603050405020304" pitchFamily="18" charset="0"/>
                        </a:rPr>
                        <a:t>forms.TimeField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type="text"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forms.widgets.TextInput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Server-side Django validates the (text) value can be converted to a datetime. time or string formatted in a particular time format (e.g.,</a:t>
                      </a:r>
                    </a:p>
                    <a:p>
                      <a:pPr algn="l"/>
                      <a:r>
                        <a:rPr lang="en-US" sz="1400" dirty="0">
                          <a:latin typeface="Times New Roman" panose="02020603050405020304" pitchFamily="18" charset="0"/>
                          <a:cs typeface="Times New Roman" panose="02020603050405020304" pitchFamily="18" charset="0"/>
                        </a:rPr>
                        <a:t>15:40:33, 17:44).</a:t>
                      </a:r>
                    </a:p>
                  </a:txBody>
                  <a:tcPr/>
                </a:tc>
                <a:extLst>
                  <a:ext uri="{0D108BD9-81ED-4DB2-BD59-A6C34878D82A}">
                    <a16:rowId xmlns:a16="http://schemas.microsoft.com/office/drawing/2014/main" val="1202288536"/>
                  </a:ext>
                </a:extLst>
              </a:tr>
              <a:tr h="13569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Date/time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latin typeface="Times New Roman" panose="02020603050405020304" pitchFamily="18" charset="0"/>
                          <a:cs typeface="Times New Roman" panose="02020603050405020304" pitchFamily="18" charset="0"/>
                        </a:rPr>
                        <a:t>forms.DateTimeField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type="text"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forms.widgets.DateTimeInput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server-side Django validates the (text) value can be converted to a datetime. datetime, </a:t>
                      </a:r>
                      <a:r>
                        <a:rPr lang="en-US" sz="1400" dirty="0" err="1">
                          <a:latin typeface="Times New Roman" panose="02020603050405020304" pitchFamily="18" charset="0"/>
                          <a:cs typeface="Times New Roman" panose="02020603050405020304" pitchFamily="18" charset="0"/>
                        </a:rPr>
                        <a:t>datetime.date</a:t>
                      </a:r>
                      <a:r>
                        <a:rPr lang="en-US" sz="1400" dirty="0">
                          <a:latin typeface="Times New Roman" panose="02020603050405020304" pitchFamily="18" charset="0"/>
                          <a:cs typeface="Times New Roman" panose="02020603050405020304" pitchFamily="18" charset="0"/>
                        </a:rPr>
                        <a:t>, or string formatted in a particular datetime format (e.g. 2017-12-25 14:30:59, 11/25/17 14:30).</a:t>
                      </a:r>
                    </a:p>
                  </a:txBody>
                  <a:tcPr/>
                </a:tc>
                <a:extLst>
                  <a:ext uri="{0D108BD9-81ED-4DB2-BD59-A6C34878D82A}">
                    <a16:rowId xmlns:a16="http://schemas.microsoft.com/office/drawing/2014/main" val="3451840902"/>
                  </a:ext>
                </a:extLst>
              </a:tr>
            </a:tbl>
          </a:graphicData>
        </a:graphic>
      </p:graphicFrame>
      <p:sp>
        <p:nvSpPr>
          <p:cNvPr id="3" name="Title 1">
            <a:extLst>
              <a:ext uri="{FF2B5EF4-FFF2-40B4-BE49-F238E27FC236}">
                <a16:creationId xmlns:a16="http://schemas.microsoft.com/office/drawing/2014/main" id="{2B3B9D5A-F5E2-941C-B62B-42ECA0D1AF97}"/>
              </a:ext>
            </a:extLst>
          </p:cNvPr>
          <p:cNvSpPr txBox="1">
            <a:spLocks/>
          </p:cNvSpPr>
          <p:nvPr/>
        </p:nvSpPr>
        <p:spPr>
          <a:xfrm>
            <a:off x="447367" y="445776"/>
            <a:ext cx="10515600" cy="6475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Django Form Field Widget</a:t>
            </a:r>
          </a:p>
        </p:txBody>
      </p:sp>
      <p:sp>
        <p:nvSpPr>
          <p:cNvPr id="4" name="Slide Number Placeholder 3">
            <a:extLst>
              <a:ext uri="{FF2B5EF4-FFF2-40B4-BE49-F238E27FC236}">
                <a16:creationId xmlns:a16="http://schemas.microsoft.com/office/drawing/2014/main" id="{30F4D3BD-A517-A5F5-A24B-0922C1153BB0}"/>
              </a:ext>
            </a:extLst>
          </p:cNvPr>
          <p:cNvSpPr>
            <a:spLocks noGrp="1"/>
          </p:cNvSpPr>
          <p:nvPr>
            <p:ph type="sldNum" sz="quarter" idx="12"/>
          </p:nvPr>
        </p:nvSpPr>
        <p:spPr/>
        <p:txBody>
          <a:bodyPr/>
          <a:lstStyle/>
          <a:p>
            <a:fld id="{EC47AAD7-037B-4BD0-8FE6-944FB61E3E6F}" type="slidenum">
              <a:rPr lang="en-US" smtClean="0"/>
              <a:t>22</a:t>
            </a:fld>
            <a:endParaRPr lang="en-US"/>
          </a:p>
        </p:txBody>
      </p:sp>
    </p:spTree>
    <p:extLst>
      <p:ext uri="{BB962C8B-B14F-4D97-AF65-F5344CB8AC3E}">
        <p14:creationId xmlns:p14="http://schemas.microsoft.com/office/powerpoint/2010/main" val="322858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
            <a:extLst>
              <a:ext uri="{FF2B5EF4-FFF2-40B4-BE49-F238E27FC236}">
                <a16:creationId xmlns:a16="http://schemas.microsoft.com/office/drawing/2014/main" id="{2BCD12EF-A1E3-BF44-87C8-9E8A7C30E771}"/>
              </a:ext>
            </a:extLst>
          </p:cNvPr>
          <p:cNvGraphicFramePr>
            <a:graphicFrameLocks noGrp="1"/>
          </p:cNvGraphicFramePr>
          <p:nvPr>
            <p:extLst>
              <p:ext uri="{D42A27DB-BD31-4B8C-83A1-F6EECF244321}">
                <p14:modId xmlns:p14="http://schemas.microsoft.com/office/powerpoint/2010/main" val="1560511217"/>
              </p:ext>
            </p:extLst>
          </p:nvPr>
        </p:nvGraphicFramePr>
        <p:xfrm>
          <a:off x="278990" y="1999671"/>
          <a:ext cx="11634019" cy="2834640"/>
        </p:xfrm>
        <a:graphic>
          <a:graphicData uri="http://schemas.openxmlformats.org/drawingml/2006/table">
            <a:tbl>
              <a:tblPr firstRow="1" bandRow="1">
                <a:tableStyleId>{5940675A-B579-460E-94D1-54222C63F5DA}</a:tableStyleId>
              </a:tblPr>
              <a:tblGrid>
                <a:gridCol w="1520313">
                  <a:extLst>
                    <a:ext uri="{9D8B030D-6E8A-4147-A177-3AD203B41FA5}">
                      <a16:colId xmlns:a16="http://schemas.microsoft.com/office/drawing/2014/main" val="2995984710"/>
                    </a:ext>
                  </a:extLst>
                </a:gridCol>
                <a:gridCol w="1956620">
                  <a:extLst>
                    <a:ext uri="{9D8B030D-6E8A-4147-A177-3AD203B41FA5}">
                      <a16:colId xmlns:a16="http://schemas.microsoft.com/office/drawing/2014/main" val="119368562"/>
                    </a:ext>
                  </a:extLst>
                </a:gridCol>
                <a:gridCol w="2182761">
                  <a:extLst>
                    <a:ext uri="{9D8B030D-6E8A-4147-A177-3AD203B41FA5}">
                      <a16:colId xmlns:a16="http://schemas.microsoft.com/office/drawing/2014/main" val="152685907"/>
                    </a:ext>
                  </a:extLst>
                </a:gridCol>
                <a:gridCol w="2536722">
                  <a:extLst>
                    <a:ext uri="{9D8B030D-6E8A-4147-A177-3AD203B41FA5}">
                      <a16:colId xmlns:a16="http://schemas.microsoft.com/office/drawing/2014/main" val="974230200"/>
                    </a:ext>
                  </a:extLst>
                </a:gridCol>
                <a:gridCol w="3437603">
                  <a:extLst>
                    <a:ext uri="{9D8B030D-6E8A-4147-A177-3AD203B41FA5}">
                      <a16:colId xmlns:a16="http://schemas.microsoft.com/office/drawing/2014/main" val="3105657739"/>
                    </a:ext>
                  </a:extLst>
                </a:gridCol>
              </a:tblGrid>
              <a:tr h="0">
                <a:tc>
                  <a:txBody>
                    <a:bodyPr/>
                    <a:lstStyle/>
                    <a:p>
                      <a:pPr algn="ctr"/>
                      <a:r>
                        <a:rPr lang="en-US" sz="1400" dirty="0">
                          <a:latin typeface="Times New Roman" panose="02020603050405020304" pitchFamily="18" charset="0"/>
                          <a:cs typeface="Times New Roman" panose="02020603050405020304" pitchFamily="18" charset="0"/>
                        </a:rPr>
                        <a:t>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Django Field Type</a:t>
                      </a:r>
                    </a:p>
                  </a:txBody>
                  <a:tcPr/>
                </a:tc>
                <a:tc>
                  <a:txBody>
                    <a:bodyPr/>
                    <a:lstStyle/>
                    <a:p>
                      <a:pPr algn="ctr"/>
                      <a:r>
                        <a:rPr lang="en-US" sz="1400" dirty="0">
                          <a:latin typeface="Times New Roman" panose="02020603050405020304" pitchFamily="18" charset="0"/>
                          <a:cs typeface="Times New Roman" panose="02020603050405020304" pitchFamily="18" charset="0"/>
                        </a:rPr>
                        <a:t>HTML output</a:t>
                      </a:r>
                    </a:p>
                  </a:txBody>
                  <a:tcPr/>
                </a:tc>
                <a:tc>
                  <a:txBody>
                    <a:bodyPr/>
                    <a:lstStyle/>
                    <a:p>
                      <a:pPr algn="ctr"/>
                      <a:r>
                        <a:rPr lang="en-US" sz="1400" dirty="0">
                          <a:latin typeface="Times New Roman" panose="02020603050405020304" pitchFamily="18" charset="0"/>
                          <a:cs typeface="Times New Roman" panose="02020603050405020304" pitchFamily="18" charset="0"/>
                        </a:rPr>
                        <a:t>Django Widget</a:t>
                      </a:r>
                    </a:p>
                  </a:txBody>
                  <a:tcPr/>
                </a:tc>
                <a:tc>
                  <a:txBody>
                    <a:bodyPr/>
                    <a:lstStyle/>
                    <a:p>
                      <a:pPr algn="ctr"/>
                      <a:r>
                        <a:rPr lang="en-US" sz="1400" dirty="0">
                          <a:latin typeface="Times New Roman" panose="02020603050405020304" pitchFamily="18" charset="0"/>
                          <a:cs typeface="Times New Roman" panose="02020603050405020304" pitchFamily="18" charset="0"/>
                        </a:rPr>
                        <a:t>Validation Behavior</a:t>
                      </a:r>
                    </a:p>
                  </a:txBody>
                  <a:tcPr/>
                </a:tc>
                <a:extLst>
                  <a:ext uri="{0D108BD9-81ED-4DB2-BD59-A6C34878D82A}">
                    <a16:rowId xmlns:a16="http://schemas.microsoft.com/office/drawing/2014/main" val="12494356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Number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latin typeface="Times New Roman" panose="02020603050405020304" pitchFamily="18" charset="0"/>
                          <a:cs typeface="Times New Roman" panose="02020603050405020304" pitchFamily="18" charset="0"/>
                        </a:rPr>
                        <a:t>forms.IntegerField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type="number"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forms.widgets.NumberInput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Generates an HTML number input markup. If a browser doesn’t support HTML5 then it treats this markup as a regular text input. Django server-side form validation is done for an integer number irrespective of HTML5 support.</a:t>
                      </a:r>
                    </a:p>
                  </a:txBody>
                  <a:tcPr/>
                </a:tc>
                <a:extLst>
                  <a:ext uri="{0D108BD9-81ED-4DB2-BD59-A6C34878D82A}">
                    <a16:rowId xmlns:a16="http://schemas.microsoft.com/office/drawing/2014/main" val="1039699966"/>
                  </a:ext>
                </a:extLst>
              </a:tr>
              <a:tr h="370840">
                <a:tc>
                  <a:txBody>
                    <a:bodyPr/>
                    <a:lstStyle/>
                    <a:p>
                      <a:pPr algn="l"/>
                      <a:r>
                        <a:rPr lang="en-US" sz="1400" dirty="0">
                          <a:latin typeface="Times New Roman" panose="02020603050405020304" pitchFamily="18" charset="0"/>
                          <a:cs typeface="Times New Roman" panose="02020603050405020304" pitchFamily="18" charset="0"/>
                        </a:rPr>
                        <a:t>Number</a:t>
                      </a:r>
                    </a:p>
                  </a:txBody>
                  <a:tcPr/>
                </a:tc>
                <a:tc>
                  <a:txBody>
                    <a:bodyPr/>
                    <a:lstStyle/>
                    <a:p>
                      <a:pPr algn="l"/>
                      <a:r>
                        <a:rPr lang="en-US" sz="1400" dirty="0" err="1">
                          <a:latin typeface="Times New Roman" panose="02020603050405020304" pitchFamily="18" charset="0"/>
                          <a:cs typeface="Times New Roman" panose="02020603050405020304" pitchFamily="18" charset="0"/>
                        </a:rPr>
                        <a:t>forms.DecimalField</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&lt;input type="number" ...&gt;</a:t>
                      </a:r>
                    </a:p>
                  </a:txBody>
                  <a:tcPr/>
                </a:tc>
                <a:tc>
                  <a:txBody>
                    <a:bodyPr/>
                    <a:lstStyle/>
                    <a:p>
                      <a:pPr algn="l"/>
                      <a:r>
                        <a:rPr lang="en-US" sz="1400" dirty="0" err="1">
                          <a:latin typeface="Times New Roman" panose="02020603050405020304" pitchFamily="18" charset="0"/>
                          <a:cs typeface="Times New Roman" panose="02020603050405020304" pitchFamily="18" charset="0"/>
                        </a:rPr>
                        <a:t>forms.widgets.NumberInput</a:t>
                      </a:r>
                      <a:r>
                        <a:rPr lang="en-US" sz="1400" dirty="0">
                          <a:latin typeface="Times New Roman" panose="02020603050405020304" pitchFamily="18" charset="0"/>
                          <a:cs typeface="Times New Roman" panose="02020603050405020304" pitchFamily="18" charset="0"/>
                        </a:rPr>
                        <a:t>()</a:t>
                      </a:r>
                    </a:p>
                  </a:txBody>
                  <a:tcPr/>
                </a:tc>
                <a:tc>
                  <a:txBody>
                    <a:bodyPr/>
                    <a:lstStyle/>
                    <a:p>
                      <a:pPr algn="l"/>
                      <a:r>
                        <a:rPr lang="en-US" sz="1400" dirty="0">
                          <a:latin typeface="Times New Roman" panose="02020603050405020304" pitchFamily="18" charset="0"/>
                          <a:cs typeface="Times New Roman" panose="02020603050405020304" pitchFamily="18" charset="0"/>
                        </a:rPr>
                        <a:t>supports HTML5. If a browser doesn’t support HTML5 then it treats this markup as a regular text input. Django server-side form validation is done for a decimal number irrespective of HTML5 support.</a:t>
                      </a:r>
                    </a:p>
                  </a:txBody>
                  <a:tcPr/>
                </a:tc>
                <a:extLst>
                  <a:ext uri="{0D108BD9-81ED-4DB2-BD59-A6C34878D82A}">
                    <a16:rowId xmlns:a16="http://schemas.microsoft.com/office/drawing/2014/main" val="878750101"/>
                  </a:ext>
                </a:extLst>
              </a:tr>
            </a:tbl>
          </a:graphicData>
        </a:graphic>
      </p:graphicFrame>
      <p:sp>
        <p:nvSpPr>
          <p:cNvPr id="5" name="Title 1">
            <a:extLst>
              <a:ext uri="{FF2B5EF4-FFF2-40B4-BE49-F238E27FC236}">
                <a16:creationId xmlns:a16="http://schemas.microsoft.com/office/drawing/2014/main" id="{80F24937-EC96-15A2-4B9B-BF25EE6712A6}"/>
              </a:ext>
            </a:extLst>
          </p:cNvPr>
          <p:cNvSpPr txBox="1">
            <a:spLocks/>
          </p:cNvSpPr>
          <p:nvPr/>
        </p:nvSpPr>
        <p:spPr>
          <a:xfrm>
            <a:off x="388372" y="730911"/>
            <a:ext cx="10515600" cy="64757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Django Form Field Widget</a:t>
            </a:r>
          </a:p>
        </p:txBody>
      </p:sp>
      <p:sp>
        <p:nvSpPr>
          <p:cNvPr id="2" name="Slide Number Placeholder 1">
            <a:extLst>
              <a:ext uri="{FF2B5EF4-FFF2-40B4-BE49-F238E27FC236}">
                <a16:creationId xmlns:a16="http://schemas.microsoft.com/office/drawing/2014/main" id="{222F88B0-7FDA-29DC-53D3-8DBAC7A43854}"/>
              </a:ext>
            </a:extLst>
          </p:cNvPr>
          <p:cNvSpPr>
            <a:spLocks noGrp="1"/>
          </p:cNvSpPr>
          <p:nvPr>
            <p:ph type="sldNum" sz="quarter" idx="12"/>
          </p:nvPr>
        </p:nvSpPr>
        <p:spPr/>
        <p:txBody>
          <a:bodyPr/>
          <a:lstStyle/>
          <a:p>
            <a:fld id="{EC47AAD7-037B-4BD0-8FE6-944FB61E3E6F}" type="slidenum">
              <a:rPr lang="en-US" smtClean="0"/>
              <a:t>23</a:t>
            </a:fld>
            <a:endParaRPr lang="en-US"/>
          </a:p>
        </p:txBody>
      </p:sp>
    </p:spTree>
    <p:extLst>
      <p:ext uri="{BB962C8B-B14F-4D97-AF65-F5344CB8AC3E}">
        <p14:creationId xmlns:p14="http://schemas.microsoft.com/office/powerpoint/2010/main" val="2694903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838199" y="296324"/>
            <a:ext cx="10515600" cy="9977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Django Form Widget - Example (1)</a:t>
            </a:r>
            <a:endParaRPr lang="en-US" sz="4000" dirty="0">
              <a:latin typeface="Consolas" panose="020B0609020204030204" pitchFamily="49" charset="0"/>
            </a:endParaRPr>
          </a:p>
        </p:txBody>
      </p:sp>
      <p:sp>
        <p:nvSpPr>
          <p:cNvPr id="9" name="Content Placeholder 2">
            <a:extLst>
              <a:ext uri="{FF2B5EF4-FFF2-40B4-BE49-F238E27FC236}">
                <a16:creationId xmlns:a16="http://schemas.microsoft.com/office/drawing/2014/main" id="{D51090E8-327C-7DA1-3F29-0375FA2DF512}"/>
              </a:ext>
            </a:extLst>
          </p:cNvPr>
          <p:cNvSpPr txBox="1">
            <a:spLocks/>
          </p:cNvSpPr>
          <p:nvPr/>
        </p:nvSpPr>
        <p:spPr>
          <a:xfrm>
            <a:off x="838200" y="1326687"/>
            <a:ext cx="10115803" cy="3146459"/>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3DCAF2D9-9CF7-BF3E-E4B5-4A7AF2F63079}"/>
              </a:ext>
            </a:extLst>
          </p:cNvPr>
          <p:cNvSpPr txBox="1"/>
          <p:nvPr/>
        </p:nvSpPr>
        <p:spPr>
          <a:xfrm>
            <a:off x="970903" y="1437900"/>
            <a:ext cx="9850395" cy="2812886"/>
          </a:xfrm>
          <a:prstGeom prst="rect">
            <a:avLst/>
          </a:prstGeom>
          <a:noFill/>
        </p:spPr>
        <p:txBody>
          <a:bodyPr wrap="square">
            <a:spAutoFit/>
          </a:bodyPr>
          <a:lstStyle/>
          <a:p>
            <a:pPr>
              <a:lnSpc>
                <a:spcPct val="150000"/>
              </a:lnSpc>
            </a:pPr>
            <a:r>
              <a:rPr lang="en-US" sz="2000" dirty="0">
                <a:solidFill>
                  <a:schemeClr val="accent2"/>
                </a:solidFill>
                <a:effectLst/>
                <a:latin typeface="Consolas" panose="020B0609020204030204" pitchFamily="49" charset="0"/>
              </a:rPr>
              <a:t>class</a:t>
            </a:r>
            <a:r>
              <a:rPr lang="en-US" sz="2000" dirty="0">
                <a:effectLst/>
                <a:latin typeface="Consolas" panose="020B0609020204030204" pitchFamily="49" charset="0"/>
              </a:rPr>
              <a:t> Registration(</a:t>
            </a:r>
            <a:r>
              <a:rPr lang="en-US" sz="2000" dirty="0" err="1">
                <a:effectLst/>
                <a:latin typeface="Consolas" panose="020B0609020204030204" pitchFamily="49" charset="0"/>
              </a:rPr>
              <a:t>forms.Form</a:t>
            </a:r>
            <a:r>
              <a:rPr lang="en-US" sz="2000" dirty="0">
                <a:effectLst/>
                <a:latin typeface="Consolas" panose="020B0609020204030204" pitchFamily="49" charset="0"/>
              </a:rPr>
              <a:t>):</a:t>
            </a:r>
            <a:br>
              <a:rPr lang="en-US" sz="2000" dirty="0">
                <a:effectLst/>
                <a:latin typeface="Consolas" panose="020B0609020204030204" pitchFamily="49" charset="0"/>
              </a:rPr>
            </a:br>
            <a:r>
              <a:rPr lang="en-US" sz="2000" dirty="0">
                <a:effectLst/>
                <a:latin typeface="Consolas" panose="020B0609020204030204" pitchFamily="49" charset="0"/>
              </a:rPr>
              <a:t>    username = </a:t>
            </a:r>
            <a:r>
              <a:rPr lang="en-US" sz="2000" dirty="0" err="1">
                <a:effectLst/>
                <a:latin typeface="Consolas" panose="020B0609020204030204" pitchFamily="49" charset="0"/>
              </a:rPr>
              <a:t>forms.CharField</a:t>
            </a:r>
            <a:r>
              <a:rPr lang="en-US" sz="2000" dirty="0">
                <a:effectLst/>
                <a:latin typeface="Consolas" panose="020B0609020204030204" pitchFamily="49" charset="0"/>
              </a:rPr>
              <a:t>()</a:t>
            </a:r>
            <a:br>
              <a:rPr lang="en-US" sz="2000" dirty="0">
                <a:effectLst/>
                <a:latin typeface="Consolas" panose="020B0609020204030204" pitchFamily="49" charset="0"/>
              </a:rPr>
            </a:br>
            <a:r>
              <a:rPr lang="en-US" sz="2000" dirty="0">
                <a:effectLst/>
                <a:latin typeface="Consolas" panose="020B0609020204030204" pitchFamily="49" charset="0"/>
              </a:rPr>
              <a:t>    password = </a:t>
            </a:r>
            <a:r>
              <a:rPr lang="en-US" sz="2000" dirty="0" err="1">
                <a:effectLst/>
                <a:latin typeface="Consolas" panose="020B0609020204030204" pitchFamily="49" charset="0"/>
              </a:rPr>
              <a:t>forms.CharField</a:t>
            </a:r>
            <a:r>
              <a:rPr lang="en-US" sz="2000" dirty="0">
                <a:effectLst/>
                <a:latin typeface="Consolas" panose="020B0609020204030204" pitchFamily="49" charset="0"/>
              </a:rPr>
              <a:t>(</a:t>
            </a:r>
            <a:r>
              <a:rPr lang="en-US" sz="2000" dirty="0">
                <a:solidFill>
                  <a:schemeClr val="accent2"/>
                </a:solidFill>
                <a:effectLst/>
                <a:latin typeface="Consolas" panose="020B0609020204030204" pitchFamily="49" charset="0"/>
              </a:rPr>
              <a:t>widget</a:t>
            </a:r>
            <a:r>
              <a:rPr lang="en-US" sz="2000" dirty="0">
                <a:effectLst/>
                <a:latin typeface="Consolas" panose="020B0609020204030204" pitchFamily="49" charset="0"/>
              </a:rPr>
              <a:t>=</a:t>
            </a:r>
            <a:r>
              <a:rPr lang="en-US" sz="2000" dirty="0" err="1">
                <a:effectLst/>
                <a:latin typeface="Consolas" panose="020B0609020204030204" pitchFamily="49" charset="0"/>
              </a:rPr>
              <a:t>forms.PasswordInput</a:t>
            </a:r>
            <a:r>
              <a:rPr lang="en-US" sz="2000" dirty="0">
                <a:effectLst/>
                <a:latin typeface="Consolas" panose="020B0609020204030204" pitchFamily="49" charset="0"/>
              </a:rPr>
              <a:t>())</a:t>
            </a:r>
            <a:br>
              <a:rPr lang="en-US" sz="2000" dirty="0">
                <a:effectLst/>
                <a:latin typeface="Consolas" panose="020B0609020204030204" pitchFamily="49" charset="0"/>
              </a:rPr>
            </a:br>
            <a:r>
              <a:rPr lang="en-US" sz="2000" dirty="0">
                <a:effectLst/>
                <a:latin typeface="Consolas" panose="020B0609020204030204" pitchFamily="49" charset="0"/>
              </a:rPr>
              <a:t>    </a:t>
            </a:r>
            <a:r>
              <a:rPr lang="en-US" sz="2000" dirty="0" err="1">
                <a:effectLst/>
                <a:latin typeface="Consolas" panose="020B0609020204030204" pitchFamily="49" charset="0"/>
              </a:rPr>
              <a:t>confirm_password</a:t>
            </a:r>
            <a:r>
              <a:rPr lang="en-US" sz="2000" dirty="0">
                <a:effectLst/>
                <a:latin typeface="Consolas" panose="020B0609020204030204" pitchFamily="49" charset="0"/>
              </a:rPr>
              <a:t> = </a:t>
            </a:r>
            <a:r>
              <a:rPr lang="en-US" sz="2000" dirty="0" err="1">
                <a:effectLst/>
                <a:latin typeface="Consolas" panose="020B0609020204030204" pitchFamily="49" charset="0"/>
              </a:rPr>
              <a:t>forms.CharField</a:t>
            </a:r>
            <a:r>
              <a:rPr lang="en-US" sz="2000" dirty="0">
                <a:effectLst/>
                <a:latin typeface="Consolas" panose="020B0609020204030204" pitchFamily="49" charset="0"/>
              </a:rPr>
              <a:t>(</a:t>
            </a:r>
            <a:r>
              <a:rPr lang="en-US" sz="2000" dirty="0">
                <a:solidFill>
                  <a:schemeClr val="accent2"/>
                </a:solidFill>
                <a:effectLst/>
                <a:latin typeface="Consolas" panose="020B0609020204030204" pitchFamily="49" charset="0"/>
              </a:rPr>
              <a:t>widget</a:t>
            </a:r>
            <a:r>
              <a:rPr lang="en-US" sz="2000" dirty="0">
                <a:effectLst/>
                <a:latin typeface="Consolas" panose="020B0609020204030204" pitchFamily="49" charset="0"/>
              </a:rPr>
              <a:t>=</a:t>
            </a:r>
            <a:r>
              <a:rPr lang="en-US" sz="2000" dirty="0" err="1">
                <a:effectLst/>
                <a:latin typeface="Consolas" panose="020B0609020204030204" pitchFamily="49" charset="0"/>
              </a:rPr>
              <a:t>forms.PasswordInput</a:t>
            </a:r>
            <a:r>
              <a:rPr lang="en-US" sz="2000" dirty="0">
                <a:effectLst/>
                <a:latin typeface="Consolas" panose="020B0609020204030204" pitchFamily="49" charset="0"/>
              </a:rPr>
              <a:t>())</a:t>
            </a:r>
            <a:br>
              <a:rPr lang="en-US" sz="2000" dirty="0">
                <a:effectLst/>
                <a:latin typeface="Consolas" panose="020B0609020204030204" pitchFamily="49" charset="0"/>
              </a:rPr>
            </a:br>
            <a:r>
              <a:rPr lang="en-US" sz="2000" dirty="0">
                <a:effectLst/>
                <a:latin typeface="Consolas" panose="020B0609020204030204" pitchFamily="49" charset="0"/>
              </a:rPr>
              <a:t>    email = </a:t>
            </a:r>
            <a:r>
              <a:rPr lang="en-US" sz="2000" dirty="0" err="1">
                <a:effectLst/>
                <a:latin typeface="Consolas" panose="020B0609020204030204" pitchFamily="49" charset="0"/>
              </a:rPr>
              <a:t>forms.EmailField</a:t>
            </a:r>
            <a:r>
              <a:rPr lang="en-US" sz="2000" dirty="0">
                <a:effectLst/>
                <a:latin typeface="Consolas" panose="020B0609020204030204" pitchFamily="49" charset="0"/>
              </a:rPr>
              <a:t>(</a:t>
            </a:r>
            <a:r>
              <a:rPr lang="en-US" sz="2000" dirty="0">
                <a:solidFill>
                  <a:schemeClr val="accent2"/>
                </a:solidFill>
                <a:effectLst/>
                <a:latin typeface="Consolas" panose="020B0609020204030204" pitchFamily="49" charset="0"/>
              </a:rPr>
              <a:t>label</a:t>
            </a:r>
            <a:r>
              <a:rPr lang="en-US" sz="2000" dirty="0">
                <a:effectLst/>
                <a:latin typeface="Consolas" panose="020B0609020204030204" pitchFamily="49" charset="0"/>
              </a:rPr>
              <a:t>=</a:t>
            </a:r>
            <a:r>
              <a:rPr lang="en-US" sz="2000" dirty="0">
                <a:solidFill>
                  <a:srgbClr val="00B050"/>
                </a:solidFill>
                <a:effectLst/>
                <a:latin typeface="Consolas" panose="020B0609020204030204" pitchFamily="49" charset="0"/>
              </a:rPr>
              <a:t>'Enter your Email'</a:t>
            </a:r>
            <a:r>
              <a:rPr lang="en-US" sz="2000" dirty="0">
                <a:effectLst/>
                <a:latin typeface="Consolas" panose="020B0609020204030204" pitchFamily="49" charset="0"/>
              </a:rPr>
              <a:t>)</a:t>
            </a:r>
            <a:br>
              <a:rPr lang="en-US" sz="2000" dirty="0">
                <a:effectLst/>
                <a:latin typeface="Consolas" panose="020B0609020204030204" pitchFamily="49" charset="0"/>
              </a:rPr>
            </a:br>
            <a:r>
              <a:rPr lang="en-US" sz="2000" dirty="0">
                <a:effectLst/>
                <a:latin typeface="Consolas" panose="020B0609020204030204" pitchFamily="49" charset="0"/>
              </a:rPr>
              <a:t>    agree = </a:t>
            </a:r>
            <a:r>
              <a:rPr lang="en-US" sz="2000" dirty="0" err="1">
                <a:effectLst/>
                <a:latin typeface="Consolas" panose="020B0609020204030204" pitchFamily="49" charset="0"/>
              </a:rPr>
              <a:t>forms.BooleanField</a:t>
            </a:r>
            <a:r>
              <a:rPr lang="en-US" sz="2000" dirty="0">
                <a:effectLst/>
                <a:latin typeface="Consolas" panose="020B0609020204030204" pitchFamily="49" charset="0"/>
              </a:rPr>
              <a:t>(</a:t>
            </a:r>
            <a:r>
              <a:rPr lang="en-US" sz="2000" dirty="0">
                <a:solidFill>
                  <a:schemeClr val="accent2"/>
                </a:solidFill>
                <a:effectLst/>
                <a:latin typeface="Consolas" panose="020B0609020204030204" pitchFamily="49" charset="0"/>
              </a:rPr>
              <a:t>label</a:t>
            </a:r>
            <a:r>
              <a:rPr lang="en-US" sz="2000" dirty="0">
                <a:effectLst/>
                <a:latin typeface="Consolas" panose="020B0609020204030204" pitchFamily="49" charset="0"/>
              </a:rPr>
              <a:t>=</a:t>
            </a:r>
            <a:r>
              <a:rPr lang="en-US" sz="2000" dirty="0">
                <a:solidFill>
                  <a:srgbClr val="00B050"/>
                </a:solidFill>
                <a:effectLst/>
                <a:latin typeface="Consolas" panose="020B0609020204030204" pitchFamily="49" charset="0"/>
              </a:rPr>
              <a:t>'I\'m Agree'</a:t>
            </a:r>
            <a:r>
              <a:rPr lang="en-US" sz="2000" dirty="0">
                <a:effectLst/>
                <a:latin typeface="Consolas" panose="020B0609020204030204" pitchFamily="49" charset="0"/>
              </a:rPr>
              <a:t>)</a:t>
            </a:r>
          </a:p>
        </p:txBody>
      </p:sp>
      <p:sp>
        <p:nvSpPr>
          <p:cNvPr id="3" name="Content Placeholder 2">
            <a:extLst>
              <a:ext uri="{FF2B5EF4-FFF2-40B4-BE49-F238E27FC236}">
                <a16:creationId xmlns:a16="http://schemas.microsoft.com/office/drawing/2014/main" id="{66519677-7FE7-78B0-C4C4-B95600BF19F3}"/>
              </a:ext>
            </a:extLst>
          </p:cNvPr>
          <p:cNvSpPr txBox="1">
            <a:spLocks/>
          </p:cNvSpPr>
          <p:nvPr/>
        </p:nvSpPr>
        <p:spPr>
          <a:xfrm>
            <a:off x="755817" y="4864041"/>
            <a:ext cx="9726827" cy="1435532"/>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4" name="TextBox 3">
            <a:extLst>
              <a:ext uri="{FF2B5EF4-FFF2-40B4-BE49-F238E27FC236}">
                <a16:creationId xmlns:a16="http://schemas.microsoft.com/office/drawing/2014/main" id="{99E8D3AE-95D6-15B4-EE60-2729FD1BA77B}"/>
              </a:ext>
            </a:extLst>
          </p:cNvPr>
          <p:cNvSpPr txBox="1"/>
          <p:nvPr/>
        </p:nvSpPr>
        <p:spPr>
          <a:xfrm>
            <a:off x="838199" y="5102030"/>
            <a:ext cx="9553833" cy="1323439"/>
          </a:xfrm>
          <a:prstGeom prst="rect">
            <a:avLst/>
          </a:prstGeom>
          <a:noFill/>
        </p:spPr>
        <p:txBody>
          <a:bodyPr wrap="square">
            <a:spAutoFit/>
          </a:bodyPr>
          <a:lstStyle/>
          <a:p>
            <a:r>
              <a:rPr lang="en-US" sz="2000" dirty="0">
                <a:solidFill>
                  <a:schemeClr val="accent2">
                    <a:lumMod val="75000"/>
                  </a:schemeClr>
                </a:solidFill>
                <a:effectLst/>
                <a:latin typeface="Consolas" panose="020B0609020204030204" pitchFamily="49" charset="0"/>
              </a:rPr>
              <a:t>def</a:t>
            </a:r>
            <a:r>
              <a:rPr lang="en-US" sz="2000" dirty="0">
                <a:effectLst/>
                <a:latin typeface="Consolas" panose="020B0609020204030204" pitchFamily="49" charset="0"/>
              </a:rPr>
              <a:t> </a:t>
            </a:r>
            <a:r>
              <a:rPr lang="en-US" sz="2000" dirty="0">
                <a:solidFill>
                  <a:srgbClr val="0070C0"/>
                </a:solidFill>
                <a:effectLst/>
                <a:latin typeface="Consolas" panose="020B0609020204030204" pitchFamily="49" charset="0"/>
              </a:rPr>
              <a:t>register</a:t>
            </a:r>
            <a:r>
              <a:rPr lang="en-US" sz="2000" dirty="0">
                <a:effectLst/>
                <a:latin typeface="Consolas" panose="020B0609020204030204" pitchFamily="49" charset="0"/>
              </a:rPr>
              <a:t>(request):</a:t>
            </a:r>
            <a:br>
              <a:rPr lang="en-US" sz="2000" dirty="0">
                <a:effectLst/>
                <a:latin typeface="Consolas" panose="020B0609020204030204" pitchFamily="49" charset="0"/>
              </a:rPr>
            </a:br>
            <a:r>
              <a:rPr lang="en-US" sz="2000" dirty="0">
                <a:effectLst/>
                <a:latin typeface="Consolas" panose="020B0609020204030204" pitchFamily="49" charset="0"/>
              </a:rPr>
              <a:t>    form = Registration(</a:t>
            </a:r>
            <a:r>
              <a:rPr lang="en-US" sz="2000" dirty="0" err="1">
                <a:effectLst/>
                <a:latin typeface="Consolas" panose="020B0609020204030204" pitchFamily="49" charset="0"/>
              </a:rPr>
              <a:t>request.POST</a:t>
            </a:r>
            <a:r>
              <a:rPr lang="en-US" sz="2000" dirty="0">
                <a:effectLst/>
                <a:latin typeface="Consolas" panose="020B0609020204030204" pitchFamily="49" charset="0"/>
              </a:rPr>
              <a:t> </a:t>
            </a:r>
            <a:r>
              <a:rPr lang="en-US" sz="2000" dirty="0">
                <a:solidFill>
                  <a:schemeClr val="accent2">
                    <a:lumMod val="75000"/>
                  </a:schemeClr>
                </a:solidFill>
                <a:effectLst/>
                <a:latin typeface="Consolas" panose="020B0609020204030204" pitchFamily="49" charset="0"/>
              </a:rPr>
              <a:t>or None</a:t>
            </a:r>
            <a:r>
              <a:rPr lang="en-US" sz="2000" dirty="0">
                <a:effectLst/>
                <a:latin typeface="Consolas" panose="020B0609020204030204" pitchFamily="49" charset="0"/>
              </a:rPr>
              <a:t>)</a:t>
            </a:r>
            <a:br>
              <a:rPr lang="en-US" sz="2000" dirty="0">
                <a:effectLst/>
                <a:latin typeface="Consolas" panose="020B0609020204030204" pitchFamily="49" charset="0"/>
              </a:rPr>
            </a:br>
            <a:r>
              <a:rPr lang="en-US" sz="2000" dirty="0">
                <a:effectLst/>
                <a:latin typeface="Consolas" panose="020B0609020204030204" pitchFamily="49" charset="0"/>
              </a:rPr>
              <a:t>    </a:t>
            </a:r>
            <a:r>
              <a:rPr lang="en-US" sz="2000" dirty="0">
                <a:solidFill>
                  <a:schemeClr val="accent2">
                    <a:lumMod val="75000"/>
                  </a:schemeClr>
                </a:solidFill>
                <a:effectLst/>
                <a:latin typeface="Consolas" panose="020B0609020204030204" pitchFamily="49" charset="0"/>
              </a:rPr>
              <a:t>return</a:t>
            </a:r>
            <a:r>
              <a:rPr lang="en-US" sz="2000" dirty="0">
                <a:effectLst/>
                <a:latin typeface="Consolas" panose="020B0609020204030204" pitchFamily="49" charset="0"/>
              </a:rPr>
              <a:t> render(request, </a:t>
            </a:r>
            <a:r>
              <a:rPr lang="en-US" sz="2000" dirty="0">
                <a:solidFill>
                  <a:srgbClr val="00B050"/>
                </a:solidFill>
                <a:effectLst/>
                <a:latin typeface="Consolas" panose="020B0609020204030204" pitchFamily="49" charset="0"/>
              </a:rPr>
              <a:t>'registration.html'</a:t>
            </a:r>
            <a:r>
              <a:rPr lang="en-US" sz="2000" dirty="0">
                <a:effectLst/>
                <a:latin typeface="Consolas" panose="020B0609020204030204" pitchFamily="49" charset="0"/>
              </a:rPr>
              <a:t>, {</a:t>
            </a:r>
            <a:r>
              <a:rPr lang="en-US" sz="2000" dirty="0">
                <a:solidFill>
                  <a:srgbClr val="00B050"/>
                </a:solidFill>
                <a:effectLst/>
                <a:latin typeface="Consolas" panose="020B0609020204030204" pitchFamily="49" charset="0"/>
              </a:rPr>
              <a:t>'form'</a:t>
            </a:r>
            <a:r>
              <a:rPr lang="en-US" sz="2000" dirty="0">
                <a:effectLst/>
                <a:latin typeface="Consolas" panose="020B0609020204030204" pitchFamily="49" charset="0"/>
              </a:rPr>
              <a:t>: form})</a:t>
            </a:r>
            <a:br>
              <a:rPr lang="en-US" sz="2000" dirty="0">
                <a:effectLst/>
                <a:latin typeface="Consolas" panose="020B0609020204030204" pitchFamily="49" charset="0"/>
              </a:rPr>
            </a:br>
            <a:endParaRPr lang="en-US" sz="2000" dirty="0">
              <a:effectLst/>
              <a:latin typeface="Consolas" panose="020B0609020204030204" pitchFamily="49" charset="0"/>
            </a:endParaRPr>
          </a:p>
        </p:txBody>
      </p:sp>
      <p:sp>
        <p:nvSpPr>
          <p:cNvPr id="5" name="TextBox 4">
            <a:extLst>
              <a:ext uri="{FF2B5EF4-FFF2-40B4-BE49-F238E27FC236}">
                <a16:creationId xmlns:a16="http://schemas.microsoft.com/office/drawing/2014/main" id="{92ED120E-F863-8A67-3260-D3B9E2598C71}"/>
              </a:ext>
            </a:extLst>
          </p:cNvPr>
          <p:cNvSpPr txBox="1"/>
          <p:nvPr/>
        </p:nvSpPr>
        <p:spPr>
          <a:xfrm>
            <a:off x="9253150" y="846372"/>
            <a:ext cx="2100649" cy="430887"/>
          </a:xfrm>
          <a:prstGeom prst="rect">
            <a:avLst/>
          </a:prstGeom>
          <a:noFill/>
        </p:spPr>
        <p:txBody>
          <a:bodyPr wrap="square" rtlCol="0">
            <a:spAutoFit/>
          </a:bodyPr>
          <a:lstStyle/>
          <a:p>
            <a:pPr algn="ctr"/>
            <a:r>
              <a:rPr lang="en-US" sz="2200" b="1" dirty="0"/>
              <a:t>forms.py</a:t>
            </a:r>
          </a:p>
        </p:txBody>
      </p:sp>
      <p:sp>
        <p:nvSpPr>
          <p:cNvPr id="6" name="TextBox 5">
            <a:extLst>
              <a:ext uri="{FF2B5EF4-FFF2-40B4-BE49-F238E27FC236}">
                <a16:creationId xmlns:a16="http://schemas.microsoft.com/office/drawing/2014/main" id="{838B88C5-52E1-7EB9-9A59-5A5E24C8773F}"/>
              </a:ext>
            </a:extLst>
          </p:cNvPr>
          <p:cNvSpPr txBox="1"/>
          <p:nvPr/>
        </p:nvSpPr>
        <p:spPr>
          <a:xfrm>
            <a:off x="10365259" y="5092135"/>
            <a:ext cx="1573427" cy="430887"/>
          </a:xfrm>
          <a:prstGeom prst="rect">
            <a:avLst/>
          </a:prstGeom>
          <a:noFill/>
        </p:spPr>
        <p:txBody>
          <a:bodyPr wrap="square" rtlCol="0">
            <a:spAutoFit/>
          </a:bodyPr>
          <a:lstStyle/>
          <a:p>
            <a:pPr algn="ctr"/>
            <a:r>
              <a:rPr lang="en-US" sz="2200" b="1" dirty="0"/>
              <a:t>views.py</a:t>
            </a:r>
          </a:p>
        </p:txBody>
      </p:sp>
      <p:sp>
        <p:nvSpPr>
          <p:cNvPr id="7" name="Slide Number Placeholder 6">
            <a:extLst>
              <a:ext uri="{FF2B5EF4-FFF2-40B4-BE49-F238E27FC236}">
                <a16:creationId xmlns:a16="http://schemas.microsoft.com/office/drawing/2014/main" id="{BD2BC78D-ADDA-0271-D5E0-08204952ED77}"/>
              </a:ext>
            </a:extLst>
          </p:cNvPr>
          <p:cNvSpPr>
            <a:spLocks noGrp="1"/>
          </p:cNvSpPr>
          <p:nvPr>
            <p:ph type="sldNum" sz="quarter" idx="12"/>
          </p:nvPr>
        </p:nvSpPr>
        <p:spPr/>
        <p:txBody>
          <a:bodyPr/>
          <a:lstStyle/>
          <a:p>
            <a:fld id="{EC47AAD7-037B-4BD0-8FE6-944FB61E3E6F}" type="slidenum">
              <a:rPr lang="en-US" smtClean="0"/>
              <a:t>24</a:t>
            </a:fld>
            <a:endParaRPr lang="en-US"/>
          </a:p>
        </p:txBody>
      </p:sp>
    </p:spTree>
    <p:extLst>
      <p:ext uri="{BB962C8B-B14F-4D97-AF65-F5344CB8AC3E}">
        <p14:creationId xmlns:p14="http://schemas.microsoft.com/office/powerpoint/2010/main" val="3621286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C9DC3-E9BF-C616-5548-58193EA34080}"/>
              </a:ext>
            </a:extLst>
          </p:cNvPr>
          <p:cNvSpPr txBox="1">
            <a:spLocks/>
          </p:cNvSpPr>
          <p:nvPr/>
        </p:nvSpPr>
        <p:spPr>
          <a:xfrm>
            <a:off x="516923" y="307836"/>
            <a:ext cx="10515600" cy="9977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Example (2)</a:t>
            </a:r>
            <a:endParaRPr lang="en-US" sz="4000" dirty="0">
              <a:latin typeface="Consolas" panose="020B0609020204030204" pitchFamily="49" charset="0"/>
            </a:endParaRPr>
          </a:p>
        </p:txBody>
      </p:sp>
      <p:sp>
        <p:nvSpPr>
          <p:cNvPr id="9" name="Content Placeholder 2">
            <a:extLst>
              <a:ext uri="{FF2B5EF4-FFF2-40B4-BE49-F238E27FC236}">
                <a16:creationId xmlns:a16="http://schemas.microsoft.com/office/drawing/2014/main" id="{D51090E8-327C-7DA1-3F29-0375FA2DF512}"/>
              </a:ext>
            </a:extLst>
          </p:cNvPr>
          <p:cNvSpPr txBox="1">
            <a:spLocks/>
          </p:cNvSpPr>
          <p:nvPr/>
        </p:nvSpPr>
        <p:spPr>
          <a:xfrm>
            <a:off x="282144" y="1333904"/>
            <a:ext cx="10115803" cy="2298574"/>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3DCAF2D9-9CF7-BF3E-E4B5-4A7AF2F63079}"/>
              </a:ext>
            </a:extLst>
          </p:cNvPr>
          <p:cNvSpPr txBox="1"/>
          <p:nvPr/>
        </p:nvSpPr>
        <p:spPr>
          <a:xfrm>
            <a:off x="849525" y="1381981"/>
            <a:ext cx="9443653" cy="2031325"/>
          </a:xfrm>
          <a:prstGeom prst="rect">
            <a:avLst/>
          </a:prstGeom>
          <a:noFill/>
        </p:spPr>
        <p:txBody>
          <a:bodyPr wrap="square">
            <a:spAutoFit/>
          </a:bodyPr>
          <a:lstStyle/>
          <a:p>
            <a:r>
              <a:rPr lang="en-US" sz="1800" dirty="0">
                <a:effectLst/>
                <a:latin typeface="Consolas" panose="020B0609020204030204" pitchFamily="49" charset="0"/>
              </a:rPr>
              <a:t>BIRTH_YEAR_CHOICES = [</a:t>
            </a:r>
            <a:r>
              <a:rPr lang="en-US" sz="1800" dirty="0">
                <a:solidFill>
                  <a:srgbClr val="6AAB73"/>
                </a:solidFill>
                <a:effectLst/>
                <a:latin typeface="Consolas" panose="020B0609020204030204" pitchFamily="49" charset="0"/>
              </a:rPr>
              <a:t>"1980"</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"1981"</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"1982", "1983"</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"1984"</a:t>
            </a:r>
            <a:r>
              <a:rPr lang="en-US" sz="1800" dirty="0">
                <a:effectLst/>
                <a:latin typeface="Consolas" panose="020B0609020204030204" pitchFamily="49" charset="0"/>
              </a:rPr>
              <a:t>]</a:t>
            </a:r>
            <a:br>
              <a:rPr lang="en-US" sz="1800" dirty="0">
                <a:solidFill>
                  <a:srgbClr val="BCBEC4"/>
                </a:solidFill>
                <a:effectLst/>
                <a:latin typeface="Consolas" panose="020B0609020204030204" pitchFamily="49" charset="0"/>
              </a:rPr>
            </a:br>
            <a:r>
              <a:rPr lang="en-US" sz="1800" dirty="0">
                <a:effectLst/>
                <a:latin typeface="Consolas" panose="020B0609020204030204" pitchFamily="49" charset="0"/>
              </a:rPr>
              <a:t>FAVORITE_COLORS_CHOICES = [</a:t>
            </a:r>
            <a:br>
              <a:rPr lang="en-US" sz="1800" dirty="0">
                <a:solidFill>
                  <a:srgbClr val="BCBEC4"/>
                </a:solidFill>
                <a:effectLst/>
                <a:latin typeface="Consolas" panose="020B0609020204030204" pitchFamily="49" charset="0"/>
              </a:rPr>
            </a:br>
            <a:r>
              <a:rPr lang="en-US" sz="1800" dirty="0">
                <a:solidFill>
                  <a:srgbClr val="BCBEC4"/>
                </a:solidFill>
                <a:effectLst/>
                <a:latin typeface="Consolas" panose="020B0609020204030204" pitchFamily="49" charset="0"/>
              </a:rPr>
              <a:t>    </a:t>
            </a:r>
            <a:r>
              <a:rPr lang="en-US" sz="1800" dirty="0">
                <a:effectLst/>
                <a:latin typeface="Consolas" panose="020B0609020204030204" pitchFamily="49" charset="0"/>
              </a:rPr>
              <a:t>(</a:t>
            </a:r>
            <a:r>
              <a:rPr lang="en-US" sz="1800" dirty="0">
                <a:solidFill>
                  <a:srgbClr val="6AAB73"/>
                </a:solidFill>
                <a:effectLst/>
                <a:latin typeface="Consolas" panose="020B0609020204030204" pitchFamily="49" charset="0"/>
              </a:rPr>
              <a:t>"blue"</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"Blue"</a:t>
            </a:r>
            <a:r>
              <a:rPr lang="en-US" sz="1800" dirty="0">
                <a:effectLst/>
                <a:latin typeface="Consolas" panose="020B0609020204030204" pitchFamily="49" charset="0"/>
              </a:rPr>
              <a:t>),</a:t>
            </a:r>
            <a:br>
              <a:rPr lang="en-US" sz="1800" dirty="0">
                <a:solidFill>
                  <a:srgbClr val="BCBEC4"/>
                </a:solidFill>
                <a:effectLst/>
                <a:latin typeface="Consolas" panose="020B0609020204030204" pitchFamily="49" charset="0"/>
              </a:rPr>
            </a:br>
            <a:r>
              <a:rPr lang="en-US" sz="1800" dirty="0">
                <a:solidFill>
                  <a:srgbClr val="BCBEC4"/>
                </a:solidFill>
                <a:effectLst/>
                <a:latin typeface="Consolas" panose="020B0609020204030204" pitchFamily="49" charset="0"/>
              </a:rPr>
              <a:t>    </a:t>
            </a:r>
            <a:r>
              <a:rPr lang="en-US" sz="1800" dirty="0">
                <a:effectLst/>
                <a:latin typeface="Consolas" panose="020B0609020204030204" pitchFamily="49" charset="0"/>
              </a:rPr>
              <a:t>(</a:t>
            </a:r>
            <a:r>
              <a:rPr lang="en-US" sz="1800" dirty="0">
                <a:solidFill>
                  <a:srgbClr val="6AAB73"/>
                </a:solidFill>
                <a:effectLst/>
                <a:latin typeface="Consolas" panose="020B0609020204030204" pitchFamily="49" charset="0"/>
              </a:rPr>
              <a:t>"green"</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"Green"</a:t>
            </a:r>
            <a:r>
              <a:rPr lang="en-US" sz="1800" dirty="0">
                <a:effectLst/>
                <a:latin typeface="Consolas" panose="020B0609020204030204" pitchFamily="49" charset="0"/>
              </a:rPr>
              <a:t>),</a:t>
            </a:r>
            <a:br>
              <a:rPr lang="en-US" sz="1800" dirty="0">
                <a:solidFill>
                  <a:srgbClr val="BCBEC4"/>
                </a:solidFill>
                <a:effectLst/>
                <a:latin typeface="Consolas" panose="020B0609020204030204" pitchFamily="49" charset="0"/>
              </a:rPr>
            </a:br>
            <a:r>
              <a:rPr lang="en-US" sz="1800" dirty="0">
                <a:solidFill>
                  <a:srgbClr val="BCBEC4"/>
                </a:solidFill>
                <a:effectLst/>
                <a:latin typeface="Consolas" panose="020B0609020204030204" pitchFamily="49" charset="0"/>
              </a:rPr>
              <a:t>    </a:t>
            </a:r>
            <a:r>
              <a:rPr lang="en-US" sz="1800" dirty="0">
                <a:effectLst/>
                <a:latin typeface="Consolas" panose="020B0609020204030204" pitchFamily="49" charset="0"/>
              </a:rPr>
              <a:t>(</a:t>
            </a:r>
            <a:r>
              <a:rPr lang="en-US" sz="1800" dirty="0">
                <a:solidFill>
                  <a:srgbClr val="6AAB73"/>
                </a:solidFill>
                <a:effectLst/>
                <a:latin typeface="Consolas" panose="020B0609020204030204" pitchFamily="49" charset="0"/>
              </a:rPr>
              <a:t>"black"</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"Black"</a:t>
            </a:r>
            <a:r>
              <a:rPr lang="en-US" sz="1800" dirty="0">
                <a:effectLst/>
                <a:latin typeface="Consolas" panose="020B0609020204030204" pitchFamily="49" charset="0"/>
              </a:rPr>
              <a:t>),</a:t>
            </a:r>
          </a:p>
          <a:p>
            <a:r>
              <a:rPr lang="en-US" sz="1800" dirty="0">
                <a:effectLst/>
                <a:latin typeface="Consolas" panose="020B0609020204030204" pitchFamily="49" charset="0"/>
              </a:rPr>
              <a:t>]</a:t>
            </a:r>
          </a:p>
          <a:p>
            <a:r>
              <a:rPr lang="en-US" sz="1800" dirty="0">
                <a:effectLst/>
                <a:latin typeface="Consolas" panose="020B0609020204030204" pitchFamily="49" charset="0"/>
              </a:rPr>
              <a:t>CHOICES = [(</a:t>
            </a:r>
            <a:r>
              <a:rPr lang="en-US" sz="1800" dirty="0">
                <a:solidFill>
                  <a:srgbClr val="6AAB73"/>
                </a:solidFill>
                <a:effectLst/>
                <a:latin typeface="Consolas" panose="020B0609020204030204" pitchFamily="49" charset="0"/>
              </a:rPr>
              <a:t>"1"</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"First"</a:t>
            </a:r>
            <a:r>
              <a:rPr lang="en-US" sz="1800" dirty="0">
                <a:effectLst/>
                <a:latin typeface="Consolas" panose="020B0609020204030204" pitchFamily="49" charset="0"/>
              </a:rPr>
              <a:t>), (</a:t>
            </a:r>
            <a:r>
              <a:rPr lang="en-US" sz="1800" dirty="0">
                <a:solidFill>
                  <a:srgbClr val="6AAB73"/>
                </a:solidFill>
                <a:effectLst/>
                <a:latin typeface="Consolas" panose="020B0609020204030204" pitchFamily="49" charset="0"/>
              </a:rPr>
              <a:t>"2"</a:t>
            </a:r>
            <a:r>
              <a:rPr lang="en-US" sz="1800" dirty="0">
                <a:effectLst/>
                <a:latin typeface="Consolas" panose="020B0609020204030204" pitchFamily="49" charset="0"/>
              </a:rPr>
              <a:t>,</a:t>
            </a:r>
            <a:r>
              <a:rPr lang="en-US" sz="1800" dirty="0">
                <a:solidFill>
                  <a:srgbClr val="BCBEC4"/>
                </a:solidFill>
                <a:effectLst/>
                <a:latin typeface="Consolas" panose="020B0609020204030204" pitchFamily="49" charset="0"/>
              </a:rPr>
              <a:t> </a:t>
            </a:r>
            <a:r>
              <a:rPr lang="en-US" sz="1800" dirty="0">
                <a:solidFill>
                  <a:srgbClr val="6AAB73"/>
                </a:solidFill>
                <a:effectLst/>
                <a:latin typeface="Consolas" panose="020B0609020204030204" pitchFamily="49" charset="0"/>
              </a:rPr>
              <a:t>"Second"</a:t>
            </a:r>
            <a:r>
              <a:rPr lang="en-US" sz="1800" dirty="0">
                <a:effectLst/>
                <a:latin typeface="Consolas" panose="020B0609020204030204" pitchFamily="49" charset="0"/>
              </a:rPr>
              <a:t>)]</a:t>
            </a:r>
          </a:p>
        </p:txBody>
      </p:sp>
      <p:sp>
        <p:nvSpPr>
          <p:cNvPr id="3" name="Content Placeholder 2">
            <a:extLst>
              <a:ext uri="{FF2B5EF4-FFF2-40B4-BE49-F238E27FC236}">
                <a16:creationId xmlns:a16="http://schemas.microsoft.com/office/drawing/2014/main" id="{66519677-7FE7-78B0-C4C4-B95600BF19F3}"/>
              </a:ext>
            </a:extLst>
          </p:cNvPr>
          <p:cNvSpPr txBox="1">
            <a:spLocks/>
          </p:cNvSpPr>
          <p:nvPr/>
        </p:nvSpPr>
        <p:spPr>
          <a:xfrm>
            <a:off x="282144" y="3781168"/>
            <a:ext cx="11627712" cy="2834176"/>
          </a:xfrm>
          <a:prstGeom prst="rect">
            <a:avLst/>
          </a:prstGeom>
          <a:ln>
            <a:solidFill>
              <a:schemeClr val="accent1"/>
            </a:solidFill>
          </a:ln>
        </p:spPr>
        <p:txBody>
          <a:bodyPr vert="horz" lIns="274320" tIns="45720" rIns="18288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endParaRPr lang="en-US" sz="1600" b="0" i="0" u="none" strike="noStrike" baseline="0" dirty="0">
              <a:solidFill>
                <a:srgbClr val="000000"/>
              </a:solidFill>
              <a:latin typeface="Consolas" panose="020B0609020204030204" pitchFamily="49" charset="0"/>
            </a:endParaRPr>
          </a:p>
        </p:txBody>
      </p:sp>
      <p:sp>
        <p:nvSpPr>
          <p:cNvPr id="4" name="TextBox 3">
            <a:extLst>
              <a:ext uri="{FF2B5EF4-FFF2-40B4-BE49-F238E27FC236}">
                <a16:creationId xmlns:a16="http://schemas.microsoft.com/office/drawing/2014/main" id="{99E8D3AE-95D6-15B4-EE60-2729FD1BA77B}"/>
              </a:ext>
            </a:extLst>
          </p:cNvPr>
          <p:cNvSpPr txBox="1"/>
          <p:nvPr/>
        </p:nvSpPr>
        <p:spPr>
          <a:xfrm>
            <a:off x="282144" y="3985167"/>
            <a:ext cx="11627712" cy="2516073"/>
          </a:xfrm>
          <a:prstGeom prst="rect">
            <a:avLst/>
          </a:prstGeom>
          <a:noFill/>
        </p:spPr>
        <p:txBody>
          <a:bodyPr wrap="square">
            <a:spAutoFit/>
          </a:bodyPr>
          <a:lstStyle/>
          <a:p>
            <a:r>
              <a:rPr lang="en-US" sz="1750" dirty="0">
                <a:solidFill>
                  <a:srgbClr val="CF8E6D"/>
                </a:solidFill>
                <a:effectLst/>
                <a:latin typeface="Consolas" panose="020B0609020204030204" pitchFamily="49" charset="0"/>
              </a:rPr>
              <a:t>class </a:t>
            </a:r>
            <a:r>
              <a:rPr lang="en-US" sz="1750" dirty="0" err="1">
                <a:effectLst/>
                <a:latin typeface="Consolas" panose="020B0609020204030204" pitchFamily="49" charset="0"/>
              </a:rPr>
              <a:t>SelectionForm</a:t>
            </a:r>
            <a:r>
              <a:rPr lang="en-US" sz="1750" dirty="0">
                <a:effectLst/>
                <a:latin typeface="Consolas" panose="020B0609020204030204" pitchFamily="49" charset="0"/>
              </a:rPr>
              <a:t>(</a:t>
            </a:r>
            <a:r>
              <a:rPr lang="en-US" sz="1750" dirty="0" err="1">
                <a:effectLst/>
                <a:latin typeface="Consolas" panose="020B0609020204030204" pitchFamily="49" charset="0"/>
              </a:rPr>
              <a:t>forms.Form</a:t>
            </a:r>
            <a:r>
              <a:rPr lang="en-US" sz="1750" dirty="0">
                <a:effectLst/>
                <a:latin typeface="Consolas" panose="020B0609020204030204" pitchFamily="49" charset="0"/>
              </a:rPr>
              <a:t>):</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r>
              <a:rPr lang="en-US" sz="1750" dirty="0" err="1">
                <a:effectLst/>
                <a:latin typeface="Consolas" panose="020B0609020204030204" pitchFamily="49" charset="0"/>
              </a:rPr>
              <a:t>date_of_birth</a:t>
            </a:r>
            <a:r>
              <a:rPr lang="en-US" sz="1750" dirty="0">
                <a:effectLst/>
                <a:latin typeface="Consolas" panose="020B0609020204030204" pitchFamily="49" charset="0"/>
              </a:rPr>
              <a:t> = </a:t>
            </a:r>
            <a:r>
              <a:rPr lang="en-US" sz="1750" dirty="0" err="1">
                <a:effectLst/>
                <a:latin typeface="Consolas" panose="020B0609020204030204" pitchFamily="49" charset="0"/>
              </a:rPr>
              <a:t>forms.DateField</a:t>
            </a:r>
            <a:r>
              <a:rPr lang="en-US" sz="1750" dirty="0">
                <a:effectLst/>
                <a:latin typeface="Consolas" panose="020B0609020204030204" pitchFamily="49" charset="0"/>
              </a:rPr>
              <a:t>(</a:t>
            </a:r>
            <a:r>
              <a:rPr lang="en-US" sz="1750" dirty="0">
                <a:solidFill>
                  <a:srgbClr val="AA4926"/>
                </a:solidFill>
                <a:effectLst/>
                <a:latin typeface="Consolas" panose="020B0609020204030204" pitchFamily="49" charset="0"/>
              </a:rPr>
              <a:t>widget</a:t>
            </a:r>
            <a:r>
              <a:rPr lang="en-US" sz="1750" dirty="0">
                <a:effectLst/>
                <a:latin typeface="Consolas" panose="020B0609020204030204" pitchFamily="49" charset="0"/>
              </a:rPr>
              <a:t>=</a:t>
            </a:r>
            <a:r>
              <a:rPr lang="en-US" sz="1750" dirty="0" err="1">
                <a:effectLst/>
                <a:latin typeface="Consolas" panose="020B0609020204030204" pitchFamily="49" charset="0"/>
              </a:rPr>
              <a:t>forms.SelectDateWidget</a:t>
            </a:r>
            <a:r>
              <a:rPr lang="en-US" sz="1750" dirty="0">
                <a:effectLst/>
                <a:latin typeface="Consolas" panose="020B0609020204030204" pitchFamily="49" charset="0"/>
              </a:rPr>
              <a:t>(</a:t>
            </a:r>
            <a:r>
              <a:rPr lang="en-US" sz="1750" dirty="0">
                <a:solidFill>
                  <a:srgbClr val="AA4926"/>
                </a:solidFill>
                <a:effectLst/>
                <a:latin typeface="Consolas" panose="020B0609020204030204" pitchFamily="49" charset="0"/>
              </a:rPr>
              <a:t>years</a:t>
            </a:r>
            <a:r>
              <a:rPr lang="en-US" sz="1750" dirty="0">
                <a:effectLst/>
                <a:latin typeface="Consolas" panose="020B0609020204030204" pitchFamily="49" charset="0"/>
              </a:rPr>
              <a:t>=BIRTH_YEAR_CHOICES))</a:t>
            </a:r>
            <a:br>
              <a:rPr lang="en-US" sz="1750" dirty="0">
                <a:effectLst/>
                <a:latin typeface="Consolas" panose="020B0609020204030204" pitchFamily="49" charset="0"/>
              </a:rPr>
            </a:br>
            <a:r>
              <a:rPr lang="en-US" sz="1750" dirty="0">
                <a:effectLst/>
                <a:latin typeface="Consolas" panose="020B0609020204030204" pitchFamily="49" charset="0"/>
              </a:rPr>
              <a:t>    </a:t>
            </a:r>
            <a:r>
              <a:rPr lang="en-US" sz="1750" dirty="0" err="1">
                <a:effectLst/>
                <a:latin typeface="Consolas" panose="020B0609020204030204" pitchFamily="49" charset="0"/>
              </a:rPr>
              <a:t>favorite_colors</a:t>
            </a:r>
            <a:r>
              <a:rPr lang="en-US" sz="1750" dirty="0">
                <a:effectLst/>
                <a:latin typeface="Consolas" panose="020B0609020204030204" pitchFamily="49" charset="0"/>
              </a:rPr>
              <a:t> = </a:t>
            </a:r>
            <a:r>
              <a:rPr lang="en-US" sz="1750" dirty="0" err="1">
                <a:effectLst/>
                <a:latin typeface="Consolas" panose="020B0609020204030204" pitchFamily="49" charset="0"/>
              </a:rPr>
              <a:t>forms.MultipleChoiceField</a:t>
            </a:r>
            <a:r>
              <a:rPr lang="en-US" sz="1750" dirty="0">
                <a:effectLst/>
                <a:latin typeface="Consolas" panose="020B0609020204030204" pitchFamily="49" charset="0"/>
              </a:rPr>
              <a:t>(</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r>
              <a:rPr lang="en-US" sz="1750" dirty="0">
                <a:solidFill>
                  <a:srgbClr val="AA4926"/>
                </a:solidFill>
                <a:effectLst/>
                <a:latin typeface="Consolas" panose="020B0609020204030204" pitchFamily="49" charset="0"/>
              </a:rPr>
              <a:t>required</a:t>
            </a:r>
            <a:r>
              <a:rPr lang="en-US" sz="1750" dirty="0">
                <a:effectLst/>
                <a:latin typeface="Consolas" panose="020B0609020204030204" pitchFamily="49" charset="0"/>
              </a:rPr>
              <a:t>=</a:t>
            </a:r>
            <a:r>
              <a:rPr lang="en-US" sz="1750" dirty="0">
                <a:solidFill>
                  <a:srgbClr val="CF8E6D"/>
                </a:solidFill>
                <a:effectLst/>
                <a:latin typeface="Consolas" panose="020B0609020204030204" pitchFamily="49" charset="0"/>
              </a:rPr>
              <a:t>False</a:t>
            </a:r>
            <a:r>
              <a:rPr lang="en-US" sz="1750" dirty="0">
                <a:solidFill>
                  <a:srgbClr val="BCBEC4"/>
                </a:solidFill>
                <a:effectLst/>
                <a:latin typeface="Consolas" panose="020B0609020204030204" pitchFamily="49" charset="0"/>
              </a:rPr>
              <a:t>,</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r>
              <a:rPr lang="en-US" sz="1750" dirty="0">
                <a:solidFill>
                  <a:srgbClr val="AA4926"/>
                </a:solidFill>
                <a:effectLst/>
                <a:latin typeface="Consolas" panose="020B0609020204030204" pitchFamily="49" charset="0"/>
              </a:rPr>
              <a:t>widget</a:t>
            </a:r>
            <a:r>
              <a:rPr lang="en-US" sz="1750" dirty="0">
                <a:effectLst/>
                <a:latin typeface="Consolas" panose="020B0609020204030204" pitchFamily="49" charset="0"/>
              </a:rPr>
              <a:t>=</a:t>
            </a:r>
            <a:r>
              <a:rPr lang="en-US" sz="1750" dirty="0" err="1">
                <a:effectLst/>
                <a:latin typeface="Consolas" panose="020B0609020204030204" pitchFamily="49" charset="0"/>
              </a:rPr>
              <a:t>forms.CheckboxSelectMultiple</a:t>
            </a:r>
            <a:r>
              <a:rPr lang="en-US" sz="1750" dirty="0">
                <a:effectLst/>
                <a:latin typeface="Consolas" panose="020B0609020204030204" pitchFamily="49" charset="0"/>
              </a:rPr>
              <a:t>,</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r>
              <a:rPr lang="en-US" sz="1750" dirty="0">
                <a:solidFill>
                  <a:srgbClr val="AA4926"/>
                </a:solidFill>
                <a:effectLst/>
                <a:latin typeface="Consolas" panose="020B0609020204030204" pitchFamily="49" charset="0"/>
              </a:rPr>
              <a:t>choices</a:t>
            </a:r>
            <a:r>
              <a:rPr lang="en-US" sz="1750" dirty="0">
                <a:effectLst/>
                <a:latin typeface="Consolas" panose="020B0609020204030204" pitchFamily="49" charset="0"/>
              </a:rPr>
              <a:t>=FAVORITE_COLORS_CHOICES,</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r>
              <a:rPr lang="en-US" sz="1750" dirty="0">
                <a:effectLst/>
                <a:latin typeface="Consolas" panose="020B0609020204030204" pitchFamily="49" charset="0"/>
              </a:rPr>
              <a:t>)</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br>
              <a:rPr lang="en-US" sz="1750" dirty="0">
                <a:solidFill>
                  <a:srgbClr val="BCBEC4"/>
                </a:solidFill>
                <a:effectLst/>
                <a:latin typeface="Consolas" panose="020B0609020204030204" pitchFamily="49" charset="0"/>
              </a:rPr>
            </a:br>
            <a:r>
              <a:rPr lang="en-US" sz="1750" dirty="0">
                <a:solidFill>
                  <a:srgbClr val="BCBEC4"/>
                </a:solidFill>
                <a:effectLst/>
                <a:latin typeface="Consolas" panose="020B0609020204030204" pitchFamily="49" charset="0"/>
              </a:rPr>
              <a:t>    </a:t>
            </a:r>
            <a:r>
              <a:rPr lang="en-US" sz="1750" dirty="0" err="1">
                <a:effectLst/>
                <a:latin typeface="Consolas" panose="020B0609020204030204" pitchFamily="49" charset="0"/>
              </a:rPr>
              <a:t>choice_field</a:t>
            </a:r>
            <a:r>
              <a:rPr lang="en-US" sz="1750" dirty="0">
                <a:effectLst/>
                <a:latin typeface="Consolas" panose="020B0609020204030204" pitchFamily="49" charset="0"/>
              </a:rPr>
              <a:t> = </a:t>
            </a:r>
            <a:r>
              <a:rPr lang="en-US" sz="1750" dirty="0" err="1">
                <a:effectLst/>
                <a:latin typeface="Consolas" panose="020B0609020204030204" pitchFamily="49" charset="0"/>
              </a:rPr>
              <a:t>forms.ChoiceField</a:t>
            </a:r>
            <a:r>
              <a:rPr lang="en-US" sz="1750" dirty="0">
                <a:effectLst/>
                <a:latin typeface="Consolas" panose="020B0609020204030204" pitchFamily="49" charset="0"/>
              </a:rPr>
              <a:t>(</a:t>
            </a:r>
            <a:r>
              <a:rPr lang="en-US" sz="1750" dirty="0">
                <a:solidFill>
                  <a:srgbClr val="AA4926"/>
                </a:solidFill>
                <a:effectLst/>
                <a:latin typeface="Consolas" panose="020B0609020204030204" pitchFamily="49" charset="0"/>
              </a:rPr>
              <a:t>widget</a:t>
            </a:r>
            <a:r>
              <a:rPr lang="en-US" sz="1750" dirty="0">
                <a:effectLst/>
                <a:latin typeface="Consolas" panose="020B0609020204030204" pitchFamily="49" charset="0"/>
              </a:rPr>
              <a:t>=</a:t>
            </a:r>
            <a:r>
              <a:rPr lang="en-US" sz="1750" dirty="0" err="1">
                <a:effectLst/>
                <a:latin typeface="Consolas" panose="020B0609020204030204" pitchFamily="49" charset="0"/>
              </a:rPr>
              <a:t>forms.RadioSelect</a:t>
            </a:r>
            <a:r>
              <a:rPr lang="en-US" sz="1750" dirty="0">
                <a:effectLst/>
                <a:latin typeface="Consolas" panose="020B0609020204030204" pitchFamily="49" charset="0"/>
              </a:rPr>
              <a:t>,</a:t>
            </a:r>
            <a:r>
              <a:rPr lang="en-US" sz="1750" dirty="0">
                <a:solidFill>
                  <a:srgbClr val="BCBEC4"/>
                </a:solidFill>
                <a:effectLst/>
                <a:latin typeface="Consolas" panose="020B0609020204030204" pitchFamily="49" charset="0"/>
              </a:rPr>
              <a:t> </a:t>
            </a:r>
            <a:r>
              <a:rPr lang="en-US" sz="1750" dirty="0">
                <a:solidFill>
                  <a:srgbClr val="AA4926"/>
                </a:solidFill>
                <a:effectLst/>
                <a:latin typeface="Consolas" panose="020B0609020204030204" pitchFamily="49" charset="0"/>
              </a:rPr>
              <a:t>choices</a:t>
            </a:r>
            <a:r>
              <a:rPr lang="en-US" sz="1750" dirty="0">
                <a:effectLst/>
                <a:latin typeface="Consolas" panose="020B0609020204030204" pitchFamily="49" charset="0"/>
              </a:rPr>
              <a:t>=CHOICES)</a:t>
            </a:r>
          </a:p>
        </p:txBody>
      </p:sp>
      <p:sp>
        <p:nvSpPr>
          <p:cNvPr id="5" name="TextBox 4">
            <a:extLst>
              <a:ext uri="{FF2B5EF4-FFF2-40B4-BE49-F238E27FC236}">
                <a16:creationId xmlns:a16="http://schemas.microsoft.com/office/drawing/2014/main" id="{92ED120E-F863-8A67-3260-D3B9E2598C71}"/>
              </a:ext>
            </a:extLst>
          </p:cNvPr>
          <p:cNvSpPr txBox="1"/>
          <p:nvPr/>
        </p:nvSpPr>
        <p:spPr>
          <a:xfrm>
            <a:off x="8297298" y="726004"/>
            <a:ext cx="2100649" cy="430887"/>
          </a:xfrm>
          <a:prstGeom prst="rect">
            <a:avLst/>
          </a:prstGeom>
          <a:noFill/>
        </p:spPr>
        <p:txBody>
          <a:bodyPr wrap="square" rtlCol="0">
            <a:spAutoFit/>
          </a:bodyPr>
          <a:lstStyle/>
          <a:p>
            <a:pPr algn="ctr"/>
            <a:r>
              <a:rPr lang="en-US" sz="2200" b="1" dirty="0"/>
              <a:t>forms.py</a:t>
            </a:r>
          </a:p>
        </p:txBody>
      </p:sp>
      <p:sp>
        <p:nvSpPr>
          <p:cNvPr id="6" name="Slide Number Placeholder 5">
            <a:extLst>
              <a:ext uri="{FF2B5EF4-FFF2-40B4-BE49-F238E27FC236}">
                <a16:creationId xmlns:a16="http://schemas.microsoft.com/office/drawing/2014/main" id="{16C6BC77-74A3-720E-D0F8-B52DCF1EC425}"/>
              </a:ext>
            </a:extLst>
          </p:cNvPr>
          <p:cNvSpPr>
            <a:spLocks noGrp="1"/>
          </p:cNvSpPr>
          <p:nvPr>
            <p:ph type="sldNum" sz="quarter" idx="12"/>
          </p:nvPr>
        </p:nvSpPr>
        <p:spPr/>
        <p:txBody>
          <a:bodyPr/>
          <a:lstStyle/>
          <a:p>
            <a:fld id="{EC47AAD7-037B-4BD0-8FE6-944FB61E3E6F}" type="slidenum">
              <a:rPr lang="en-US" smtClean="0"/>
              <a:t>25</a:t>
            </a:fld>
            <a:endParaRPr lang="en-US"/>
          </a:p>
        </p:txBody>
      </p:sp>
    </p:spTree>
    <p:extLst>
      <p:ext uri="{BB962C8B-B14F-4D97-AF65-F5344CB8AC3E}">
        <p14:creationId xmlns:p14="http://schemas.microsoft.com/office/powerpoint/2010/main" val="834791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8C9FF03-4D7F-1C34-DE7E-CF6D5B49D68D}"/>
              </a:ext>
            </a:extLst>
          </p:cNvPr>
          <p:cNvSpPr>
            <a:spLocks noGrp="1"/>
          </p:cNvSpPr>
          <p:nvPr>
            <p:ph type="title"/>
          </p:nvPr>
        </p:nvSpPr>
        <p:spPr>
          <a:xfrm>
            <a:off x="838200" y="365126"/>
            <a:ext cx="10515600" cy="833480"/>
          </a:xfrm>
        </p:spPr>
        <p:txBody>
          <a:bodyPr/>
          <a:lstStyle/>
          <a:p>
            <a:r>
              <a:rPr lang="en-US" dirty="0"/>
              <a:t>Output:</a:t>
            </a:r>
          </a:p>
        </p:txBody>
      </p:sp>
      <p:pic>
        <p:nvPicPr>
          <p:cNvPr id="5" name="Picture 4">
            <a:extLst>
              <a:ext uri="{FF2B5EF4-FFF2-40B4-BE49-F238E27FC236}">
                <a16:creationId xmlns:a16="http://schemas.microsoft.com/office/drawing/2014/main" id="{87471EE2-0523-A27E-7C30-53966158EB66}"/>
              </a:ext>
            </a:extLst>
          </p:cNvPr>
          <p:cNvPicPr>
            <a:picLocks noChangeAspect="1"/>
          </p:cNvPicPr>
          <p:nvPr/>
        </p:nvPicPr>
        <p:blipFill>
          <a:blip r:embed="rId2"/>
          <a:stretch>
            <a:fillRect/>
          </a:stretch>
        </p:blipFill>
        <p:spPr>
          <a:xfrm>
            <a:off x="6691998" y="1000895"/>
            <a:ext cx="4782039" cy="4992131"/>
          </a:xfrm>
          <a:prstGeom prst="rect">
            <a:avLst/>
          </a:prstGeom>
          <a:ln>
            <a:solidFill>
              <a:schemeClr val="accent1"/>
            </a:solidFill>
          </a:ln>
        </p:spPr>
      </p:pic>
      <p:pic>
        <p:nvPicPr>
          <p:cNvPr id="6" name="Picture 5">
            <a:extLst>
              <a:ext uri="{FF2B5EF4-FFF2-40B4-BE49-F238E27FC236}">
                <a16:creationId xmlns:a16="http://schemas.microsoft.com/office/drawing/2014/main" id="{EE4E59BF-315F-747B-643E-DA0687D6931E}"/>
              </a:ext>
            </a:extLst>
          </p:cNvPr>
          <p:cNvPicPr>
            <a:picLocks noChangeAspect="1"/>
          </p:cNvPicPr>
          <p:nvPr/>
        </p:nvPicPr>
        <p:blipFill rotWithShape="1">
          <a:blip r:embed="rId3"/>
          <a:srcRect r="11062" b="15474"/>
          <a:stretch/>
        </p:blipFill>
        <p:spPr>
          <a:xfrm>
            <a:off x="582969" y="1459688"/>
            <a:ext cx="5410057" cy="4136333"/>
          </a:xfrm>
          <a:prstGeom prst="rect">
            <a:avLst/>
          </a:prstGeom>
          <a:ln>
            <a:solidFill>
              <a:schemeClr val="accent1"/>
            </a:solidFill>
          </a:ln>
        </p:spPr>
      </p:pic>
      <p:sp>
        <p:nvSpPr>
          <p:cNvPr id="2" name="Slide Number Placeholder 1">
            <a:extLst>
              <a:ext uri="{FF2B5EF4-FFF2-40B4-BE49-F238E27FC236}">
                <a16:creationId xmlns:a16="http://schemas.microsoft.com/office/drawing/2014/main" id="{B2DCA42D-A15E-585A-B656-BE6924CEC970}"/>
              </a:ext>
            </a:extLst>
          </p:cNvPr>
          <p:cNvSpPr>
            <a:spLocks noGrp="1"/>
          </p:cNvSpPr>
          <p:nvPr>
            <p:ph type="sldNum" sz="quarter" idx="12"/>
          </p:nvPr>
        </p:nvSpPr>
        <p:spPr/>
        <p:txBody>
          <a:bodyPr/>
          <a:lstStyle/>
          <a:p>
            <a:fld id="{EC47AAD7-037B-4BD0-8FE6-944FB61E3E6F}" type="slidenum">
              <a:rPr lang="en-US" smtClean="0"/>
              <a:t>26</a:t>
            </a:fld>
            <a:endParaRPr lang="en-US"/>
          </a:p>
        </p:txBody>
      </p:sp>
    </p:spTree>
    <p:extLst>
      <p:ext uri="{BB962C8B-B14F-4D97-AF65-F5344CB8AC3E}">
        <p14:creationId xmlns:p14="http://schemas.microsoft.com/office/powerpoint/2010/main" val="18051864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DCB3-D570-D39A-A615-832C9D552081}"/>
              </a:ext>
            </a:extLst>
          </p:cNvPr>
          <p:cNvSpPr>
            <a:spLocks noGrp="1"/>
          </p:cNvSpPr>
          <p:nvPr>
            <p:ph type="title"/>
          </p:nvPr>
        </p:nvSpPr>
        <p:spPr/>
        <p:txBody>
          <a:bodyPr/>
          <a:lstStyle/>
          <a:p>
            <a:pPr algn="ctr"/>
            <a:r>
              <a:rPr lang="en-US" dirty="0"/>
              <a:t>Widget definition to add custom CSS class</a:t>
            </a:r>
          </a:p>
        </p:txBody>
      </p:sp>
      <p:pic>
        <p:nvPicPr>
          <p:cNvPr id="5" name="Picture 4">
            <a:extLst>
              <a:ext uri="{FF2B5EF4-FFF2-40B4-BE49-F238E27FC236}">
                <a16:creationId xmlns:a16="http://schemas.microsoft.com/office/drawing/2014/main" id="{5B749A29-5A86-E73A-36F2-BD7D0A7E41C8}"/>
              </a:ext>
            </a:extLst>
          </p:cNvPr>
          <p:cNvPicPr>
            <a:picLocks noChangeAspect="1"/>
          </p:cNvPicPr>
          <p:nvPr/>
        </p:nvPicPr>
        <p:blipFill rotWithShape="1">
          <a:blip r:embed="rId2"/>
          <a:srcRect r="2158"/>
          <a:stretch/>
        </p:blipFill>
        <p:spPr>
          <a:xfrm>
            <a:off x="454108" y="2106826"/>
            <a:ext cx="11309525" cy="1872050"/>
          </a:xfrm>
          <a:prstGeom prst="rect">
            <a:avLst/>
          </a:prstGeom>
          <a:ln>
            <a:solidFill>
              <a:schemeClr val="accent1"/>
            </a:solidFill>
          </a:ln>
        </p:spPr>
      </p:pic>
      <p:sp>
        <p:nvSpPr>
          <p:cNvPr id="3" name="Slide Number Placeholder 2">
            <a:extLst>
              <a:ext uri="{FF2B5EF4-FFF2-40B4-BE49-F238E27FC236}">
                <a16:creationId xmlns:a16="http://schemas.microsoft.com/office/drawing/2014/main" id="{AE81C7AC-6ED7-7568-B6ED-EDB0BA7DB0E9}"/>
              </a:ext>
            </a:extLst>
          </p:cNvPr>
          <p:cNvSpPr>
            <a:spLocks noGrp="1"/>
          </p:cNvSpPr>
          <p:nvPr>
            <p:ph type="sldNum" sz="quarter" idx="12"/>
          </p:nvPr>
        </p:nvSpPr>
        <p:spPr/>
        <p:txBody>
          <a:bodyPr/>
          <a:lstStyle/>
          <a:p>
            <a:fld id="{EC47AAD7-037B-4BD0-8FE6-944FB61E3E6F}" type="slidenum">
              <a:rPr lang="en-US" smtClean="0"/>
              <a:t>27</a:t>
            </a:fld>
            <a:endParaRPr lang="en-US"/>
          </a:p>
        </p:txBody>
      </p:sp>
    </p:spTree>
    <p:extLst>
      <p:ext uri="{BB962C8B-B14F-4D97-AF65-F5344CB8AC3E}">
        <p14:creationId xmlns:p14="http://schemas.microsoft.com/office/powerpoint/2010/main" val="874956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DCB3-D570-D39A-A615-832C9D552081}"/>
              </a:ext>
            </a:extLst>
          </p:cNvPr>
          <p:cNvSpPr>
            <a:spLocks noGrp="1"/>
          </p:cNvSpPr>
          <p:nvPr>
            <p:ph type="title"/>
          </p:nvPr>
        </p:nvSpPr>
        <p:spPr>
          <a:xfrm>
            <a:off x="838200" y="262510"/>
            <a:ext cx="10515600" cy="766065"/>
          </a:xfrm>
        </p:spPr>
        <p:txBody>
          <a:bodyPr/>
          <a:lstStyle/>
          <a:p>
            <a:pPr algn="ctr"/>
            <a:r>
              <a:rPr lang="en-US" dirty="0"/>
              <a:t>Exercise</a:t>
            </a:r>
          </a:p>
        </p:txBody>
      </p:sp>
      <p:grpSp>
        <p:nvGrpSpPr>
          <p:cNvPr id="7" name="Group 6">
            <a:extLst>
              <a:ext uri="{FF2B5EF4-FFF2-40B4-BE49-F238E27FC236}">
                <a16:creationId xmlns:a16="http://schemas.microsoft.com/office/drawing/2014/main" id="{54AB3BF6-F00F-9254-FD3D-4BAE1B9FA8B6}"/>
              </a:ext>
            </a:extLst>
          </p:cNvPr>
          <p:cNvGrpSpPr/>
          <p:nvPr/>
        </p:nvGrpSpPr>
        <p:grpSpPr>
          <a:xfrm>
            <a:off x="643890" y="1177545"/>
            <a:ext cx="4419601" cy="5417945"/>
            <a:chOff x="838200" y="1028575"/>
            <a:chExt cx="4419601" cy="5417945"/>
          </a:xfrm>
        </p:grpSpPr>
        <p:pic>
          <p:nvPicPr>
            <p:cNvPr id="4" name="Picture 3">
              <a:extLst>
                <a:ext uri="{FF2B5EF4-FFF2-40B4-BE49-F238E27FC236}">
                  <a16:creationId xmlns:a16="http://schemas.microsoft.com/office/drawing/2014/main" id="{2DF2690A-FB97-5D75-9FC1-8B8EFBA7B3C5}"/>
                </a:ext>
              </a:extLst>
            </p:cNvPr>
            <p:cNvPicPr>
              <a:picLocks noChangeAspect="1"/>
            </p:cNvPicPr>
            <p:nvPr/>
          </p:nvPicPr>
          <p:blipFill rotWithShape="1">
            <a:blip r:embed="rId2"/>
            <a:srcRect b="6282"/>
            <a:stretch/>
          </p:blipFill>
          <p:spPr>
            <a:xfrm>
              <a:off x="1200149" y="1131190"/>
              <a:ext cx="3695702" cy="5121020"/>
            </a:xfrm>
            <a:prstGeom prst="rect">
              <a:avLst/>
            </a:prstGeom>
          </p:spPr>
        </p:pic>
        <p:sp>
          <p:nvSpPr>
            <p:cNvPr id="6" name="Rectangle 5">
              <a:extLst>
                <a:ext uri="{FF2B5EF4-FFF2-40B4-BE49-F238E27FC236}">
                  <a16:creationId xmlns:a16="http://schemas.microsoft.com/office/drawing/2014/main" id="{57C3D9B8-3F60-44C5-3C59-34B979A77686}"/>
                </a:ext>
              </a:extLst>
            </p:cNvPr>
            <p:cNvSpPr/>
            <p:nvPr/>
          </p:nvSpPr>
          <p:spPr>
            <a:xfrm>
              <a:off x="838200" y="1028575"/>
              <a:ext cx="4419601" cy="54179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BDA515FA-2F33-36E5-054F-BF422F49B675}"/>
              </a:ext>
            </a:extLst>
          </p:cNvPr>
          <p:cNvGrpSpPr/>
          <p:nvPr/>
        </p:nvGrpSpPr>
        <p:grpSpPr>
          <a:xfrm>
            <a:off x="6096000" y="1383030"/>
            <a:ext cx="4522470" cy="3303270"/>
            <a:chOff x="6096000" y="1383030"/>
            <a:chExt cx="4522470" cy="3303270"/>
          </a:xfrm>
        </p:grpSpPr>
        <p:pic>
          <p:nvPicPr>
            <p:cNvPr id="9" name="Picture 8">
              <a:extLst>
                <a:ext uri="{FF2B5EF4-FFF2-40B4-BE49-F238E27FC236}">
                  <a16:creationId xmlns:a16="http://schemas.microsoft.com/office/drawing/2014/main" id="{AFF997E4-12E0-F0F1-D3B5-EB87F2AEE470}"/>
                </a:ext>
              </a:extLst>
            </p:cNvPr>
            <p:cNvPicPr>
              <a:picLocks noChangeAspect="1"/>
            </p:cNvPicPr>
            <p:nvPr/>
          </p:nvPicPr>
          <p:blipFill rotWithShape="1">
            <a:blip r:embed="rId3"/>
            <a:srcRect r="14265"/>
            <a:stretch/>
          </p:blipFill>
          <p:spPr>
            <a:xfrm>
              <a:off x="6406513" y="1677968"/>
              <a:ext cx="3841701" cy="2722582"/>
            </a:xfrm>
            <a:prstGeom prst="rect">
              <a:avLst/>
            </a:prstGeom>
          </p:spPr>
        </p:pic>
        <p:sp>
          <p:nvSpPr>
            <p:cNvPr id="10" name="Rectangle 9">
              <a:extLst>
                <a:ext uri="{FF2B5EF4-FFF2-40B4-BE49-F238E27FC236}">
                  <a16:creationId xmlns:a16="http://schemas.microsoft.com/office/drawing/2014/main" id="{F40BD168-7867-349F-05A2-81726AAFD8F7}"/>
                </a:ext>
              </a:extLst>
            </p:cNvPr>
            <p:cNvSpPr/>
            <p:nvPr/>
          </p:nvSpPr>
          <p:spPr>
            <a:xfrm>
              <a:off x="6096000" y="1383030"/>
              <a:ext cx="4522470" cy="330327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56C77248-9EBE-D5DA-480E-9B8588C7441E}"/>
              </a:ext>
            </a:extLst>
          </p:cNvPr>
          <p:cNvSpPr txBox="1"/>
          <p:nvPr/>
        </p:nvSpPr>
        <p:spPr>
          <a:xfrm>
            <a:off x="6096000" y="4981238"/>
            <a:ext cx="5939790" cy="923330"/>
          </a:xfrm>
          <a:prstGeom prst="rect">
            <a:avLst/>
          </a:prstGeom>
          <a:noFill/>
        </p:spPr>
        <p:txBody>
          <a:bodyPr wrap="square" rtlCol="0">
            <a:spAutoFit/>
          </a:bodyPr>
          <a:lstStyle/>
          <a:p>
            <a:pPr marL="285750" indent="-285750">
              <a:buFont typeface="Wingdings" panose="05000000000000000000" pitchFamily="2" charset="2"/>
              <a:buChar char="§"/>
            </a:pPr>
            <a:r>
              <a:rPr lang="en-US" dirty="0"/>
              <a:t>Display the input of name, email, date of birth, selected interested area and academic year field on another page ‘list.html’.</a:t>
            </a:r>
          </a:p>
        </p:txBody>
      </p:sp>
      <p:sp>
        <p:nvSpPr>
          <p:cNvPr id="3" name="Slide Number Placeholder 2">
            <a:extLst>
              <a:ext uri="{FF2B5EF4-FFF2-40B4-BE49-F238E27FC236}">
                <a16:creationId xmlns:a16="http://schemas.microsoft.com/office/drawing/2014/main" id="{C44A0DFC-0C27-C297-EAB2-EFB7EE480A05}"/>
              </a:ext>
            </a:extLst>
          </p:cNvPr>
          <p:cNvSpPr>
            <a:spLocks noGrp="1"/>
          </p:cNvSpPr>
          <p:nvPr>
            <p:ph type="sldNum" sz="quarter" idx="12"/>
          </p:nvPr>
        </p:nvSpPr>
        <p:spPr/>
        <p:txBody>
          <a:bodyPr/>
          <a:lstStyle/>
          <a:p>
            <a:fld id="{EC47AAD7-037B-4BD0-8FE6-944FB61E3E6F}" type="slidenum">
              <a:rPr lang="en-US" smtClean="0"/>
              <a:t>28</a:t>
            </a:fld>
            <a:endParaRPr lang="en-US"/>
          </a:p>
        </p:txBody>
      </p:sp>
    </p:spTree>
    <p:extLst>
      <p:ext uri="{BB962C8B-B14F-4D97-AF65-F5344CB8AC3E}">
        <p14:creationId xmlns:p14="http://schemas.microsoft.com/office/powerpoint/2010/main" val="41107589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DCB3-D570-D39A-A615-832C9D552081}"/>
              </a:ext>
            </a:extLst>
          </p:cNvPr>
          <p:cNvSpPr>
            <a:spLocks noGrp="1"/>
          </p:cNvSpPr>
          <p:nvPr>
            <p:ph type="title"/>
          </p:nvPr>
        </p:nvSpPr>
        <p:spPr>
          <a:xfrm>
            <a:off x="838200" y="2800095"/>
            <a:ext cx="10515600" cy="766065"/>
          </a:xfrm>
        </p:spPr>
        <p:txBody>
          <a:bodyPr/>
          <a:lstStyle/>
          <a:p>
            <a:pPr algn="ctr"/>
            <a:r>
              <a:rPr lang="en-US" dirty="0"/>
              <a:t>Quiz – (1)</a:t>
            </a:r>
          </a:p>
        </p:txBody>
      </p:sp>
      <p:sp>
        <p:nvSpPr>
          <p:cNvPr id="3" name="Slide Number Placeholder 2">
            <a:extLst>
              <a:ext uri="{FF2B5EF4-FFF2-40B4-BE49-F238E27FC236}">
                <a16:creationId xmlns:a16="http://schemas.microsoft.com/office/drawing/2014/main" id="{F0C8F3E8-CE6D-0D2A-FD64-ABBEFEC19326}"/>
              </a:ext>
            </a:extLst>
          </p:cNvPr>
          <p:cNvSpPr>
            <a:spLocks noGrp="1"/>
          </p:cNvSpPr>
          <p:nvPr>
            <p:ph type="sldNum" sz="quarter" idx="12"/>
          </p:nvPr>
        </p:nvSpPr>
        <p:spPr/>
        <p:txBody>
          <a:bodyPr/>
          <a:lstStyle/>
          <a:p>
            <a:fld id="{EC47AAD7-037B-4BD0-8FE6-944FB61E3E6F}" type="slidenum">
              <a:rPr lang="en-US" smtClean="0"/>
              <a:t>29</a:t>
            </a:fld>
            <a:endParaRPr lang="en-US"/>
          </a:p>
        </p:txBody>
      </p:sp>
    </p:spTree>
    <p:extLst>
      <p:ext uri="{BB962C8B-B14F-4D97-AF65-F5344CB8AC3E}">
        <p14:creationId xmlns:p14="http://schemas.microsoft.com/office/powerpoint/2010/main" val="2173199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DCB3-D570-D39A-A615-832C9D552081}"/>
              </a:ext>
            </a:extLst>
          </p:cNvPr>
          <p:cNvSpPr>
            <a:spLocks noGrp="1"/>
          </p:cNvSpPr>
          <p:nvPr>
            <p:ph type="title"/>
          </p:nvPr>
        </p:nvSpPr>
        <p:spPr>
          <a:xfrm>
            <a:off x="838200" y="2800095"/>
            <a:ext cx="10515600" cy="766065"/>
          </a:xfrm>
        </p:spPr>
        <p:txBody>
          <a:bodyPr/>
          <a:lstStyle/>
          <a:p>
            <a:pPr algn="ctr"/>
            <a:r>
              <a:rPr lang="en-US" dirty="0"/>
              <a:t>Tutorial – (1)</a:t>
            </a:r>
          </a:p>
        </p:txBody>
      </p:sp>
      <p:sp>
        <p:nvSpPr>
          <p:cNvPr id="3" name="Slide Number Placeholder 2">
            <a:extLst>
              <a:ext uri="{FF2B5EF4-FFF2-40B4-BE49-F238E27FC236}">
                <a16:creationId xmlns:a16="http://schemas.microsoft.com/office/drawing/2014/main" id="{F0C8F3E8-CE6D-0D2A-FD64-ABBEFEC19326}"/>
              </a:ext>
            </a:extLst>
          </p:cNvPr>
          <p:cNvSpPr>
            <a:spLocks noGrp="1"/>
          </p:cNvSpPr>
          <p:nvPr>
            <p:ph type="sldNum" sz="quarter" idx="12"/>
          </p:nvPr>
        </p:nvSpPr>
        <p:spPr/>
        <p:txBody>
          <a:bodyPr/>
          <a:lstStyle/>
          <a:p>
            <a:fld id="{EC47AAD7-037B-4BD0-8FE6-944FB61E3E6F}" type="slidenum">
              <a:rPr lang="en-US" smtClean="0"/>
              <a:t>30</a:t>
            </a:fld>
            <a:endParaRPr lang="en-US"/>
          </a:p>
        </p:txBody>
      </p:sp>
    </p:spTree>
    <p:extLst>
      <p:ext uri="{BB962C8B-B14F-4D97-AF65-F5344CB8AC3E}">
        <p14:creationId xmlns:p14="http://schemas.microsoft.com/office/powerpoint/2010/main" val="3586231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DCB3-D570-D39A-A615-832C9D552081}"/>
              </a:ext>
            </a:extLst>
          </p:cNvPr>
          <p:cNvSpPr>
            <a:spLocks noGrp="1"/>
          </p:cNvSpPr>
          <p:nvPr>
            <p:ph type="title"/>
          </p:nvPr>
        </p:nvSpPr>
        <p:spPr>
          <a:xfrm>
            <a:off x="838200" y="2800095"/>
            <a:ext cx="10515600" cy="766065"/>
          </a:xfrm>
        </p:spPr>
        <p:txBody>
          <a:bodyPr/>
          <a:lstStyle/>
          <a:p>
            <a:pPr algn="ctr"/>
            <a:r>
              <a:rPr lang="en-US" dirty="0"/>
              <a:t>Assignments – (1)</a:t>
            </a:r>
          </a:p>
        </p:txBody>
      </p:sp>
      <p:sp>
        <p:nvSpPr>
          <p:cNvPr id="3" name="Slide Number Placeholder 2">
            <a:extLst>
              <a:ext uri="{FF2B5EF4-FFF2-40B4-BE49-F238E27FC236}">
                <a16:creationId xmlns:a16="http://schemas.microsoft.com/office/drawing/2014/main" id="{F0C8F3E8-CE6D-0D2A-FD64-ABBEFEC19326}"/>
              </a:ext>
            </a:extLst>
          </p:cNvPr>
          <p:cNvSpPr>
            <a:spLocks noGrp="1"/>
          </p:cNvSpPr>
          <p:nvPr>
            <p:ph type="sldNum" sz="quarter" idx="12"/>
          </p:nvPr>
        </p:nvSpPr>
        <p:spPr/>
        <p:txBody>
          <a:bodyPr/>
          <a:lstStyle/>
          <a:p>
            <a:fld id="{EC47AAD7-037B-4BD0-8FE6-944FB61E3E6F}" type="slidenum">
              <a:rPr lang="en-US" smtClean="0"/>
              <a:t>31</a:t>
            </a:fld>
            <a:endParaRPr lang="en-US"/>
          </a:p>
        </p:txBody>
      </p:sp>
    </p:spTree>
    <p:extLst>
      <p:ext uri="{BB962C8B-B14F-4D97-AF65-F5344CB8AC3E}">
        <p14:creationId xmlns:p14="http://schemas.microsoft.com/office/powerpoint/2010/main" val="3674207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B3B9D5A-F5E2-941C-B62B-42ECA0D1AF97}"/>
              </a:ext>
            </a:extLst>
          </p:cNvPr>
          <p:cNvSpPr txBox="1">
            <a:spLocks/>
          </p:cNvSpPr>
          <p:nvPr/>
        </p:nvSpPr>
        <p:spPr>
          <a:xfrm>
            <a:off x="1" y="3105214"/>
            <a:ext cx="12192000" cy="64757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Thank You!</a:t>
            </a:r>
          </a:p>
        </p:txBody>
      </p:sp>
      <p:sp>
        <p:nvSpPr>
          <p:cNvPr id="2" name="Slide Number Placeholder 1">
            <a:extLst>
              <a:ext uri="{FF2B5EF4-FFF2-40B4-BE49-F238E27FC236}">
                <a16:creationId xmlns:a16="http://schemas.microsoft.com/office/drawing/2014/main" id="{BC8A137F-B0A8-1804-4AF1-ACF3F61EC812}"/>
              </a:ext>
            </a:extLst>
          </p:cNvPr>
          <p:cNvSpPr>
            <a:spLocks noGrp="1"/>
          </p:cNvSpPr>
          <p:nvPr>
            <p:ph type="sldNum" sz="quarter" idx="12"/>
          </p:nvPr>
        </p:nvSpPr>
        <p:spPr/>
        <p:txBody>
          <a:bodyPr/>
          <a:lstStyle/>
          <a:p>
            <a:fld id="{EC47AAD7-037B-4BD0-8FE6-944FB61E3E6F}" type="slidenum">
              <a:rPr lang="en-US" smtClean="0"/>
              <a:t>32</a:t>
            </a:fld>
            <a:endParaRPr lang="en-US"/>
          </a:p>
        </p:txBody>
      </p:sp>
    </p:spTree>
    <p:extLst>
      <p:ext uri="{BB962C8B-B14F-4D97-AF65-F5344CB8AC3E}">
        <p14:creationId xmlns:p14="http://schemas.microsoft.com/office/powerpoint/2010/main" val="1729243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1102</TotalTime>
  <Words>2376</Words>
  <Application>Microsoft Office PowerPoint</Application>
  <PresentationFormat>Widescreen</PresentationFormat>
  <Paragraphs>286</Paragraphs>
  <Slides>32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Calibri Light</vt:lpstr>
      <vt:lpstr>Consolas</vt:lpstr>
      <vt:lpstr>JetBrains Mono</vt:lpstr>
      <vt:lpstr>Times New Roman</vt:lpstr>
      <vt:lpstr>Wingdings</vt:lpstr>
      <vt:lpstr>Office Theme</vt:lpstr>
      <vt:lpstr>Chapter – 6  Django - Forms</vt:lpstr>
      <vt:lpstr>Outlines</vt:lpstr>
      <vt:lpstr>Django – Forms Processing</vt:lpstr>
      <vt:lpstr>Django Form Workflow</vt:lpstr>
      <vt:lpstr>Building a Form in Django </vt:lpstr>
      <vt:lpstr>PowerPoint Presentation</vt:lpstr>
      <vt:lpstr>Instantiating Form in Django</vt:lpstr>
      <vt:lpstr>The Template (index.html)</vt:lpstr>
      <vt:lpstr>PowerPoint Presentation</vt:lpstr>
      <vt:lpstr>URL in urls.py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vt:lpstr>
      <vt:lpstr>Widget definition to add custom CSS class</vt:lpstr>
      <vt:lpstr>Exercise</vt:lpstr>
      <vt:lpstr>Quiz – (1)</vt:lpstr>
      <vt:lpstr>Tutorial – (1)</vt:lpstr>
      <vt:lpstr>Assignments –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7  Django - Model</dc:title>
  <dc:creator>Dell</dc:creator>
  <cp:lastModifiedBy>Hay Mar Soe Naing</cp:lastModifiedBy>
  <cp:revision>87</cp:revision>
  <dcterms:created xsi:type="dcterms:W3CDTF">2023-04-14T14:56:40Z</dcterms:created>
  <dcterms:modified xsi:type="dcterms:W3CDTF">2024-01-09T08:12:50Z</dcterms:modified>
</cp:coreProperties>
</file>