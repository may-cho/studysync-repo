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43"/>
  </p:notesMasterIdLst>
  <p:sldIdLst>
    <p:sldId id="256" r:id="rId2"/>
    <p:sldId id="264" r:id="rId3"/>
    <p:sldId id="257" r:id="rId4"/>
    <p:sldId id="259" r:id="rId5"/>
    <p:sldId id="260" r:id="rId6"/>
    <p:sldId id="261" r:id="rId7"/>
    <p:sldId id="262" r:id="rId8"/>
    <p:sldId id="303" r:id="rId9"/>
    <p:sldId id="304" r:id="rId10"/>
    <p:sldId id="305" r:id="rId11"/>
    <p:sldId id="266" r:id="rId12"/>
    <p:sldId id="306" r:id="rId13"/>
    <p:sldId id="267" r:id="rId14"/>
    <p:sldId id="268" r:id="rId15"/>
    <p:sldId id="265" r:id="rId16"/>
    <p:sldId id="271" r:id="rId17"/>
    <p:sldId id="272" r:id="rId18"/>
    <p:sldId id="295" r:id="rId19"/>
    <p:sldId id="296" r:id="rId20"/>
    <p:sldId id="297" r:id="rId21"/>
    <p:sldId id="275" r:id="rId22"/>
    <p:sldId id="298" r:id="rId23"/>
    <p:sldId id="276" r:id="rId24"/>
    <p:sldId id="277" r:id="rId25"/>
    <p:sldId id="279" r:id="rId26"/>
    <p:sldId id="278" r:id="rId27"/>
    <p:sldId id="281" r:id="rId28"/>
    <p:sldId id="299" r:id="rId29"/>
    <p:sldId id="300" r:id="rId30"/>
    <p:sldId id="282" r:id="rId31"/>
    <p:sldId id="301" r:id="rId32"/>
    <p:sldId id="284" r:id="rId33"/>
    <p:sldId id="285" r:id="rId34"/>
    <p:sldId id="286" r:id="rId35"/>
    <p:sldId id="287" r:id="rId36"/>
    <p:sldId id="288" r:id="rId37"/>
    <p:sldId id="302" r:id="rId38"/>
    <p:sldId id="290" r:id="rId39"/>
    <p:sldId id="291" r:id="rId40"/>
    <p:sldId id="293" r:id="rId41"/>
    <p:sldId id="29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66472" autoAdjust="0"/>
  </p:normalViewPr>
  <p:slideViewPr>
    <p:cSldViewPr snapToGrid="0">
      <p:cViewPr>
        <p:scale>
          <a:sx n="70" d="100"/>
          <a:sy n="70" d="100"/>
        </p:scale>
        <p:origin x="-660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63DDE-6F92-4A84-80E8-A10FF6A0615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2A3D6-0884-49C9-9998-5EA1D4CCF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0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02A3D6-0884-49C9-9998-5EA1D4CCF91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86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15518" y="5013326"/>
            <a:ext cx="6335183" cy="89376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615518" y="5805489"/>
            <a:ext cx="6335183" cy="503237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080808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775884" y="908050"/>
            <a:ext cx="4411133" cy="547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390218" y="908050"/>
            <a:ext cx="4411133" cy="547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521700" y="188914"/>
            <a:ext cx="2279651" cy="6192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678518" y="188914"/>
            <a:ext cx="6639983" cy="6192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78517" y="188913"/>
            <a:ext cx="8930216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5884" y="908050"/>
            <a:ext cx="9025467" cy="547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80808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slideLayout" Target="../slideLayouts/slideLayout2.xml" /><Relationship Id="rId1" Type="http://schemas.openxmlformats.org/officeDocument/2006/relationships/themeOverride" Target="../theme/themeOverride1.xml" /><Relationship Id="rId4" Type="http://schemas.openxmlformats.org/officeDocument/2006/relationships/image" Target="../media/image3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1" y="2"/>
            <a:ext cx="9144000" cy="121052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Cyber Security and Digital Forensics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3576" y="1771650"/>
            <a:ext cx="6543675" cy="2133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Lecture-I</a:t>
            </a:r>
          </a:p>
          <a:p>
            <a:r>
              <a:rPr lang="en-US" sz="2400" dirty="0">
                <a:solidFill>
                  <a:srgbClr val="C00000"/>
                </a:solidFill>
              </a:rPr>
              <a:t>Introduction to Computer Security</a:t>
            </a:r>
          </a:p>
          <a:p>
            <a:r>
              <a:rPr lang="en-US" sz="2400" dirty="0">
                <a:solidFill>
                  <a:srgbClr val="C00000"/>
                </a:solidFill>
              </a:rPr>
              <a:t>Cyber Stalking, Fraud and Abuse (Cyber Crimes)</a:t>
            </a: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35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17" y="1274763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Lecture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1085" y="2070100"/>
            <a:ext cx="9025467" cy="54737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Understand the Cyber Security and Digital Forensics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Understand the Cyber Crimes (Cyber Stalking, Fraud and Abuse)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118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017" y="1038225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Cyber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9133" y="2181225"/>
            <a:ext cx="9635067" cy="547370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Cyber</a:t>
            </a:r>
            <a:r>
              <a:rPr lang="en-US" sz="2400" b="1" dirty="0">
                <a:solidFill>
                  <a:srgbClr val="002060"/>
                </a:solidFill>
              </a:rPr>
              <a:t>: </a:t>
            </a:r>
            <a:r>
              <a:rPr lang="en-US" sz="2400" b="1" i="1" dirty="0">
                <a:solidFill>
                  <a:srgbClr val="C00000"/>
                </a:solidFill>
              </a:rPr>
              <a:t>anything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that are made in digital technology.</a:t>
            </a:r>
          </a:p>
          <a:p>
            <a:pPr algn="just"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Cyber Security</a:t>
            </a:r>
            <a:r>
              <a:rPr lang="en-US" sz="2400" b="1" dirty="0">
                <a:solidFill>
                  <a:srgbClr val="002060"/>
                </a:solidFill>
              </a:rPr>
              <a:t>: Is the</a:t>
            </a:r>
            <a:r>
              <a:rPr lang="en-US" sz="2400" b="1" i="1" dirty="0">
                <a:solidFill>
                  <a:srgbClr val="C00000"/>
                </a:solidFill>
              </a:rPr>
              <a:t> practice of protecting computers, networks, systems, and data</a:t>
            </a:r>
            <a:r>
              <a:rPr lang="en-US" sz="2400" b="1" dirty="0">
                <a:solidFill>
                  <a:srgbClr val="002060"/>
                </a:solidFill>
              </a:rPr>
              <a:t> from digital attacks, damage, or unauthorized access. (prevent and protect)</a:t>
            </a:r>
          </a:p>
          <a:p>
            <a:pPr algn="just"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Simple analogy</a:t>
            </a:r>
            <a:r>
              <a:rPr lang="en-US" sz="2400" b="1" dirty="0">
                <a:solidFill>
                  <a:srgbClr val="002060"/>
                </a:solidFill>
              </a:rPr>
              <a:t>: Like</a:t>
            </a:r>
            <a:r>
              <a:rPr lang="en-US" sz="2400" b="1" i="1" dirty="0">
                <a:solidFill>
                  <a:srgbClr val="C00000"/>
                </a:solidFill>
              </a:rPr>
              <a:t> locking the doors and setting up cameras </a:t>
            </a:r>
            <a:r>
              <a:rPr lang="en-US" sz="2400" b="1" dirty="0">
                <a:solidFill>
                  <a:srgbClr val="002060"/>
                </a:solidFill>
              </a:rPr>
              <a:t>to prevent a thief from entering your house.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364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17" y="530225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Main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2535" y="1555750"/>
            <a:ext cx="9025467" cy="5473700"/>
          </a:xfrm>
        </p:spPr>
        <p:txBody>
          <a:bodyPr/>
          <a:lstStyle/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Prevent Attacks</a:t>
            </a:r>
          </a:p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Protect Systems</a:t>
            </a:r>
          </a:p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Detect Threads early</a:t>
            </a:r>
          </a:p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Respond to incidents		</a:t>
            </a:r>
            <a:r>
              <a:rPr lang="en-US" dirty="0">
                <a:solidFill>
                  <a:srgbClr val="C00000"/>
                </a:solidFill>
              </a:rPr>
              <a:t>	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861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6117" y="784225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Key Methods for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85" y="1870075"/>
            <a:ext cx="9025467" cy="5473700"/>
          </a:xfrm>
        </p:spPr>
        <p:txBody>
          <a:bodyPr/>
          <a:lstStyle/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Network security (firewalls, intrusion detection)</a:t>
            </a:r>
          </a:p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Application security (patching, secure coding)</a:t>
            </a:r>
          </a:p>
          <a:p>
            <a:pPr marR="0" lvl="0"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Information security (data encryption, access controls)</a:t>
            </a:r>
          </a:p>
          <a:p>
            <a:pPr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Cyber laws and ethical hacking (white hacking)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b="1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424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17" y="519112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Digital Forensics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185" y="1765300"/>
            <a:ext cx="9025467" cy="5473700"/>
          </a:xfrm>
        </p:spPr>
        <p:txBody>
          <a:bodyPr/>
          <a:lstStyle/>
          <a:p>
            <a:pPr algn="just"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Forensics</a:t>
            </a:r>
            <a:r>
              <a:rPr lang="en-US" sz="2400" b="1" dirty="0">
                <a:solidFill>
                  <a:srgbClr val="002060"/>
                </a:solidFill>
              </a:rPr>
              <a:t>: Investigate and Analyze</a:t>
            </a:r>
          </a:p>
          <a:p>
            <a:pPr algn="just"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Digital Forensics</a:t>
            </a:r>
            <a:r>
              <a:rPr lang="en-US" sz="2400" b="1" dirty="0">
                <a:solidFill>
                  <a:srgbClr val="002060"/>
                </a:solidFill>
              </a:rPr>
              <a:t>: Is the </a:t>
            </a:r>
            <a:r>
              <a:rPr lang="en-US" sz="2400" b="1" i="1" dirty="0">
                <a:solidFill>
                  <a:srgbClr val="C00000"/>
                </a:solidFill>
              </a:rPr>
              <a:t>process of identifying, preserving, analyzing, and presenting</a:t>
            </a:r>
            <a:r>
              <a:rPr lang="en-US" sz="2400" b="1" dirty="0">
                <a:solidFill>
                  <a:srgbClr val="002060"/>
                </a:solidFill>
              </a:rPr>
              <a:t> digital evidence from electronic devices after a cyber incident or crime.</a:t>
            </a:r>
          </a:p>
          <a:p>
            <a:pPr algn="just"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Simple analogy</a:t>
            </a:r>
            <a:r>
              <a:rPr lang="en-US" sz="2400" b="1" dirty="0">
                <a:solidFill>
                  <a:srgbClr val="002060"/>
                </a:solidFill>
              </a:rPr>
              <a:t>: Like a </a:t>
            </a:r>
            <a:r>
              <a:rPr lang="en-US" sz="2400" b="1" i="1" dirty="0">
                <a:solidFill>
                  <a:srgbClr val="C00000"/>
                </a:solidFill>
              </a:rPr>
              <a:t>detective investigating a crime scene</a:t>
            </a:r>
            <a:r>
              <a:rPr lang="en-US" sz="2400" b="1" dirty="0">
                <a:solidFill>
                  <a:srgbClr val="002060"/>
                </a:solidFill>
              </a:rPr>
              <a:t> to find out what happened, who did it, and how.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002060"/>
              </a:solidFill>
            </a:endParaRPr>
          </a:p>
          <a:p>
            <a:pPr algn="just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53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867" y="1179513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Cyber Stalking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385" y="2089150"/>
            <a:ext cx="9025467" cy="5473700"/>
          </a:xfrm>
        </p:spPr>
        <p:txBody>
          <a:bodyPr>
            <a:normAutofit/>
          </a:bodyPr>
          <a:lstStyle/>
          <a:p>
            <a:pPr marL="228600" lvl="1" algn="just">
              <a:spcBef>
                <a:spcPts val="100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Is the </a:t>
            </a:r>
            <a:r>
              <a:rPr lang="en-US" i="1" dirty="0">
                <a:solidFill>
                  <a:srgbClr val="C00000"/>
                </a:solidFill>
                <a:ea typeface="+mn-ea"/>
                <a:cs typeface="+mn-cs"/>
              </a:rPr>
              <a:t>use of the internet, electronic communication, or digital technologies to harass, intimidate, or threaten an individual.</a:t>
            </a:r>
          </a:p>
          <a:p>
            <a:pPr marL="228600" lvl="1" algn="just">
              <a:spcBef>
                <a:spcPts val="100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Unlike physical stalking, cyberstalking often involves </a:t>
            </a:r>
            <a:r>
              <a:rPr lang="en-US" i="1" dirty="0">
                <a:solidFill>
                  <a:srgbClr val="C00000"/>
                </a:solidFill>
                <a:ea typeface="+mn-ea"/>
                <a:cs typeface="+mn-cs"/>
              </a:rPr>
              <a:t>persistent online harassment 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through </a:t>
            </a:r>
            <a:r>
              <a:rPr lang="en-US" i="1" dirty="0">
                <a:solidFill>
                  <a:srgbClr val="C00000"/>
                </a:solidFill>
                <a:ea typeface="+mn-ea"/>
                <a:cs typeface="+mn-cs"/>
              </a:rPr>
              <a:t>platforms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such as social media, email, messaging apps, or other internet-based communication channels.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54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367" y="784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Key Features </a:t>
            </a:r>
            <a:r>
              <a:rPr lang="en-US" sz="3600">
                <a:solidFill>
                  <a:srgbClr val="FF0000"/>
                </a:solidFill>
              </a:rPr>
              <a:t>of Cyber Stalking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5385" y="1746250"/>
            <a:ext cx="9025467" cy="5473700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1) Persistent and Repeated Behavior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2) Use of Digital Platforms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3) Intent to Harass or Harm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4) Anonymity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5) Forms of Cyberstalking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dirty="0">
              <a:solidFill>
                <a:srgbClr val="002060"/>
              </a:solidFill>
              <a:ea typeface="+mn-ea"/>
              <a:cs typeface="+mn-cs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999271" y="38122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23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517" y="1038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1) Persistent and Repeated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1" y="2324100"/>
            <a:ext cx="9867902" cy="5473700"/>
          </a:xfrm>
        </p:spPr>
        <p:txBody>
          <a:bodyPr>
            <a:normAutofit/>
          </a:bodyPr>
          <a:lstStyle/>
          <a:p>
            <a:pPr marL="457200" marR="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The stalker engages in a continuous pattern of harassment or unwanted communication.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20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17" y="1038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2) Use of Digital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2985" y="2228850"/>
            <a:ext cx="9025467" cy="5473700"/>
          </a:xfrm>
        </p:spPr>
        <p:txBody>
          <a:bodyPr>
            <a:norm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Social media (e.g., Facebook, Instagram, Twitter)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Email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Messaging apps (e.g., WhatsApp, Telegram)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Online forums and websites.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0677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103D1-EF94-F5CF-3940-381D4385F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88E2-D6C7-987A-566C-B08BD5C7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717" y="1038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3) Intent to Harass or Harm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FE10-C77E-A775-81B3-A0AB38588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884" y="2165350"/>
            <a:ext cx="10492316" cy="5473700"/>
          </a:xfrm>
        </p:spPr>
        <p:txBody>
          <a:bodyPr>
            <a:normAutofit/>
          </a:bodyPr>
          <a:lstStyle/>
          <a:p>
            <a:pPr marR="0" lvl="1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Actions are deliberate and intended to instill fear, distress, or harm.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72B3E-90AE-48D7-AE1C-0FA5EA19B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1112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103D1-EF94-F5CF-3940-381D4385F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88E2-D6C7-987A-566C-B08BD5C7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817" y="95250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4) Anonymity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FE10-C77E-A775-81B3-A0AB38588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974850"/>
            <a:ext cx="10458451" cy="3759200"/>
          </a:xfrm>
        </p:spPr>
        <p:txBody>
          <a:bodyPr>
            <a:normAutofit/>
          </a:bodyPr>
          <a:lstStyle/>
          <a:p>
            <a:pPr marR="0" lvl="1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dirty="0" err="1">
                <a:solidFill>
                  <a:srgbClr val="002060"/>
                </a:solidFill>
                <a:ea typeface="+mn-ea"/>
                <a:cs typeface="+mn-cs"/>
              </a:rPr>
              <a:t>Cyberstalkers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often exploit the anonymity of the internet to conceal their identity.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72B3E-90AE-48D7-AE1C-0FA5EA19B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1059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50DB-0785-34AD-4059-B373CCEE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A556-DC3F-4C30-8E4D-FAA3CF43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817" y="26511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5) Forms of Cyberstalking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9EE7-1574-6356-5CCC-E52013A8A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0" y="1171577"/>
            <a:ext cx="9848851" cy="5473700"/>
          </a:xfrm>
        </p:spPr>
        <p:txBody>
          <a:bodyPr>
            <a:normAutofit fontScale="92500"/>
          </a:bodyPr>
          <a:lstStyle/>
          <a:p>
            <a:pPr lvl="1"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Monitoring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Tracking someone’s online activities obsessively.</a:t>
            </a:r>
          </a:p>
          <a:p>
            <a:pPr lvl="1"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Impersonation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Creating fake profiles to tarnish the victim's reputation.</a:t>
            </a:r>
          </a:p>
          <a:p>
            <a:pPr lvl="1"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Threats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Sending threatening messages or comments.</a:t>
            </a:r>
          </a:p>
          <a:p>
            <a:pPr lvl="1"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Defamation: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 Posting false or malicious information about the victim.</a:t>
            </a:r>
          </a:p>
          <a:p>
            <a:pPr lvl="1"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Doxxing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Exposing personal information (e.g., home address, phone number) online.</a:t>
            </a:r>
          </a:p>
          <a:p>
            <a:pPr lvl="1"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Hacking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Attempting to access personal accounts or devices.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AE235-148F-0FA9-88EA-EFB07A74D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807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A456B-F5C7-D41B-FFD3-74DDA131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18557-8B5B-F451-D132-69D0355E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317" y="784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Effects of Cyber Stalking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BF25E-257A-1150-2DEF-023580B04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684" y="1508127"/>
            <a:ext cx="9025467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Emotional and Psychological:</a:t>
            </a:r>
            <a:r>
              <a:rPr lang="en-US" sz="2400" b="1" dirty="0">
                <a:solidFill>
                  <a:srgbClr val="002060"/>
                </a:solidFill>
              </a:rPr>
              <a:t> Anxiety, depression, fear, and stress.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Social:</a:t>
            </a:r>
            <a:r>
              <a:rPr lang="en-US" sz="2400" b="1" dirty="0">
                <a:solidFill>
                  <a:srgbClr val="002060"/>
                </a:solidFill>
              </a:rPr>
              <a:t> Isolation due to fear of being targeted.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Professional:</a:t>
            </a:r>
            <a:r>
              <a:rPr lang="en-US" sz="2400" b="1" dirty="0">
                <a:solidFill>
                  <a:srgbClr val="002060"/>
                </a:solidFill>
              </a:rPr>
              <a:t> Damage to reputation or interference with work life.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Physical:</a:t>
            </a:r>
            <a:r>
              <a:rPr lang="en-US" sz="2400" b="1" dirty="0">
                <a:solidFill>
                  <a:srgbClr val="002060"/>
                </a:solidFill>
              </a:rPr>
              <a:t> In severe cases, it can escalate to physical stalking or harm.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1BB5E-0CE5-163E-C3F2-EF90A9D78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1854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495" y="965816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End of Cyber Stalking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052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33084-0704-4D1F-3CB0-9C72F31A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7723-E978-F7EE-5BE2-14DA5654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517" y="99060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027C2-4FFD-29C7-A7D1-9277F5251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234" y="1955800"/>
            <a:ext cx="9025467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Is </a:t>
            </a:r>
            <a:r>
              <a:rPr lang="en-US" sz="2400" b="1" i="1" dirty="0">
                <a:solidFill>
                  <a:srgbClr val="C00000"/>
                </a:solidFill>
              </a:rPr>
              <a:t>the act of intentionally deceiving</a:t>
            </a:r>
            <a:r>
              <a:rPr lang="en-US" sz="2400" b="1" dirty="0">
                <a:solidFill>
                  <a:srgbClr val="002060"/>
                </a:solidFill>
              </a:rPr>
              <a:t> someone to gain an unfair or unlawful advantage, often financial in nature.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It involves </a:t>
            </a:r>
            <a:r>
              <a:rPr lang="en-US" sz="2400" b="1" i="1" dirty="0">
                <a:solidFill>
                  <a:srgbClr val="C00000"/>
                </a:solidFill>
              </a:rPr>
              <a:t>manipulating facts, lying or omitting critical information </a:t>
            </a:r>
            <a:r>
              <a:rPr lang="en-US" sz="2400" b="1" dirty="0">
                <a:solidFill>
                  <a:srgbClr val="002060"/>
                </a:solidFill>
              </a:rPr>
              <a:t>to mislead others for personal or organizational gain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928EB-9FE2-0D98-D705-155F3322E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4760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85E0C-A2F7-5211-9112-16306DBA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5025-2E88-24E1-1A42-9F4BB2981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567" y="100965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Key Elements of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FF843-4D5D-9537-A22F-3950C3C11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6334" y="1993900"/>
            <a:ext cx="9025467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Intentional Deception:</a:t>
            </a:r>
            <a:r>
              <a:rPr lang="en-US" sz="2400" b="1" dirty="0">
                <a:solidFill>
                  <a:srgbClr val="002060"/>
                </a:solidFill>
              </a:rPr>
              <a:t> The perpetrator knowingly makes false statements or misrepresents facts.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Unlawful Gain:</a:t>
            </a:r>
            <a:r>
              <a:rPr lang="en-US" sz="2400" b="1" dirty="0">
                <a:solidFill>
                  <a:srgbClr val="002060"/>
                </a:solidFill>
              </a:rPr>
              <a:t> The goal is often to gain money, property, or services unfairly.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Harm:</a:t>
            </a:r>
            <a:r>
              <a:rPr lang="en-US" sz="2400" b="1" dirty="0">
                <a:solidFill>
                  <a:srgbClr val="002060"/>
                </a:solidFill>
              </a:rPr>
              <a:t> Fraud causes financial, reputational, or emotional harm to the victim.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D39C7-31AC-B48D-CF1F-40DC9C1FB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4673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373C-B3F8-D6C4-268F-5B48237B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E5B5-5309-29B8-2958-9AFE9778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567" y="784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Types of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C2DEB-343D-E1E7-C660-452758B5E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684" y="1746250"/>
            <a:ext cx="9025467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1) Financial Fraud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2) Corporate Fraud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3) Consumer Fraud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4) Cyber Fraud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5) Insurance Fraud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400" b="1" dirty="0">
              <a:solidFill>
                <a:srgbClr val="002060"/>
              </a:solidFill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dirty="0">
              <a:solidFill>
                <a:srgbClr val="002060"/>
              </a:solidFill>
              <a:ea typeface="+mn-ea"/>
              <a:cs typeface="+mn-cs"/>
            </a:endParaRP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4649D-44CF-9ABB-9EBA-F80026798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6533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373C-B3F8-D6C4-268F-5B48237B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E5B5-5309-29B8-2958-9AFE9778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517" y="784227"/>
            <a:ext cx="8930216" cy="508000"/>
          </a:xfrm>
        </p:spPr>
        <p:txBody>
          <a:bodyPr/>
          <a:lstStyle/>
          <a:p>
            <a:pPr>
              <a:lnSpc>
                <a:spcPct val="11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en-US" sz="3600" dirty="0">
                <a:solidFill>
                  <a:srgbClr val="FF0000"/>
                </a:solidFill>
              </a:rPr>
              <a:t>1) Financial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C2DEB-343D-E1E7-C660-452758B5E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484" y="1689100"/>
            <a:ext cx="9025467" cy="5473700"/>
          </a:xfrm>
        </p:spPr>
        <p:txBody>
          <a:bodyPr>
            <a:normAutofit/>
          </a:bodyPr>
          <a:lstStyle/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Identity Theft: 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Stealing someone’s personal information to access their finances.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Credit Card Fraud: 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Using someone’s credit card information without authorization.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Investment Fraud: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Deceptive schemes to trick people into investing money.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3400" dirty="0">
              <a:solidFill>
                <a:srgbClr val="002060"/>
              </a:solidFill>
              <a:ea typeface="+mn-ea"/>
              <a:cs typeface="+mn-cs"/>
            </a:endParaRP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4649D-44CF-9ABB-9EBA-F80026798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9513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373C-B3F8-D6C4-268F-5B48237B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E5B5-5309-29B8-2958-9AFE9778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560" y="1038227"/>
            <a:ext cx="8930216" cy="508000"/>
          </a:xfrm>
        </p:spPr>
        <p:txBody>
          <a:bodyPr/>
          <a:lstStyle/>
          <a:p>
            <a:pPr>
              <a:lnSpc>
                <a:spcPct val="11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en-US" sz="3600" dirty="0">
                <a:solidFill>
                  <a:srgbClr val="FF0000"/>
                </a:solidFill>
              </a:rPr>
              <a:t>2) Corporate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C2DEB-343D-E1E7-C660-452758B5E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425" y="1384300"/>
            <a:ext cx="10153651" cy="5473700"/>
          </a:xfrm>
        </p:spPr>
        <p:txBody>
          <a:bodyPr>
            <a:normAutofit/>
          </a:bodyPr>
          <a:lstStyle/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3200" dirty="0">
              <a:solidFill>
                <a:srgbClr val="002060"/>
              </a:solidFill>
              <a:ea typeface="+mn-ea"/>
              <a:cs typeface="+mn-cs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Accounting Fraud: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Manipulating financial records to mislead investors or evade taxes.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Bribery and Corruption: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Offering or accepting bribes for unfair advantages.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Embezzlement: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Misappropriating funds from an employer or organization.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4649D-44CF-9ABB-9EBA-F80026798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7536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E5D8-E7A7-61BE-034B-482197D73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6CA5-4CD4-2656-C6E6-2E746676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784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3) Consumer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A1E84-C08E-A4A1-9422-BF370DE1C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819277"/>
            <a:ext cx="9563101" cy="5473700"/>
          </a:xfrm>
        </p:spPr>
        <p:txBody>
          <a:bodyPr>
            <a:normAutofit/>
          </a:bodyPr>
          <a:lstStyle/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Online Shopping Scams: 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Selling fake or nonexistent products/services online.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Lottery or Prize Scams: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Claiming the victim has won a prize but requires payment to claim it.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Phishing: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Using fake emails or websites to steal sensitive information.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400" dirty="0">
              <a:cs typeface="Times New Roman" panose="02020603050405020304" pitchFamily="18" charset="0"/>
            </a:endParaRP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AA0FB-534B-092C-DC62-D1F7FBECE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196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E5D8-E7A7-61BE-034B-482197D73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6CA5-4CD4-2656-C6E6-2E746676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217" y="99060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4) Cyber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A1E84-C08E-A4A1-9422-BF370DE1C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1866900"/>
            <a:ext cx="10020301" cy="4514850"/>
          </a:xfrm>
        </p:spPr>
        <p:txBody>
          <a:bodyPr>
            <a:normAutofit/>
          </a:bodyPr>
          <a:lstStyle/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Hacking for Financial Gain: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Gaining unauthorized access to systems to steal funds.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Ransomware: 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Locking systems and demanding payment to restore access.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Online Romance Scams: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Exploiting emotional relationships for financial gain.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AA0FB-534B-092C-DC62-D1F7FBECE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1493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D6ED-386B-2413-6447-D4FD9903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97E8-4130-8E4B-A618-4104147B0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567" y="1038227"/>
            <a:ext cx="8930216" cy="508000"/>
          </a:xfrm>
        </p:spPr>
        <p:txBody>
          <a:bodyPr/>
          <a:lstStyle/>
          <a:p>
            <a:pPr>
              <a:lnSpc>
                <a:spcPct val="11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en-US" sz="3600" dirty="0">
                <a:solidFill>
                  <a:srgbClr val="FF0000"/>
                </a:solidFill>
              </a:rPr>
              <a:t>5) Insurance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EED49-6F5E-0BE3-D2A2-970B60E3B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2020058"/>
            <a:ext cx="9331942" cy="5473700"/>
          </a:xfrm>
        </p:spPr>
        <p:txBody>
          <a:bodyPr>
            <a:normAutofit/>
          </a:bodyPr>
          <a:lstStyle/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C00000"/>
                </a:solidFill>
                <a:ea typeface="+mn-ea"/>
                <a:cs typeface="+mn-cs"/>
              </a:rPr>
              <a:t>False Claims:</a:t>
            </a: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 Submitting exaggerated or fabricated claims to insurance companies.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FA758-D567-C5AC-9805-84D187153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3078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7B74-9047-BBC2-5436-3410A237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6D2BD-18C0-95A9-6AF4-090A3866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217" y="530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General Tips to avoid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39700-38AC-C629-1028-04182210B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6334" y="1384300"/>
            <a:ext cx="9025467" cy="5473700"/>
          </a:xfrm>
        </p:spPr>
        <p:txBody>
          <a:bodyPr>
            <a:normAutofit/>
          </a:bodyPr>
          <a:lstStyle/>
          <a:p>
            <a:pPr algn="just">
              <a:lnSpc>
                <a:spcPct val="12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Education: </a:t>
            </a:r>
            <a:r>
              <a:rPr lang="en-US" sz="2400" b="1" dirty="0">
                <a:solidFill>
                  <a:srgbClr val="002060"/>
                </a:solidFill>
              </a:rPr>
              <a:t>Stay informed about new fraud trends and tactics.</a:t>
            </a:r>
            <a:endParaRPr lang="en-US" sz="2400" b="1" dirty="0">
              <a:solidFill>
                <a:srgbClr val="C00000"/>
              </a:solidFill>
            </a:endParaRP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Secure Communication: </a:t>
            </a:r>
            <a:r>
              <a:rPr lang="en-US" sz="2400" b="1" dirty="0">
                <a:solidFill>
                  <a:srgbClr val="002060"/>
                </a:solidFill>
              </a:rPr>
              <a:t>Avoid clicking on links in unsolicited emails or messages.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Authentication: </a:t>
            </a:r>
            <a:r>
              <a:rPr lang="en-US" sz="2400" b="1" dirty="0">
                <a:solidFill>
                  <a:srgbClr val="002060"/>
                </a:solidFill>
              </a:rPr>
              <a:t>Verify the identity of individuals or companies before conducting transactions.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Report Suspected Fraud: </a:t>
            </a:r>
            <a:r>
              <a:rPr lang="en-US" sz="2400" b="1" dirty="0">
                <a:solidFill>
                  <a:srgbClr val="002060"/>
                </a:solidFill>
              </a:rPr>
              <a:t>Inform local law enforcement or regulatory bodies immediately.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D964-D317-A0B0-5C35-FCB185D94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13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E2B2D-7B2E-7D8D-0696-8CE88EDF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B55D8-7FEA-F472-0DC6-AD00F09D9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495" y="965816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End of Fraud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D1157-7024-107F-9059-43CCA8693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279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4831-7210-C0D5-406C-8E704D20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ADBB-AA08-87CA-1D17-8F0BE1115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567" y="784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Abuse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B1329-95F6-6EB9-5A78-831A045EB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70050"/>
            <a:ext cx="9658351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Is </a:t>
            </a:r>
            <a:r>
              <a:rPr lang="en-US" sz="2400" b="1" i="1" dirty="0">
                <a:solidFill>
                  <a:srgbClr val="C00000"/>
                </a:solidFill>
              </a:rPr>
              <a:t>the improper or harmful use of power, control, or actions</a:t>
            </a:r>
            <a:r>
              <a:rPr lang="en-US" sz="2400" b="1" dirty="0">
                <a:solidFill>
                  <a:srgbClr val="002060"/>
                </a:solidFill>
              </a:rPr>
              <a:t> that result in physical, emotional, psychological, sexual, or financial harm to another individual. 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It can </a:t>
            </a:r>
            <a:r>
              <a:rPr lang="en-US" sz="2400" b="1" i="1" dirty="0">
                <a:solidFill>
                  <a:srgbClr val="C00000"/>
                </a:solidFill>
              </a:rPr>
              <a:t>occur in various contexts</a:t>
            </a:r>
            <a:r>
              <a:rPr lang="en-US" sz="2400" b="1" dirty="0">
                <a:solidFill>
                  <a:srgbClr val="002060"/>
                </a:solidFill>
              </a:rPr>
              <a:t>, including personal relationships, workplaces, institutions, or online spaces.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F9B9C-3DF5-D67D-0CF0-40CAF6E23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910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9D5E3-A6F2-4786-11DC-662D4B99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51AF-4B26-CEEF-D570-AC2899B0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1038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Types of Abuse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DA07-3645-D23B-5A04-5B7C34C51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0184" y="1822450"/>
            <a:ext cx="9025467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1) Physical Abuse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2) Emotional or Psychological Abuse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3) </a:t>
            </a:r>
            <a:r>
              <a:rPr lang="en-GB" sz="2400" b="1" dirty="0">
                <a:solidFill>
                  <a:srgbClr val="002060"/>
                </a:solidFill>
              </a:rPr>
              <a:t>Financial </a:t>
            </a:r>
            <a:r>
              <a:rPr lang="en-US" sz="2400" b="1" dirty="0">
                <a:solidFill>
                  <a:srgbClr val="002060"/>
                </a:solidFill>
              </a:rPr>
              <a:t>Abuse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4) Neglect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E1EAB-3ADE-AE26-9E61-66935EBD7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82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9D5E3-A6F2-4786-11DC-662D4B99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51AF-4B26-CEEF-D570-AC2899B0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967" y="1038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1) Physical Abuse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DA07-3645-D23B-5A04-5B7C34C51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50" y="1689100"/>
            <a:ext cx="9734551" cy="5473700"/>
          </a:xfrm>
        </p:spPr>
        <p:txBody>
          <a:bodyPr>
            <a:normAutofit/>
          </a:bodyPr>
          <a:lstStyle/>
          <a:p>
            <a:pPr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b="1" dirty="0">
                <a:solidFill>
                  <a:srgbClr val="002060"/>
                </a:solidFill>
              </a:rPr>
              <a:t>Intentional infliction of physical harm or injury.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Examples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hitting, slapping or punching, pushing, choking or using weapons.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Effects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Unexplained injuries, frequent hospital visits, or a victim appearing fearful or anxious.</a:t>
            </a:r>
          </a:p>
          <a:p>
            <a:pPr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E1EAB-3ADE-AE26-9E61-66935EBD7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4900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9D5E3-A6F2-4786-11DC-662D4B99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51AF-4B26-CEEF-D570-AC2899B0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117" y="1038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2) Emotional or Psychological Abuse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DA07-3645-D23B-5A04-5B7C34C51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25" y="1765300"/>
            <a:ext cx="10306051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b="1" dirty="0">
                <a:solidFill>
                  <a:srgbClr val="002060"/>
                </a:solidFill>
              </a:rPr>
              <a:t>Using words, actions, or behaviors to control, belittle, or isolate someone.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Examples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Threatening, manipulating, or gaslighting, Isolating the victim from friends and family.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Effects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: Low self-esteem, depression, anxiety.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E1EAB-3ADE-AE26-9E61-66935EBD7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504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A3657-0726-25AD-7CB3-E6EF93E5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7FC0-4A19-38C8-BEDD-7800A742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717" y="13176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3) </a:t>
            </a:r>
            <a:r>
              <a:rPr lang="en-GB" sz="3600" dirty="0">
                <a:solidFill>
                  <a:srgbClr val="FF0000"/>
                </a:solidFill>
              </a:rPr>
              <a:t>Financial</a:t>
            </a:r>
            <a:r>
              <a:rPr lang="en-US" sz="3600" dirty="0">
                <a:solidFill>
                  <a:srgbClr val="FF0000"/>
                </a:solidFill>
              </a:rPr>
              <a:t> Abuse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2E9B-10A3-BACD-5F0A-14F149A83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7" y="2146300"/>
            <a:ext cx="10801351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b="1" dirty="0">
                <a:solidFill>
                  <a:srgbClr val="002060"/>
                </a:solidFill>
              </a:rPr>
              <a:t>Intentional infliction of physical harm or injury.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Examples: 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Stealing money or assets. Forcing someone to sign financial documents. Restricting access to their own money.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Effects: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 Financial dependency, debt, or homelessness. 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80EE0-5889-2B22-F022-C03E61125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8189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A3657-0726-25AD-7CB3-E6EF93E5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7FC0-4A19-38C8-BEDD-7800A742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917" y="784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4) Neglect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2E9B-10A3-BACD-5F0A-14F149A83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689100"/>
            <a:ext cx="10344151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b="1" dirty="0">
                <a:solidFill>
                  <a:srgbClr val="002060"/>
                </a:solidFill>
              </a:rPr>
              <a:t>Failing to provide for someone’s basic needs.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Examples: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 Not providing food, clothing, shelter or medical care. Ignoring emotional needs in relationships or caregiving roles.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600" dirty="0">
                <a:solidFill>
                  <a:srgbClr val="C00000"/>
                </a:solidFill>
                <a:ea typeface="+mn-ea"/>
                <a:cs typeface="+mn-cs"/>
              </a:rPr>
              <a:t>Effects:</a:t>
            </a:r>
            <a:r>
              <a:rPr lang="en-US" sz="2600" dirty="0">
                <a:solidFill>
                  <a:srgbClr val="002060"/>
                </a:solidFill>
                <a:ea typeface="+mn-ea"/>
                <a:cs typeface="+mn-cs"/>
              </a:rPr>
              <a:t> Malnutrition, poor hygiene or untreated medical conditions.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80EE0-5889-2B22-F022-C03E61125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2459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0B7C-A4AE-67B5-DC2D-CCBE3336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F235-0D77-E271-785D-AB59EE23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51911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Facts for avoiding Cyber Abuse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02B7F-4356-8BD2-5749-7ED64164C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1384300"/>
            <a:ext cx="9696450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Protect Personal Information: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Avoid sharing sensitive details like your address, phone number, or financial info online.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Use Strong, Unique Passwords: 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Use complex passwords and change them regularly to reduce hacking risks.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Enable Privacy Settings: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Customize privacy controls on social media and apps to limit who can see your posts and information.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dirty="0"/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dirty="0"/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9D42C-BED8-875D-B06C-EA9857CCA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2005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ECEE-C456-C845-F35F-E19E3394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042A-A281-891E-12BE-00CC6F3F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167" y="51911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Facts for avoiding Cyber Abuse(Cont’d)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A2FE7-E1E3-75ED-1AFA-C403CB1FB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084" y="1470027"/>
            <a:ext cx="9025467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Recognize Warning Signs: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Cyber abuse can include harassment, threats, stalking, or spreading false information. Know the signs early.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Block and Report Abusers: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Use platform tools to block offenders and report abusive behavior to authorities or site admins.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D6530-581D-EF90-EF26-83025D333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0167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B52D-439D-4B4F-01D3-07B26172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ECF9A-DBAB-7174-B5BE-4FCEA90C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51911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Facts for avoiding Cyber Abuse(Cont’d)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AE04D-28EB-0AD1-0AE8-2BD9D8F3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100" y="1651000"/>
            <a:ext cx="9563101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Keep Evidence: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Save messages, screenshots or emails that show abuse for reporting or legal action.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Educate yourself and others: 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Stay informed about online safety and share best practices with friends and family.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86E67-185E-B816-3B36-A7DB27920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9913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D8C41-446C-188F-A5E9-0C538FAC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3B04-5204-71E6-4180-36A6DEC6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617" y="784227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Facts for avoiding Cyber Abuse(Cont’d)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2430E-0A5D-91C6-4813-4DC171AE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727200"/>
            <a:ext cx="9991726" cy="39116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Seek Help Without Judgment: 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If someone confides in you about cyber abuse, provide support without judgment—listen empathetically, believe them, and offer help or resources..</a:t>
            </a:r>
          </a:p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400" b="1" dirty="0">
                <a:solidFill>
                  <a:srgbClr val="C00000"/>
                </a:solidFill>
              </a:rPr>
              <a:t>Use Security Software: 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solidFill>
                  <a:srgbClr val="002060"/>
                </a:solidFill>
                <a:ea typeface="+mn-ea"/>
                <a:cs typeface="+mn-cs"/>
              </a:rPr>
              <a:t>Keep antivirus software updated to protect your devices.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A81C0-C7D5-BCC6-0EC0-C8F697C02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020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B1290-35C5-5FC0-566F-F3A41AEA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24BED-8750-20CD-EAB3-FDC4D1B2F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495" y="965816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End of Abuse</a:t>
            </a:r>
          </a:p>
          <a:p>
            <a:pPr marL="0" indent="0" algn="ctr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B2513-6445-012E-B17C-922749914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0310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1" y="2"/>
            <a:ext cx="9144000" cy="121052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Cyber Security and Digital Forensics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8426" y="2038350"/>
            <a:ext cx="6543675" cy="2133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Networks and The Internet</a:t>
            </a:r>
          </a:p>
          <a:p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09743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34391-DD11-8E84-1CDC-04034507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9A3D-95A5-70AC-E61B-231ABFA7F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519114"/>
            <a:ext cx="8930216" cy="508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103A1-7133-2119-5AB7-79870C704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084" y="1765300"/>
            <a:ext cx="9958916" cy="5473700"/>
          </a:xfrm>
        </p:spPr>
        <p:txBody>
          <a:bodyPr>
            <a:normAutofit/>
          </a:bodyPr>
          <a:lstStyle/>
          <a:p>
            <a:pPr algn="just">
              <a:lnSpc>
                <a:spcPct val="11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2600" b="1" i="1" dirty="0">
                <a:solidFill>
                  <a:srgbClr val="C00000"/>
                </a:solidFill>
              </a:rPr>
              <a:t>A computer network</a:t>
            </a:r>
            <a:r>
              <a:rPr lang="en-US" sz="2600" b="1" dirty="0">
                <a:solidFill>
                  <a:srgbClr val="002060"/>
                </a:solidFill>
              </a:rPr>
              <a:t> is a collection of interconnected devices (computers, servers, printers, etc.) that share resources and communicate with each other.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BAB83-2300-C973-9AEB-FD3342310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0198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A204F-31F3-AE80-AAC6-A417D5A56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02C4-EBA5-822E-4794-BA2E6E38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61" y="2"/>
            <a:ext cx="9753600" cy="1154097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Types of Networks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178D9-EE36-1B49-688B-989000D9D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C4E9FE-A71E-952F-2B29-36B324263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47645"/>
              </p:ext>
            </p:extLst>
          </p:nvPr>
        </p:nvGraphicFramePr>
        <p:xfrm>
          <a:off x="0" y="1347788"/>
          <a:ext cx="12192000" cy="609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029">
                  <a:extLst>
                    <a:ext uri="{9D8B030D-6E8A-4147-A177-3AD203B41FA5}">
                      <a16:colId xmlns:a16="http://schemas.microsoft.com/office/drawing/2014/main" val="2706874343"/>
                    </a:ext>
                  </a:extLst>
                </a:gridCol>
                <a:gridCol w="4152450">
                  <a:extLst>
                    <a:ext uri="{9D8B030D-6E8A-4147-A177-3AD203B41FA5}">
                      <a16:colId xmlns:a16="http://schemas.microsoft.com/office/drawing/2014/main" val="1051117390"/>
                    </a:ext>
                  </a:extLst>
                </a:gridCol>
                <a:gridCol w="3177697">
                  <a:extLst>
                    <a:ext uri="{9D8B030D-6E8A-4147-A177-3AD203B41FA5}">
                      <a16:colId xmlns:a16="http://schemas.microsoft.com/office/drawing/2014/main" val="2594684088"/>
                    </a:ext>
                  </a:extLst>
                </a:gridCol>
                <a:gridCol w="2670824">
                  <a:extLst>
                    <a:ext uri="{9D8B030D-6E8A-4147-A177-3AD203B41FA5}">
                      <a16:colId xmlns:a16="http://schemas.microsoft.com/office/drawing/2014/main" val="2147160153"/>
                    </a:ext>
                  </a:extLst>
                </a:gridCol>
              </a:tblGrid>
              <a:tr h="81114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Network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Coverage(Range)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Used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Common Transfer Methods(Protocols)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381204"/>
                  </a:ext>
                </a:extLst>
              </a:tr>
              <a:tr h="695265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LAN (Intranet)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Within a home, office, or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Connecting computers, printers, routers,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Ethernet(wired cable), </a:t>
                      </a:r>
                      <a:r>
                        <a:rPr lang="en-US" sz="2000" dirty="0"/>
                        <a:t>Wi-Fi,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644031"/>
                  </a:ext>
                </a:extLst>
              </a:tr>
              <a:tr h="1351903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WAN(Internet)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global network of networks(</a:t>
                      </a:r>
                      <a:r>
                        <a:rPr lang="en-US" sz="2000" dirty="0"/>
                        <a:t>a massive interconnection of millions of private, public, academic, business, and government networks.)</a:t>
                      </a:r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communication, data sharing on a global scale.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Fiber, Satellite, Cellular, etc.</a:t>
                      </a:r>
                    </a:p>
                    <a:p>
                      <a:pPr algn="just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170464"/>
                  </a:ext>
                </a:extLst>
              </a:tr>
              <a:tr h="695265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PAN(Personal Area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A few 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Connecting personal devices (e.g., phone ↔ smartwatch)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Bluetooth, </a:t>
                      </a:r>
                      <a:r>
                        <a:rPr lang="en-US" sz="2000" dirty="0"/>
                        <a:t>USB cables,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202797"/>
                  </a:ext>
                </a:extLst>
              </a:tr>
              <a:tr h="1956638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MAN (Metropolitan Area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Across a city or large campus</a:t>
                      </a:r>
                    </a:p>
                    <a:p>
                      <a:pPr algn="just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Connecting LANs across locations within a city(e.g., universities, government networks)</a:t>
                      </a:r>
                    </a:p>
                    <a:p>
                      <a:pPr algn="just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Fiber Optic Cables, Microwave Links, etc.</a:t>
                      </a:r>
                    </a:p>
                    <a:p>
                      <a:pPr algn="just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771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243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3CFA2-56AB-5866-FD44-5634A0DD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6E34-D870-5071-11A5-47EA30797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300" y="-49196"/>
            <a:ext cx="11925300" cy="92549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Vulnerabilities and their related attacked types in Networks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7834E-0168-014F-EDD8-DCEBFADE69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3"/>
            <a:ext cx="762001" cy="87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043132-C0BE-6DD6-C5DE-C189933FD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959512"/>
              </p:ext>
            </p:extLst>
          </p:nvPr>
        </p:nvGraphicFramePr>
        <p:xfrm>
          <a:off x="0" y="876300"/>
          <a:ext cx="12192000" cy="6193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743426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443534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62548926"/>
                    </a:ext>
                  </a:extLst>
                </a:gridCol>
              </a:tblGrid>
              <a:tr h="153572">
                <a:tc>
                  <a:txBody>
                    <a:bodyPr/>
                    <a:lstStyle/>
                    <a:p>
                      <a:r>
                        <a:rPr lang="en-US" dirty="0"/>
                        <a:t>Vulnerabilities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Attack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826166"/>
                  </a:ext>
                </a:extLst>
              </a:tr>
              <a:tr h="1242060">
                <a:tc>
                  <a:txBody>
                    <a:bodyPr/>
                    <a:lstStyle/>
                    <a:p>
                      <a:r>
                        <a:rPr lang="en-US" dirty="0"/>
                        <a:t>Unencrypted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can be easily read if intercepted.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Packet Sniffing</a:t>
                      </a:r>
                      <a:r>
                        <a:rPr lang="en-US" dirty="0"/>
                        <a:t> – captures data in transit.</a:t>
                      </a:r>
                      <a:r>
                        <a:rPr lang="en-US" b="1" dirty="0"/>
                        <a:t> Packet Man-in-the-Middle (MITM)</a:t>
                      </a:r>
                      <a:r>
                        <a:rPr lang="en-US" dirty="0"/>
                        <a:t> – intercepts and possibly alters communication.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385266"/>
                  </a:ext>
                </a:extLst>
              </a:tr>
              <a:tr h="1815318">
                <a:tc>
                  <a:txBody>
                    <a:bodyPr/>
                    <a:lstStyle/>
                    <a:p>
                      <a:r>
                        <a:rPr lang="en-US" dirty="0"/>
                        <a:t>Weak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Easy-to-guess or reused passwords.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Brute Force Attack</a:t>
                      </a:r>
                      <a:r>
                        <a:rPr lang="en-US" dirty="0"/>
                        <a:t> – tries many passwords.</a:t>
                      </a:r>
                    </a:p>
                    <a:p>
                      <a:r>
                        <a:rPr lang="en-US" b="1" dirty="0"/>
                        <a:t>Credential Stuffing</a:t>
                      </a:r>
                      <a:r>
                        <a:rPr lang="en-US" dirty="0"/>
                        <a:t> – uses leaked credentials.</a:t>
                      </a:r>
                      <a:br>
                        <a:rPr lang="en-US" dirty="0"/>
                      </a:br>
                      <a:r>
                        <a:rPr lang="en-US" b="1" dirty="0"/>
                        <a:t>Phishing</a:t>
                      </a:r>
                      <a:r>
                        <a:rPr lang="en-US" dirty="0"/>
                        <a:t> – tricks users into revealing passwords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568220"/>
                  </a:ext>
                </a:extLst>
              </a:tr>
              <a:tr h="1528689">
                <a:tc>
                  <a:txBody>
                    <a:bodyPr/>
                    <a:lstStyle/>
                    <a:p>
                      <a:r>
                        <a:rPr lang="en-US" dirty="0"/>
                        <a:t>Open 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Services unnecessarily exposed to the internet.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Port Scanning</a:t>
                      </a:r>
                      <a:r>
                        <a:rPr lang="en-US" dirty="0"/>
                        <a:t> – finds open services to exploit.</a:t>
                      </a:r>
                      <a:br>
                        <a:rPr lang="en-US" dirty="0"/>
                      </a:br>
                      <a:r>
                        <a:rPr lang="en-US" b="1" dirty="0"/>
                        <a:t>Exploitation of Exposed Services</a:t>
                      </a:r>
                      <a:r>
                        <a:rPr lang="en-US" dirty="0"/>
                        <a:t> – like remote code execution or data exfiltration.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840413"/>
                  </a:ext>
                </a:extLst>
              </a:tr>
              <a:tr h="1242060">
                <a:tc>
                  <a:txBody>
                    <a:bodyPr/>
                    <a:lstStyle/>
                    <a:p>
                      <a:r>
                        <a:rPr lang="en-US" dirty="0"/>
                        <a:t>Outdated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security patches that attackers can exploit.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Exploitation of Known Vulnerabilities.</a:t>
                      </a:r>
                      <a:br>
                        <a:rPr lang="en-US" dirty="0"/>
                      </a:br>
                      <a:r>
                        <a:rPr lang="en-US" b="1" dirty="0"/>
                        <a:t>Remote Code Execution (RCE)</a:t>
                      </a:r>
                      <a:r>
                        <a:rPr lang="en-US" dirty="0"/>
                        <a:t> – attacker gains control.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4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081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0859-0976-858E-9902-AAA0AB32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70F8E-E161-4B83-44CE-D4839651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495" y="965816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End of Introduction to Computer Security (Lecture 1)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0C8B7-8B1D-CC86-144C-9C0094578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076" y="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4927896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8">
      <a:dk1>
        <a:srgbClr val="4D4D4D"/>
      </a:dk1>
      <a:lt1>
        <a:srgbClr val="FFFFFF"/>
      </a:lt1>
      <a:dk2>
        <a:srgbClr val="000000"/>
      </a:dk2>
      <a:lt2>
        <a:srgbClr val="224700"/>
      </a:lt2>
      <a:accent1>
        <a:srgbClr val="68A500"/>
      </a:accent1>
      <a:accent2>
        <a:srgbClr val="8CB400"/>
      </a:accent2>
      <a:accent3>
        <a:srgbClr val="FFFFFF"/>
      </a:accent3>
      <a:accent4>
        <a:srgbClr val="404040"/>
      </a:accent4>
      <a:accent5>
        <a:srgbClr val="B9CFAA"/>
      </a:accent5>
      <a:accent6>
        <a:srgbClr val="7EA300"/>
      </a:accent6>
      <a:hlink>
        <a:srgbClr val="C0C425"/>
      </a:hlink>
      <a:folHlink>
        <a:srgbClr val="EAEAEA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6E6046"/>
        </a:lt2>
        <a:accent1>
          <a:srgbClr val="B69E77"/>
        </a:accent1>
        <a:accent2>
          <a:srgbClr val="9E280E"/>
        </a:accent2>
        <a:accent3>
          <a:srgbClr val="FFFFFF"/>
        </a:accent3>
        <a:accent4>
          <a:srgbClr val="404040"/>
        </a:accent4>
        <a:accent5>
          <a:srgbClr val="D7CCBD"/>
        </a:accent5>
        <a:accent6>
          <a:srgbClr val="8F230C"/>
        </a:accent6>
        <a:hlink>
          <a:srgbClr val="FFC6A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6E6046"/>
        </a:lt2>
        <a:accent1>
          <a:srgbClr val="B69E77"/>
        </a:accent1>
        <a:accent2>
          <a:srgbClr val="9E280E"/>
        </a:accent2>
        <a:accent3>
          <a:srgbClr val="FFFFFF"/>
        </a:accent3>
        <a:accent4>
          <a:srgbClr val="404040"/>
        </a:accent4>
        <a:accent5>
          <a:srgbClr val="D7CCBD"/>
        </a:accent5>
        <a:accent6>
          <a:srgbClr val="8F230C"/>
        </a:accent6>
        <a:hlink>
          <a:srgbClr val="E1C6A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532F3C"/>
        </a:lt2>
        <a:accent1>
          <a:srgbClr val="CDC09A"/>
        </a:accent1>
        <a:accent2>
          <a:srgbClr val="AC9F55"/>
        </a:accent2>
        <a:accent3>
          <a:srgbClr val="FFFFFF"/>
        </a:accent3>
        <a:accent4>
          <a:srgbClr val="404040"/>
        </a:accent4>
        <a:accent5>
          <a:srgbClr val="E3DCCA"/>
        </a:accent5>
        <a:accent6>
          <a:srgbClr val="9B904C"/>
        </a:accent6>
        <a:hlink>
          <a:srgbClr val="DBD3C7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064300"/>
        </a:lt2>
        <a:accent1>
          <a:srgbClr val="AC927F"/>
        </a:accent1>
        <a:accent2>
          <a:srgbClr val="3AAE00"/>
        </a:accent2>
        <a:accent3>
          <a:srgbClr val="FFFFFF"/>
        </a:accent3>
        <a:accent4>
          <a:srgbClr val="404040"/>
        </a:accent4>
        <a:accent5>
          <a:srgbClr val="D2C7C0"/>
        </a:accent5>
        <a:accent6>
          <a:srgbClr val="349D00"/>
        </a:accent6>
        <a:hlink>
          <a:srgbClr val="D2B8A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033100"/>
        </a:lt2>
        <a:accent1>
          <a:srgbClr val="2F9400"/>
        </a:accent1>
        <a:accent2>
          <a:srgbClr val="6C838B"/>
        </a:accent2>
        <a:accent3>
          <a:srgbClr val="FFFFFF"/>
        </a:accent3>
        <a:accent4>
          <a:srgbClr val="404040"/>
        </a:accent4>
        <a:accent5>
          <a:srgbClr val="ADC8AA"/>
        </a:accent5>
        <a:accent6>
          <a:srgbClr val="61767D"/>
        </a:accent6>
        <a:hlink>
          <a:srgbClr val="996E68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063B00"/>
        </a:lt2>
        <a:accent1>
          <a:srgbClr val="33A800"/>
        </a:accent1>
        <a:accent2>
          <a:srgbClr val="B26D33"/>
        </a:accent2>
        <a:accent3>
          <a:srgbClr val="FFFFFF"/>
        </a:accent3>
        <a:accent4>
          <a:srgbClr val="404040"/>
        </a:accent4>
        <a:accent5>
          <a:srgbClr val="ADD1AA"/>
        </a:accent5>
        <a:accent6>
          <a:srgbClr val="A1622D"/>
        </a:accent6>
        <a:hlink>
          <a:srgbClr val="CE793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224700"/>
        </a:lt2>
        <a:accent1>
          <a:srgbClr val="68A500"/>
        </a:accent1>
        <a:accent2>
          <a:srgbClr val="8CB400"/>
        </a:accent2>
        <a:accent3>
          <a:srgbClr val="FFFFFF"/>
        </a:accent3>
        <a:accent4>
          <a:srgbClr val="404040"/>
        </a:accent4>
        <a:accent5>
          <a:srgbClr val="B9CFAA"/>
        </a:accent5>
        <a:accent6>
          <a:srgbClr val="7EA300"/>
        </a:accent6>
        <a:hlink>
          <a:srgbClr val="DC888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224700"/>
        </a:lt2>
        <a:accent1>
          <a:srgbClr val="68A500"/>
        </a:accent1>
        <a:accent2>
          <a:srgbClr val="8CB400"/>
        </a:accent2>
        <a:accent3>
          <a:srgbClr val="FFFFFF"/>
        </a:accent3>
        <a:accent4>
          <a:srgbClr val="404040"/>
        </a:accent4>
        <a:accent5>
          <a:srgbClr val="B9CFAA"/>
        </a:accent5>
        <a:accent6>
          <a:srgbClr val="7EA300"/>
        </a:accent6>
        <a:hlink>
          <a:srgbClr val="C0C42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265400"/>
        </a:lt2>
        <a:accent1>
          <a:srgbClr val="37A091"/>
        </a:accent1>
        <a:accent2>
          <a:srgbClr val="CC8587"/>
        </a:accent2>
        <a:accent3>
          <a:srgbClr val="FFFFFF"/>
        </a:accent3>
        <a:accent4>
          <a:srgbClr val="404040"/>
        </a:accent4>
        <a:accent5>
          <a:srgbClr val="AECDC7"/>
        </a:accent5>
        <a:accent6>
          <a:srgbClr val="B9787A"/>
        </a:accent6>
        <a:hlink>
          <a:srgbClr val="FCE46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546715"/>
        </a:lt2>
        <a:accent1>
          <a:srgbClr val="EF733A"/>
        </a:accent1>
        <a:accent2>
          <a:srgbClr val="C1D72E"/>
        </a:accent2>
        <a:accent3>
          <a:srgbClr val="FFFFFF"/>
        </a:accent3>
        <a:accent4>
          <a:srgbClr val="404040"/>
        </a:accent4>
        <a:accent5>
          <a:srgbClr val="F6BCAE"/>
        </a:accent5>
        <a:accent6>
          <a:srgbClr val="AFC329"/>
        </a:accent6>
        <a:hlink>
          <a:srgbClr val="F1954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406910"/>
        </a:lt2>
        <a:accent1>
          <a:srgbClr val="D04611"/>
        </a:accent1>
        <a:accent2>
          <a:srgbClr val="77BB0F"/>
        </a:accent2>
        <a:accent3>
          <a:srgbClr val="FFFFFF"/>
        </a:accent3>
        <a:accent4>
          <a:srgbClr val="404040"/>
        </a:accent4>
        <a:accent5>
          <a:srgbClr val="E4B0AA"/>
        </a:accent5>
        <a:accent6>
          <a:srgbClr val="6BA90C"/>
        </a:accent6>
        <a:hlink>
          <a:srgbClr val="6CA2C7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2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A5A5A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3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33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4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8CA82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plate 8">
    <a:dk1>
      <a:srgbClr val="4D4D4D"/>
    </a:dk1>
    <a:lt1>
      <a:srgbClr val="FFFFFF"/>
    </a:lt1>
    <a:dk2>
      <a:srgbClr val="000000"/>
    </a:dk2>
    <a:lt2>
      <a:srgbClr val="224700"/>
    </a:lt2>
    <a:accent1>
      <a:srgbClr val="68A500"/>
    </a:accent1>
    <a:accent2>
      <a:srgbClr val="8CB400"/>
    </a:accent2>
    <a:accent3>
      <a:srgbClr val="FFFFFF"/>
    </a:accent3>
    <a:accent4>
      <a:srgbClr val="404040"/>
    </a:accent4>
    <a:accent5>
      <a:srgbClr val="B9CFAA"/>
    </a:accent5>
    <a:accent6>
      <a:srgbClr val="7EA300"/>
    </a:accent6>
    <a:hlink>
      <a:srgbClr val="C0C425"/>
    </a:hlink>
    <a:folHlink>
      <a:srgbClr val="EAEAE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2472</TotalTime>
  <Words>1608</Words>
  <Application>Microsoft Office PowerPoint</Application>
  <PresentationFormat>Widescreen</PresentationFormat>
  <Paragraphs>207</Paragraphs>
  <Slides>41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template</vt:lpstr>
      <vt:lpstr>Cyber Security and Digital Forensics I</vt:lpstr>
      <vt:lpstr>Lecture Objective</vt:lpstr>
      <vt:lpstr>Cyber Security</vt:lpstr>
      <vt:lpstr>Main Goals</vt:lpstr>
      <vt:lpstr>Key Methods for Security</vt:lpstr>
      <vt:lpstr>Digital Forensics</vt:lpstr>
      <vt:lpstr>Cyber Stalking </vt:lpstr>
      <vt:lpstr>Key Features of Cyber Stalking</vt:lpstr>
      <vt:lpstr>1) Persistent and Repeated Behavior</vt:lpstr>
      <vt:lpstr>2) Use of Digital Platforms</vt:lpstr>
      <vt:lpstr>3) Intent to Harass or Harm</vt:lpstr>
      <vt:lpstr>4) Anonymity</vt:lpstr>
      <vt:lpstr>5) Forms of Cyberstalking</vt:lpstr>
      <vt:lpstr>Effects of Cyber Stalking</vt:lpstr>
      <vt:lpstr>PowerPoint Presentation</vt:lpstr>
      <vt:lpstr>Fraud</vt:lpstr>
      <vt:lpstr>Key Elements of Fraud</vt:lpstr>
      <vt:lpstr>Types of Fraud</vt:lpstr>
      <vt:lpstr>1) Financial Fraud</vt:lpstr>
      <vt:lpstr>2) Corporate Fraud</vt:lpstr>
      <vt:lpstr>3) Consumer Fraud</vt:lpstr>
      <vt:lpstr>4) Cyber Fraud</vt:lpstr>
      <vt:lpstr>5) Insurance Fraud</vt:lpstr>
      <vt:lpstr>General Tips to avoid Fraud</vt:lpstr>
      <vt:lpstr>PowerPoint Presentation</vt:lpstr>
      <vt:lpstr>Abuse</vt:lpstr>
      <vt:lpstr>Types of Abuse</vt:lpstr>
      <vt:lpstr>1) Physical Abuse</vt:lpstr>
      <vt:lpstr>2) Emotional or Psychological Abuse</vt:lpstr>
      <vt:lpstr>3) Financial Abuse</vt:lpstr>
      <vt:lpstr>4) Neglect</vt:lpstr>
      <vt:lpstr>Facts for avoiding Cyber Abuse</vt:lpstr>
      <vt:lpstr>Facts for avoiding Cyber Abuse(Cont’d)</vt:lpstr>
      <vt:lpstr>Facts for avoiding Cyber Abuse(Cont’d)</vt:lpstr>
      <vt:lpstr>Facts for avoiding Cyber Abuse(Cont’d)</vt:lpstr>
      <vt:lpstr>PowerPoint Presentation</vt:lpstr>
      <vt:lpstr>Cyber Security and Digital Forensics I</vt:lpstr>
      <vt:lpstr>Networks</vt:lpstr>
      <vt:lpstr>Types of Networks</vt:lpstr>
      <vt:lpstr>Vulnerabilities and their related attacked types in Networks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Software Project</dc:title>
  <dc:creator>IS Dept</dc:creator>
  <cp:lastModifiedBy>Hay Man Oo</cp:lastModifiedBy>
  <cp:revision>79</cp:revision>
  <dcterms:created xsi:type="dcterms:W3CDTF">2025-06-04T14:08:54Z</dcterms:created>
  <dcterms:modified xsi:type="dcterms:W3CDTF">2025-12-15T16:06:51Z</dcterms:modified>
</cp:coreProperties>
</file>