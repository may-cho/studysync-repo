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68" r:id="rId2"/>
    <p:sldId id="256" r:id="rId3"/>
    <p:sldId id="333" r:id="rId4"/>
    <p:sldId id="334" r:id="rId5"/>
    <p:sldId id="335" r:id="rId6"/>
    <p:sldId id="336" r:id="rId7"/>
    <p:sldId id="337" r:id="rId8"/>
    <p:sldId id="338" r:id="rId9"/>
    <p:sldId id="302" r:id="rId10"/>
    <p:sldId id="303" r:id="rId11"/>
    <p:sldId id="30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8312" autoAdjust="0"/>
  </p:normalViewPr>
  <p:slideViewPr>
    <p:cSldViewPr snapToGrid="0">
      <p:cViewPr varScale="1">
        <p:scale>
          <a:sx n="60" d="100"/>
          <a:sy n="60" d="100"/>
        </p:scale>
        <p:origin x="10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39A9A75-252C-46F7-919C-604427143F4E}" type="datetimeFigureOut">
              <a:rPr lang="en-US" smtClean="0"/>
              <a:t>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58CDF-060F-42F7-A582-A53AE2DAB37C}" type="slidenum">
              <a:rPr lang="en-US" smtClean="0"/>
              <a:t>‹#›</a:t>
            </a:fld>
            <a:endParaRPr lang="en-US"/>
          </a:p>
        </p:txBody>
      </p:sp>
    </p:spTree>
    <p:extLst>
      <p:ext uri="{BB962C8B-B14F-4D97-AF65-F5344CB8AC3E}">
        <p14:creationId xmlns:p14="http://schemas.microsoft.com/office/powerpoint/2010/main" val="1202881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56D99A-C2AE-4850-A443-DEDECD9DA199}"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38218526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6D99A-C2AE-4850-A443-DEDECD9DA199}"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1197267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56D99A-C2AE-4850-A443-DEDECD9DA199}"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1525187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56D99A-C2AE-4850-A443-DEDECD9DA199}"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1359320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6D99A-C2AE-4850-A443-DEDECD9DA199}" type="datetimeFigureOut">
              <a:rPr lang="en-US" smtClean="0"/>
              <a:t>12/9/2025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3164040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56D99A-C2AE-4850-A443-DEDECD9DA199}" type="datetimeFigureOut">
              <a:rPr lang="en-US" smtClean="0"/>
              <a:t>12/9/2025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1966341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6D99A-C2AE-4850-A443-DEDECD9DA199}" type="datetimeFigureOut">
              <a:rPr lang="en-US" smtClean="0"/>
              <a:t>12/9/2025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2158824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56D99A-C2AE-4850-A443-DEDECD9DA199}"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3342880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956D99A-C2AE-4850-A443-DEDECD9DA199}" type="datetimeFigureOut">
              <a:rPr lang="en-US" smtClean="0"/>
              <a:t>12/9/2025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2621015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6D99A-C2AE-4850-A443-DEDECD9DA199}"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797033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6D99A-C2AE-4850-A443-DEDECD9DA199}" type="datetimeFigureOut">
              <a:rPr lang="en-US" smtClean="0"/>
              <a:t>12/9/2025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8923C6-4E47-4BE4-9D29-DA2C97C36CBC}" type="slidenum">
              <a:rPr lang="en-US" smtClean="0"/>
              <a:t>‹#›</a:t>
            </a:fld>
            <a:endParaRPr lang="en-US"/>
          </a:p>
        </p:txBody>
      </p:sp>
    </p:spTree>
    <p:extLst>
      <p:ext uri="{BB962C8B-B14F-4D97-AF65-F5344CB8AC3E}">
        <p14:creationId xmlns:p14="http://schemas.microsoft.com/office/powerpoint/2010/main" val="302846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6D99A-C2AE-4850-A443-DEDECD9DA199}" type="datetimeFigureOut">
              <a:rPr lang="en-US" smtClean="0"/>
              <a:t>12/9/2025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923C6-4E47-4BE4-9D29-DA2C97C36CBC}" type="slidenum">
              <a:rPr lang="en-US" smtClean="0"/>
              <a:t>‹#›</a:t>
            </a:fld>
            <a:endParaRPr lang="en-US"/>
          </a:p>
        </p:txBody>
      </p:sp>
    </p:spTree>
    <p:extLst>
      <p:ext uri="{BB962C8B-B14F-4D97-AF65-F5344CB8AC3E}">
        <p14:creationId xmlns:p14="http://schemas.microsoft.com/office/powerpoint/2010/main" val="18446897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0EF62-92B9-41ED-8F45-CB59EBDE4CD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Management Information Systems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(IS-311)</a:t>
            </a:r>
          </a:p>
        </p:txBody>
      </p:sp>
      <p:sp>
        <p:nvSpPr>
          <p:cNvPr id="3" name="Content Placeholder 2">
            <a:extLst>
              <a:ext uri="{FF2B5EF4-FFF2-40B4-BE49-F238E27FC236}">
                <a16:creationId xmlns:a16="http://schemas.microsoft.com/office/drawing/2014/main" id="{57FF54AF-FF01-4D41-A494-D762FFCFF112}"/>
              </a:ext>
            </a:extLst>
          </p:cNvPr>
          <p:cNvSpPr>
            <a:spLocks noGrp="1"/>
          </p:cNvSpPr>
          <p:nvPr>
            <p:ph idx="1"/>
          </p:nvPr>
        </p:nvSpPr>
        <p:spPr>
          <a:xfrm>
            <a:off x="838200" y="1825625"/>
            <a:ext cx="10515600" cy="3833053"/>
          </a:xfrm>
        </p:spPr>
        <p:txBody>
          <a:bodyPr/>
          <a:lstStyle/>
          <a:p>
            <a:pPr algn="just"/>
            <a:endParaRPr lang="en-US" dirty="0">
              <a:effectLst>
                <a:outerShdw blurRad="38100" dist="38100" dir="2700000" algn="tl">
                  <a:srgbClr val="000000">
                    <a:alpha val="43137"/>
                  </a:srgbClr>
                </a:outerShdw>
              </a:effectLst>
              <a:latin typeface="Adobe Caslon Pro Bold" panose="0205070206050A020403" pitchFamily="18" charset="0"/>
            </a:endParaRPr>
          </a:p>
          <a:p>
            <a:pPr algn="just"/>
            <a:r>
              <a:rPr lang="en-US" dirty="0">
                <a:effectLst>
                  <a:outerShdw blurRad="38100" dist="38100" dir="2700000" algn="tl">
                    <a:srgbClr val="000000">
                      <a:alpha val="43137"/>
                    </a:srgbClr>
                  </a:outerShdw>
                </a:effectLst>
                <a:latin typeface="Adobe Caslon Pro Bold" panose="0205070206050A020403" pitchFamily="18" charset="0"/>
              </a:rPr>
              <a:t>Text Books</a:t>
            </a:r>
          </a:p>
          <a:p>
            <a:pPr marL="0" indent="0" algn="just">
              <a:buNone/>
            </a:pPr>
            <a:r>
              <a:rPr lang="en-US" altLang="zh-TW" i="1" dirty="0">
                <a:latin typeface="Times New Roman" panose="02020603050405020304" pitchFamily="18" charset="0"/>
                <a:cs typeface="Times New Roman" panose="02020603050405020304" pitchFamily="18" charset="0"/>
              </a:rPr>
              <a:t>Source: Kenneth C. Laudon &amp; Jane P. Laudon (2012),  </a:t>
            </a:r>
          </a:p>
          <a:p>
            <a:pPr marL="0" indent="0" algn="just">
              <a:buNone/>
            </a:pPr>
            <a:r>
              <a:rPr lang="en-US" altLang="zh-TW" i="1" dirty="0">
                <a:latin typeface="Times New Roman" panose="02020603050405020304" pitchFamily="18" charset="0"/>
                <a:cs typeface="Times New Roman" panose="02020603050405020304" pitchFamily="18" charset="0"/>
              </a:rPr>
              <a:t>Management Information  Systems: Managing the Digital Firm, Twelfth Edition, Pearson.</a:t>
            </a:r>
            <a:endParaRPr lang="es-ES" altLang="zh-TW" i="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8662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27581" y="298564"/>
            <a:ext cx="6983897" cy="981916"/>
          </a:xfrm>
        </p:spPr>
        <p:txBody>
          <a:bodyPr>
            <a:normAutofit/>
          </a:bodyPr>
          <a:lstStyle/>
          <a:p>
            <a:r>
              <a:rPr lang="en-US" sz="4400" dirty="0">
                <a:latin typeface="Times New Roman" panose="02020603050405020304" pitchFamily="18" charset="0"/>
                <a:cs typeface="Times New Roman" panose="02020603050405020304" pitchFamily="18" charset="0"/>
              </a:rPr>
              <a:t>Chapter 1</a:t>
            </a:r>
          </a:p>
        </p:txBody>
      </p:sp>
      <p:sp>
        <p:nvSpPr>
          <p:cNvPr id="3" name="Subtitle 2"/>
          <p:cNvSpPr>
            <a:spLocks noGrp="1"/>
          </p:cNvSpPr>
          <p:nvPr>
            <p:ph type="subTitle" idx="1"/>
          </p:nvPr>
        </p:nvSpPr>
        <p:spPr>
          <a:xfrm>
            <a:off x="461682" y="1466010"/>
            <a:ext cx="11268635" cy="4403229"/>
          </a:xfrm>
        </p:spPr>
        <p:txBody>
          <a:bodyPr>
            <a:normAutofit/>
          </a:bodyPr>
          <a:lstStyle/>
          <a:p>
            <a:r>
              <a:rPr lang="en-US" sz="3200" dirty="0">
                <a:latin typeface="Times New Roman" panose="02020603050405020304" pitchFamily="18" charset="0"/>
                <a:cs typeface="Times New Roman" panose="02020603050405020304" pitchFamily="18" charset="0"/>
              </a:rPr>
              <a:t>Information System in Global Business Today</a:t>
            </a:r>
          </a:p>
          <a:p>
            <a:pPr algn="just"/>
            <a:r>
              <a:rPr lang="en-US" sz="2800" b="1" dirty="0">
                <a:latin typeface="Times New Roman" panose="02020603050405020304" pitchFamily="18" charset="0"/>
                <a:cs typeface="Times New Roman" panose="02020603050405020304" pitchFamily="18" charset="0"/>
              </a:rPr>
              <a:t>Outlines</a:t>
            </a:r>
            <a:endParaRPr lang="en-US" sz="2800"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1.1 The Role of Information Systems in Business Today</a:t>
            </a:r>
          </a:p>
          <a:p>
            <a:pPr algn="just"/>
            <a:r>
              <a:rPr lang="en-US" dirty="0">
                <a:latin typeface="Times New Roman" panose="02020603050405020304" pitchFamily="18" charset="0"/>
                <a:cs typeface="Times New Roman" panose="02020603050405020304" pitchFamily="18" charset="0"/>
              </a:rPr>
              <a:t>1.2 Perspectives on Information Systems</a:t>
            </a:r>
          </a:p>
          <a:p>
            <a:pPr algn="just"/>
            <a:r>
              <a:rPr lang="en-US" dirty="0">
                <a:latin typeface="Times New Roman" panose="02020603050405020304" pitchFamily="18" charset="0"/>
                <a:cs typeface="Times New Roman" panose="02020603050405020304" pitchFamily="18" charset="0"/>
              </a:rPr>
              <a:t>1.3Contemporary Approaches to Information Systems</a:t>
            </a:r>
          </a:p>
          <a:p>
            <a:pPr algn="just"/>
            <a:r>
              <a:rPr lang="en-US" dirty="0">
                <a:latin typeface="Times New Roman" panose="02020603050405020304" pitchFamily="18" charset="0"/>
                <a:cs typeface="Times New Roman" panose="02020603050405020304" pitchFamily="18" charset="0"/>
              </a:rPr>
              <a:t>1.4 Hands on MIS projects</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067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FD072-858D-401C-84F3-D0060E446E44}"/>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THE EMERGING DIGITAL FIRM</a:t>
            </a:r>
          </a:p>
        </p:txBody>
      </p:sp>
      <p:sp>
        <p:nvSpPr>
          <p:cNvPr id="3" name="Content Placeholder 2">
            <a:extLst>
              <a:ext uri="{FF2B5EF4-FFF2-40B4-BE49-F238E27FC236}">
                <a16:creationId xmlns:a16="http://schemas.microsoft.com/office/drawing/2014/main" id="{ABCA24D3-76C6-4049-A163-6465B6E8B480}"/>
              </a:ext>
            </a:extLst>
          </p:cNvPr>
          <p:cNvSpPr>
            <a:spLocks noGrp="1"/>
          </p:cNvSpPr>
          <p:nvPr>
            <p:ph idx="1"/>
          </p:nvPr>
        </p:nvSpPr>
        <p:spPr/>
        <p:txBody>
          <a:bodyPr/>
          <a:lstStyle/>
          <a:p>
            <a:pPr algn="just"/>
            <a:r>
              <a:rPr lang="en-US" b="1" dirty="0">
                <a:solidFill>
                  <a:srgbClr val="FF0000"/>
                </a:solidFill>
                <a:latin typeface="Times New Roman" panose="02020603050405020304" pitchFamily="18" charset="0"/>
                <a:cs typeface="Times New Roman" panose="02020603050405020304" pitchFamily="18" charset="0"/>
              </a:rPr>
              <a:t>A digital firm </a:t>
            </a:r>
            <a:r>
              <a:rPr lang="en-US" dirty="0">
                <a:solidFill>
                  <a:srgbClr val="FF0000"/>
                </a:solidFill>
                <a:latin typeface="Times New Roman" panose="02020603050405020304" pitchFamily="18" charset="0"/>
                <a:cs typeface="Times New Roman" panose="02020603050405020304" pitchFamily="18" charset="0"/>
              </a:rPr>
              <a:t>is one in which nearly all of the organization’s significant business relationships with customers, suppliers, and employees are digitally enabled and mediated.</a:t>
            </a:r>
            <a:r>
              <a:rPr lang="en-US" dirty="0">
                <a:latin typeface="Times New Roman" panose="02020603050405020304" pitchFamily="18" charset="0"/>
                <a:cs typeface="Times New Roman" panose="02020603050405020304" pitchFamily="18" charset="0"/>
              </a:rPr>
              <a:t>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solidFill>
                  <a:srgbClr val="FF0000"/>
                </a:solidFill>
                <a:latin typeface="Times New Roman" panose="02020603050405020304" pitchFamily="18" charset="0"/>
                <a:cs typeface="Times New Roman" panose="02020603050405020304" pitchFamily="18" charset="0"/>
              </a:rPr>
              <a:t>Core business processes are accomplished through digital networks spanning the entire organization or linking multiple organizations.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15458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B0AB0-0907-4F8D-92C6-149D6AAE7412}"/>
              </a:ext>
            </a:extLst>
          </p:cNvPr>
          <p:cNvSpPr>
            <a:spLocks noGrp="1"/>
          </p:cNvSpPr>
          <p:nvPr>
            <p:ph idx="1"/>
          </p:nvPr>
        </p:nvSpPr>
        <p:spPr>
          <a:xfrm>
            <a:off x="559905" y="659434"/>
            <a:ext cx="10515600" cy="5436565"/>
          </a:xfrm>
        </p:spPr>
        <p:txBody>
          <a:bodyPr>
            <a:normAutofit/>
          </a:bodyPr>
          <a:lstStyle/>
          <a:p>
            <a:pPr algn="just"/>
            <a:r>
              <a:rPr lang="en-US" b="1" dirty="0">
                <a:latin typeface="Times New Roman" panose="02020603050405020304" pitchFamily="18" charset="0"/>
                <a:cs typeface="Times New Roman" panose="02020603050405020304" pitchFamily="18" charset="0"/>
              </a:rPr>
              <a:t>Business processes </a:t>
            </a:r>
            <a:r>
              <a:rPr lang="en-US" dirty="0">
                <a:latin typeface="Times New Roman" panose="02020603050405020304" pitchFamily="18" charset="0"/>
                <a:cs typeface="Times New Roman" panose="02020603050405020304" pitchFamily="18" charset="0"/>
              </a:rPr>
              <a:t>: tasks and behaviors that organizations develop to produce specific business results.</a:t>
            </a:r>
          </a:p>
          <a:p>
            <a:pPr marL="0" indent="0" algn="just">
              <a:buNone/>
            </a:pPr>
            <a:r>
              <a:rPr lang="en-US" dirty="0">
                <a:latin typeface="Times New Roman" panose="02020603050405020304" pitchFamily="18" charset="0"/>
                <a:cs typeface="Times New Roman" panose="02020603050405020304" pitchFamily="18" charset="0"/>
              </a:rPr>
              <a:t>	e.g., </a:t>
            </a:r>
          </a:p>
          <a:p>
            <a:pPr lvl="1" algn="just">
              <a:lnSpc>
                <a:spcPct val="150000"/>
              </a:lnSpc>
            </a:pPr>
            <a:r>
              <a:rPr lang="en-US" dirty="0">
                <a:latin typeface="Times New Roman" panose="02020603050405020304" pitchFamily="18" charset="0"/>
                <a:cs typeface="Times New Roman" panose="02020603050405020304" pitchFamily="18" charset="0"/>
              </a:rPr>
              <a:t>Developing a new product,</a:t>
            </a:r>
          </a:p>
          <a:p>
            <a:pPr lvl="1" algn="just">
              <a:lnSpc>
                <a:spcPct val="150000"/>
              </a:lnSpc>
            </a:pPr>
            <a:r>
              <a:rPr lang="en-US" dirty="0">
                <a:latin typeface="Times New Roman" panose="02020603050405020304" pitchFamily="18" charset="0"/>
                <a:cs typeface="Times New Roman" panose="02020603050405020304" pitchFamily="18" charset="0"/>
              </a:rPr>
              <a:t>Generating and fulfilling an order, </a:t>
            </a:r>
          </a:p>
          <a:p>
            <a:pPr lvl="1" algn="just">
              <a:lnSpc>
                <a:spcPct val="150000"/>
              </a:lnSpc>
            </a:pPr>
            <a:r>
              <a:rPr lang="en-US" dirty="0">
                <a:latin typeface="Times New Roman" panose="02020603050405020304" pitchFamily="18" charset="0"/>
                <a:cs typeface="Times New Roman" panose="02020603050405020304" pitchFamily="18" charset="0"/>
              </a:rPr>
              <a:t>Creating a marketing plan, </a:t>
            </a:r>
          </a:p>
          <a:p>
            <a:pPr lvl="1" algn="just">
              <a:lnSpc>
                <a:spcPct val="150000"/>
              </a:lnSpc>
            </a:pPr>
            <a:r>
              <a:rPr lang="en-US" dirty="0">
                <a:latin typeface="Times New Roman" panose="02020603050405020304" pitchFamily="18" charset="0"/>
                <a:cs typeface="Times New Roman" panose="02020603050405020304" pitchFamily="18" charset="0"/>
              </a:rPr>
              <a:t> Hiring an employee</a:t>
            </a:r>
          </a:p>
          <a:p>
            <a:pPr lvl="1" algn="just">
              <a:lnSpc>
                <a:spcPct val="150000"/>
              </a:lnSpc>
            </a:pPr>
            <a:r>
              <a:rPr lang="en-US" dirty="0">
                <a:latin typeface="Times New Roman" panose="02020603050405020304" pitchFamily="18" charset="0"/>
                <a:cs typeface="Times New Roman" panose="02020603050405020304" pitchFamily="18" charset="0"/>
              </a:rPr>
              <a:t>The ways that are source of competitive strength</a:t>
            </a:r>
          </a:p>
          <a:p>
            <a:pPr lvl="1" algn="just">
              <a:lnSpc>
                <a:spcPct val="150000"/>
              </a:lnSpc>
            </a:pPr>
            <a:r>
              <a:rPr lang="en-US" dirty="0">
                <a:latin typeface="Times New Roman" panose="02020603050405020304" pitchFamily="18" charset="0"/>
                <a:cs typeface="Times New Roman" panose="02020603050405020304" pitchFamily="18" charset="0"/>
              </a:rPr>
              <a:t>Information required to support key business decisions. </a:t>
            </a:r>
          </a:p>
        </p:txBody>
      </p:sp>
    </p:spTree>
    <p:extLst>
      <p:ext uri="{BB962C8B-B14F-4D97-AF65-F5344CB8AC3E}">
        <p14:creationId xmlns:p14="http://schemas.microsoft.com/office/powerpoint/2010/main" val="171949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FE0E2-A387-4C4C-A049-8A3DCDE4009C}"/>
              </a:ext>
            </a:extLst>
          </p:cNvPr>
          <p:cNvSpPr>
            <a:spLocks noGrp="1"/>
          </p:cNvSpPr>
          <p:nvPr>
            <p:ph type="title"/>
          </p:nvPr>
        </p:nvSpPr>
        <p:spPr>
          <a:xfrm>
            <a:off x="278295" y="153090"/>
            <a:ext cx="11661913" cy="1026353"/>
          </a:xfrm>
        </p:spPr>
        <p:txBody>
          <a:bodyPr>
            <a:normAutofit fontScale="90000"/>
          </a:bodyPr>
          <a:lstStyle/>
          <a:p>
            <a:pPr algn="ctr"/>
            <a:r>
              <a:rPr lang="en-US" sz="3600" b="1" dirty="0">
                <a:latin typeface="Times New Roman" panose="02020603050405020304" pitchFamily="18" charset="0"/>
                <a:cs typeface="Times New Roman" panose="02020603050405020304" pitchFamily="18" charset="0"/>
              </a:rPr>
              <a:t>STRATEGIC BUSINESS OBJECTIVES OF INFORMATION SYSTEMS</a:t>
            </a:r>
          </a:p>
        </p:txBody>
      </p:sp>
      <p:sp>
        <p:nvSpPr>
          <p:cNvPr id="3" name="Content Placeholder 2">
            <a:extLst>
              <a:ext uri="{FF2B5EF4-FFF2-40B4-BE49-F238E27FC236}">
                <a16:creationId xmlns:a16="http://schemas.microsoft.com/office/drawing/2014/main" id="{77998B1F-EAEF-4935-B6B3-E8EDA5C8F5F7}"/>
              </a:ext>
            </a:extLst>
          </p:cNvPr>
          <p:cNvSpPr>
            <a:spLocks noGrp="1"/>
          </p:cNvSpPr>
          <p:nvPr>
            <p:ph idx="1"/>
          </p:nvPr>
        </p:nvSpPr>
        <p:spPr>
          <a:xfrm>
            <a:off x="742122" y="1683026"/>
            <a:ext cx="10611678" cy="4809849"/>
          </a:xfrm>
        </p:spPr>
        <p:txBody>
          <a:bodyPr>
            <a:normAutofit lnSpcReduction="10000"/>
          </a:bodyPr>
          <a:lstStyle/>
          <a:p>
            <a:r>
              <a:rPr lang="en-US" dirty="0">
                <a:latin typeface="Times New Roman" panose="02020603050405020304" pitchFamily="18" charset="0"/>
                <a:cs typeface="Times New Roman" panose="02020603050405020304" pitchFamily="18" charset="0"/>
              </a:rPr>
              <a:t>Business firms invest heavily in information systems to achieve six strategic business objectives: </a:t>
            </a:r>
          </a:p>
          <a:p>
            <a:pPr lvl="1" algn="just">
              <a:lnSpc>
                <a:spcPct val="150000"/>
              </a:lnSpc>
            </a:pPr>
            <a:r>
              <a:rPr lang="en-US" sz="2800" dirty="0">
                <a:latin typeface="Times New Roman" panose="02020603050405020304" pitchFamily="18" charset="0"/>
                <a:cs typeface="Times New Roman" panose="02020603050405020304" pitchFamily="18" charset="0"/>
              </a:rPr>
              <a:t>Operational excellence; </a:t>
            </a:r>
          </a:p>
          <a:p>
            <a:pPr lvl="1" algn="just">
              <a:lnSpc>
                <a:spcPct val="150000"/>
              </a:lnSpc>
            </a:pPr>
            <a:r>
              <a:rPr lang="en-US" sz="2800" dirty="0">
                <a:latin typeface="Times New Roman" panose="02020603050405020304" pitchFamily="18" charset="0"/>
                <a:cs typeface="Times New Roman" panose="02020603050405020304" pitchFamily="18" charset="0"/>
              </a:rPr>
              <a:t>New products, services, and business models; </a:t>
            </a:r>
          </a:p>
          <a:p>
            <a:pPr lvl="1" algn="just">
              <a:lnSpc>
                <a:spcPct val="150000"/>
              </a:lnSpc>
            </a:pPr>
            <a:r>
              <a:rPr lang="en-US" sz="2800" dirty="0">
                <a:latin typeface="Times New Roman" panose="02020603050405020304" pitchFamily="18" charset="0"/>
                <a:cs typeface="Times New Roman" panose="02020603050405020304" pitchFamily="18" charset="0"/>
              </a:rPr>
              <a:t>Customer and supplier intimacy;</a:t>
            </a:r>
          </a:p>
          <a:p>
            <a:pPr lvl="1" algn="just">
              <a:lnSpc>
                <a:spcPct val="150000"/>
              </a:lnSpc>
            </a:pPr>
            <a:r>
              <a:rPr lang="en-US" sz="2800" dirty="0">
                <a:latin typeface="Times New Roman" panose="02020603050405020304" pitchFamily="18" charset="0"/>
                <a:cs typeface="Times New Roman" panose="02020603050405020304" pitchFamily="18" charset="0"/>
              </a:rPr>
              <a:t>Improved decision making; </a:t>
            </a:r>
          </a:p>
          <a:p>
            <a:pPr lvl="1" algn="just">
              <a:lnSpc>
                <a:spcPct val="150000"/>
              </a:lnSpc>
            </a:pPr>
            <a:r>
              <a:rPr lang="en-US" sz="2800" dirty="0">
                <a:latin typeface="Times New Roman" panose="02020603050405020304" pitchFamily="18" charset="0"/>
                <a:cs typeface="Times New Roman" panose="02020603050405020304" pitchFamily="18" charset="0"/>
              </a:rPr>
              <a:t>Competitive advantage; </a:t>
            </a:r>
          </a:p>
          <a:p>
            <a:pPr lvl="1" algn="just">
              <a:lnSpc>
                <a:spcPct val="150000"/>
              </a:lnSpc>
            </a:pPr>
            <a:r>
              <a:rPr lang="en-US" sz="2800" dirty="0">
                <a:latin typeface="Times New Roman" panose="02020603050405020304" pitchFamily="18" charset="0"/>
                <a:cs typeface="Times New Roman" panose="02020603050405020304" pitchFamily="18" charset="0"/>
              </a:rPr>
              <a:t>Survival</a:t>
            </a:r>
          </a:p>
          <a:p>
            <a:pPr lvl="1"/>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73032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3E38-1DB1-4EFB-B1CF-BA07643352B4}"/>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Operational excellence</a:t>
            </a:r>
          </a:p>
        </p:txBody>
      </p:sp>
      <p:sp>
        <p:nvSpPr>
          <p:cNvPr id="3" name="Content Placeholder 2">
            <a:extLst>
              <a:ext uri="{FF2B5EF4-FFF2-40B4-BE49-F238E27FC236}">
                <a16:creationId xmlns:a16="http://schemas.microsoft.com/office/drawing/2014/main" id="{0550CF50-FBCA-4B31-AF14-137A02D74941}"/>
              </a:ext>
            </a:extLst>
          </p:cNvPr>
          <p:cNvSpPr>
            <a:spLocks noGrp="1"/>
          </p:cNvSpPr>
          <p:nvPr>
            <p:ph idx="1"/>
          </p:nvPr>
        </p:nvSpPr>
        <p:spPr>
          <a:xfrm>
            <a:off x="693821" y="1912811"/>
            <a:ext cx="10515600" cy="4351338"/>
          </a:xfrm>
        </p:spPr>
        <p:txBody>
          <a:bodyPr/>
          <a:lstStyle/>
          <a:p>
            <a:pPr algn="just"/>
            <a:r>
              <a:rPr lang="en-US" dirty="0">
                <a:latin typeface="Times New Roman" panose="02020603050405020304" pitchFamily="18" charset="0"/>
                <a:cs typeface="Times New Roman" panose="02020603050405020304" pitchFamily="18" charset="0"/>
              </a:rPr>
              <a:t>Businesses continuously seek to improve the efficiency of their operations in order to achieve higher profitability. </a:t>
            </a:r>
          </a:p>
          <a:p>
            <a:pPr algn="just"/>
            <a:r>
              <a:rPr lang="en-US" dirty="0">
                <a:latin typeface="Times New Roman" panose="02020603050405020304" pitchFamily="18" charset="0"/>
                <a:cs typeface="Times New Roman" panose="02020603050405020304" pitchFamily="18" charset="0"/>
              </a:rPr>
              <a:t>Information systems and technologies are some of the most important tools available to managers for achieving higher levels of efficiency and productivity in business operations.</a:t>
            </a:r>
          </a:p>
          <a:p>
            <a:pPr algn="just"/>
            <a:r>
              <a:rPr lang="en-US" b="1" dirty="0">
                <a:latin typeface="Times New Roman" panose="02020603050405020304" pitchFamily="18" charset="0"/>
                <a:cs typeface="Times New Roman" panose="02020603050405020304" pitchFamily="18" charset="0"/>
              </a:rPr>
              <a:t>Example: </a:t>
            </a:r>
            <a:r>
              <a:rPr lang="en-US" dirty="0">
                <a:latin typeface="Times New Roman" panose="02020603050405020304" pitchFamily="18" charset="0"/>
                <a:cs typeface="Times New Roman" panose="02020603050405020304" pitchFamily="18" charset="0"/>
              </a:rPr>
              <a:t>Retail Link system links suppliers to ship a replacement for a customer purchases  items in the stores.</a:t>
            </a:r>
          </a:p>
        </p:txBody>
      </p:sp>
    </p:spTree>
    <p:extLst>
      <p:ext uri="{BB962C8B-B14F-4D97-AF65-F5344CB8AC3E}">
        <p14:creationId xmlns:p14="http://schemas.microsoft.com/office/powerpoint/2010/main" val="2199328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1D190-4519-496E-BE5E-D0C032F9B9BA}"/>
              </a:ext>
            </a:extLst>
          </p:cNvPr>
          <p:cNvSpPr>
            <a:spLocks noGrp="1"/>
          </p:cNvSpPr>
          <p:nvPr>
            <p:ph type="title"/>
          </p:nvPr>
        </p:nvSpPr>
        <p:spPr/>
        <p:txBody>
          <a:bodyPr>
            <a:normAutofit/>
          </a:bodyPr>
          <a:lstStyle/>
          <a:p>
            <a:pPr algn="ctr"/>
            <a:r>
              <a:rPr lang="en-US" sz="3600" b="1" dirty="0">
                <a:latin typeface="Times New Roman" panose="02020603050405020304" pitchFamily="18" charset="0"/>
                <a:cs typeface="Times New Roman" panose="02020603050405020304" pitchFamily="18" charset="0"/>
              </a:rPr>
              <a:t>New Products, Services, and Business Models</a:t>
            </a:r>
          </a:p>
        </p:txBody>
      </p:sp>
      <p:sp>
        <p:nvSpPr>
          <p:cNvPr id="3" name="Content Placeholder 2">
            <a:extLst>
              <a:ext uri="{FF2B5EF4-FFF2-40B4-BE49-F238E27FC236}">
                <a16:creationId xmlns:a16="http://schemas.microsoft.com/office/drawing/2014/main" id="{A41730A7-68C1-4BBA-83B0-E35B80D6125D}"/>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A business model </a:t>
            </a:r>
            <a:r>
              <a:rPr lang="en-US" dirty="0">
                <a:latin typeface="Times New Roman" panose="02020603050405020304" pitchFamily="18" charset="0"/>
                <a:cs typeface="Times New Roman" panose="02020603050405020304" pitchFamily="18" charset="0"/>
              </a:rPr>
              <a:t>describes how a company produces, delivers, and sells a product or service to create wealth. </a:t>
            </a:r>
          </a:p>
          <a:p>
            <a:pPr algn="just"/>
            <a:r>
              <a:rPr lang="en-US" dirty="0">
                <a:latin typeface="Times New Roman" panose="02020603050405020304" pitchFamily="18" charset="0"/>
                <a:cs typeface="Times New Roman" panose="02020603050405020304" pitchFamily="18" charset="0"/>
              </a:rPr>
              <a:t>Information systems and technologies are a major enabling tool for firms to create new products and services.</a:t>
            </a:r>
          </a:p>
          <a:p>
            <a:pPr algn="just"/>
            <a:r>
              <a:rPr lang="en-US" dirty="0">
                <a:latin typeface="Times New Roman" panose="02020603050405020304" pitchFamily="18" charset="0"/>
                <a:cs typeface="Times New Roman" panose="02020603050405020304" pitchFamily="18" charset="0"/>
              </a:rPr>
              <a:t>Apple has prospered from a continuing stream of iPod innovations, including the iPod, the iTunes music service, the iPad, and the iPhone.</a:t>
            </a:r>
          </a:p>
        </p:txBody>
      </p:sp>
    </p:spTree>
    <p:extLst>
      <p:ext uri="{BB962C8B-B14F-4D97-AF65-F5344CB8AC3E}">
        <p14:creationId xmlns:p14="http://schemas.microsoft.com/office/powerpoint/2010/main" val="18774016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DB055-BE90-4614-9E95-DCAE819ACDF7}"/>
              </a:ext>
            </a:extLst>
          </p:cNvPr>
          <p:cNvSpPr>
            <a:spLocks noGrp="1"/>
          </p:cNvSpPr>
          <p:nvPr>
            <p:ph type="title"/>
          </p:nvPr>
        </p:nvSpPr>
        <p:spPr>
          <a:xfrm>
            <a:off x="838199" y="136318"/>
            <a:ext cx="10515600" cy="1003370"/>
          </a:xfrm>
        </p:spPr>
        <p:txBody>
          <a:bodyPr>
            <a:normAutofit/>
          </a:bodyPr>
          <a:lstStyle/>
          <a:p>
            <a:pPr algn="ctr"/>
            <a:r>
              <a:rPr lang="en-US" sz="3600" b="1" dirty="0">
                <a:latin typeface="Times New Roman" panose="02020603050405020304" pitchFamily="18" charset="0"/>
                <a:cs typeface="Times New Roman" panose="02020603050405020304" pitchFamily="18" charset="0"/>
              </a:rPr>
              <a:t>Customer and Supplier Intimacy</a:t>
            </a:r>
          </a:p>
        </p:txBody>
      </p:sp>
      <p:sp>
        <p:nvSpPr>
          <p:cNvPr id="3" name="Content Placeholder 2">
            <a:extLst>
              <a:ext uri="{FF2B5EF4-FFF2-40B4-BE49-F238E27FC236}">
                <a16:creationId xmlns:a16="http://schemas.microsoft.com/office/drawing/2014/main" id="{A2334E34-36F8-4274-BFE0-3D3BF7A1020B}"/>
              </a:ext>
            </a:extLst>
          </p:cNvPr>
          <p:cNvSpPr>
            <a:spLocks noGrp="1"/>
          </p:cNvSpPr>
          <p:nvPr>
            <p:ph idx="1"/>
          </p:nvPr>
        </p:nvSpPr>
        <p:spPr>
          <a:xfrm>
            <a:off x="718929" y="1242528"/>
            <a:ext cx="11009243" cy="5025059"/>
          </a:xfrm>
        </p:spPr>
        <p:txBody>
          <a:bodyPr>
            <a:normAutofit/>
          </a:bodyPr>
          <a:lstStyle/>
          <a:p>
            <a:pPr algn="just"/>
            <a:r>
              <a:rPr lang="en-US" dirty="0">
                <a:latin typeface="Times New Roman" panose="02020603050405020304" pitchFamily="18" charset="0"/>
                <a:cs typeface="Times New Roman" panose="02020603050405020304" pitchFamily="18" charset="0"/>
              </a:rPr>
              <a:t>When a business really knows its customers, and serves them well, the customers generally respond by returning and purchasing more. This raises revenues and profits. </a:t>
            </a:r>
          </a:p>
          <a:p>
            <a:pPr lvl="1" algn="just"/>
            <a:r>
              <a:rPr lang="en-US" altLang="en-US" dirty="0">
                <a:latin typeface="Times New Roman" panose="02020603050405020304" pitchFamily="18" charset="0"/>
                <a:cs typeface="Times New Roman" panose="02020603050405020304" pitchFamily="18" charset="0"/>
              </a:rPr>
              <a:t>E.g. High-end hotels that use computers to track customer preferences and use to monitor and customize environment</a:t>
            </a:r>
          </a:p>
          <a:p>
            <a:pPr marL="457200" lvl="1" indent="0">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Likewise with suppliers: the more a business engages its suppliers, the better the suppliers can provide vital inputs. This lowers costs. </a:t>
            </a:r>
          </a:p>
          <a:p>
            <a:pPr lvl="1" algn="just"/>
            <a:r>
              <a:rPr lang="en-US" altLang="en-US" dirty="0">
                <a:latin typeface="Times New Roman" panose="02020603050405020304" pitchFamily="18" charset="0"/>
                <a:cs typeface="Times New Roman" panose="02020603050405020304" pitchFamily="18" charset="0"/>
              </a:rPr>
              <a:t>E.g. </a:t>
            </a:r>
            <a:r>
              <a:rPr lang="en-US" altLang="en-US" dirty="0" err="1">
                <a:latin typeface="Times New Roman" panose="02020603050405020304" pitchFamily="18" charset="0"/>
                <a:cs typeface="Times New Roman" panose="02020603050405020304" pitchFamily="18" charset="0"/>
              </a:rPr>
              <a:t>J.C.Penney’s</a:t>
            </a:r>
            <a:r>
              <a:rPr lang="en-US" altLang="en-US" dirty="0">
                <a:latin typeface="Times New Roman" panose="02020603050405020304" pitchFamily="18" charset="0"/>
                <a:cs typeface="Times New Roman" panose="02020603050405020304" pitchFamily="18" charset="0"/>
              </a:rPr>
              <a:t> information system which links sales records to contract manufacturer</a:t>
            </a:r>
          </a:p>
          <a:p>
            <a:pPr algn="just"/>
            <a:r>
              <a:rPr lang="en-US" dirty="0">
                <a:latin typeface="Times New Roman" panose="02020603050405020304" pitchFamily="18" charset="0"/>
                <a:cs typeface="Times New Roman" panose="02020603050405020304" pitchFamily="18" charset="0"/>
              </a:rPr>
              <a:t>How to really know your customers, or suppliers, is a central problem for businesses with millions of offline and online customers. </a:t>
            </a:r>
          </a:p>
        </p:txBody>
      </p:sp>
    </p:spTree>
    <p:extLst>
      <p:ext uri="{BB962C8B-B14F-4D97-AF65-F5344CB8AC3E}">
        <p14:creationId xmlns:p14="http://schemas.microsoft.com/office/powerpoint/2010/main" val="243858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E80B5FD-A3B4-436E-B73F-42867EA06816}"/>
              </a:ext>
            </a:extLst>
          </p:cNvPr>
          <p:cNvSpPr>
            <a:spLocks noGrp="1"/>
          </p:cNvSpPr>
          <p:nvPr>
            <p:ph type="title"/>
          </p:nvPr>
        </p:nvSpPr>
        <p:spPr/>
        <p:txBody>
          <a:bodyPr/>
          <a:lstStyle/>
          <a:p>
            <a:pPr eaLnBrk="1" hangingPunct="1"/>
            <a:r>
              <a:rPr lang="en-US" altLang="en-US" dirty="0">
                <a:latin typeface="Times New Roman" panose="02020603050405020304" pitchFamily="18" charset="0"/>
                <a:cs typeface="Times New Roman" panose="02020603050405020304" pitchFamily="18" charset="0"/>
              </a:rPr>
              <a:t> Improved decision-making</a:t>
            </a:r>
          </a:p>
        </p:txBody>
      </p:sp>
      <p:sp>
        <p:nvSpPr>
          <p:cNvPr id="15363" name="Content Placeholder 2">
            <a:extLst>
              <a:ext uri="{FF2B5EF4-FFF2-40B4-BE49-F238E27FC236}">
                <a16:creationId xmlns:a16="http://schemas.microsoft.com/office/drawing/2014/main" id="{FAB338F2-DB01-44EA-B902-2071F36003E7}"/>
              </a:ext>
            </a:extLst>
          </p:cNvPr>
          <p:cNvSpPr>
            <a:spLocks noGrp="1"/>
          </p:cNvSpPr>
          <p:nvPr>
            <p:ph idx="1"/>
          </p:nvPr>
        </p:nvSpPr>
        <p:spPr/>
        <p:txBody>
          <a:bodyPr>
            <a:normAutofit/>
          </a:bodyPr>
          <a:lstStyle/>
          <a:p>
            <a:pPr lvl="1" algn="just" eaLnBrk="1" hangingPunct="1"/>
            <a:r>
              <a:rPr lang="en-US" altLang="en-US" dirty="0">
                <a:latin typeface="Times New Roman" panose="02020603050405020304" pitchFamily="18" charset="0"/>
                <a:cs typeface="Times New Roman" panose="02020603050405020304" pitchFamily="18" charset="0"/>
              </a:rPr>
              <a:t>Without accurate information:</a:t>
            </a:r>
          </a:p>
          <a:p>
            <a:pPr lvl="2" algn="just" eaLnBrk="1" hangingPunct="1"/>
            <a:r>
              <a:rPr lang="en-US" altLang="en-US" dirty="0">
                <a:latin typeface="Times New Roman" panose="02020603050405020304" pitchFamily="18" charset="0"/>
                <a:cs typeface="Times New Roman" panose="02020603050405020304" pitchFamily="18" charset="0"/>
              </a:rPr>
              <a:t>Managers must use forecasts, best guesses, luck</a:t>
            </a:r>
          </a:p>
          <a:p>
            <a:pPr lvl="2" algn="just" eaLnBrk="1" hangingPunct="1"/>
            <a:r>
              <a:rPr lang="en-US" altLang="en-US" dirty="0">
                <a:latin typeface="Times New Roman" panose="02020603050405020304" pitchFamily="18" charset="0"/>
                <a:cs typeface="Times New Roman" panose="02020603050405020304" pitchFamily="18" charset="0"/>
              </a:rPr>
              <a:t>Leads to:</a:t>
            </a:r>
          </a:p>
          <a:p>
            <a:pPr lvl="3" algn="just" eaLnBrk="1" hangingPunct="1"/>
            <a:r>
              <a:rPr lang="en-US" altLang="en-US" dirty="0">
                <a:latin typeface="Times New Roman" panose="02020603050405020304" pitchFamily="18" charset="0"/>
                <a:cs typeface="Times New Roman" panose="02020603050405020304" pitchFamily="18" charset="0"/>
              </a:rPr>
              <a:t>Overproduction, underproduction of goods and services</a:t>
            </a:r>
          </a:p>
          <a:p>
            <a:pPr lvl="3" algn="just" eaLnBrk="1" hangingPunct="1"/>
            <a:r>
              <a:rPr lang="en-US" altLang="en-US" dirty="0">
                <a:latin typeface="Times New Roman" panose="02020603050405020304" pitchFamily="18" charset="0"/>
                <a:cs typeface="Times New Roman" panose="02020603050405020304" pitchFamily="18" charset="0"/>
              </a:rPr>
              <a:t>Misallocation of resources</a:t>
            </a:r>
          </a:p>
          <a:p>
            <a:pPr lvl="3" algn="just" eaLnBrk="1" hangingPunct="1"/>
            <a:r>
              <a:rPr lang="en-US" altLang="en-US" dirty="0">
                <a:latin typeface="Times New Roman" panose="02020603050405020304" pitchFamily="18" charset="0"/>
                <a:cs typeface="Times New Roman" panose="02020603050405020304" pitchFamily="18" charset="0"/>
              </a:rPr>
              <a:t>Poor response times</a:t>
            </a:r>
          </a:p>
          <a:p>
            <a:pPr lvl="2" algn="just" eaLnBrk="1" hangingPunct="1"/>
            <a:r>
              <a:rPr lang="en-US" altLang="en-US" dirty="0">
                <a:latin typeface="Times New Roman" panose="02020603050405020304" pitchFamily="18" charset="0"/>
                <a:cs typeface="Times New Roman" panose="02020603050405020304" pitchFamily="18" charset="0"/>
              </a:rPr>
              <a:t>Poor outcomes raise costs, lose customers</a:t>
            </a:r>
          </a:p>
          <a:p>
            <a:pPr lvl="1" algn="just" eaLnBrk="1" hangingPunct="1"/>
            <a:r>
              <a:rPr lang="en-US" altLang="en-US" dirty="0">
                <a:latin typeface="Times New Roman" panose="02020603050405020304" pitchFamily="18" charset="0"/>
                <a:cs typeface="Times New Roman" panose="02020603050405020304" pitchFamily="18" charset="0"/>
              </a:rPr>
              <a:t>IS provide real-time data for making decisions </a:t>
            </a:r>
          </a:p>
          <a:p>
            <a:pPr lvl="1" algn="just" eaLnBrk="1" hangingPunct="1"/>
            <a:r>
              <a:rPr lang="en-US" altLang="en-US" dirty="0">
                <a:latin typeface="Times New Roman" panose="02020603050405020304" pitchFamily="18" charset="0"/>
                <a:cs typeface="Times New Roman" panose="02020603050405020304" pitchFamily="18" charset="0"/>
              </a:rPr>
              <a:t>E.g. Verizon’s Web-based digital dashboard to provide managers with real-time data on customer complaints, network performance, line outages, etc.</a:t>
            </a:r>
          </a:p>
          <a:p>
            <a:pPr lvl="1" algn="just"/>
            <a:r>
              <a:rPr lang="en-US" dirty="0">
                <a:latin typeface="Times New Roman" panose="02020603050405020304" pitchFamily="18" charset="0"/>
                <a:cs typeface="Times New Roman" panose="02020603050405020304" pitchFamily="18" charset="0"/>
              </a:rPr>
              <a:t>Using this information, managers can immediately allocate repair resources to affected areas, inform consumers of repair efforts, and restore service fast.</a:t>
            </a:r>
            <a:endParaRPr lang="en-US" altLang="en-US" dirty="0">
              <a:latin typeface="Times New Roman" panose="02020603050405020304" pitchFamily="18" charset="0"/>
              <a:cs typeface="Times New Roman" panose="02020603050405020304" pitchFamily="18" charset="0"/>
            </a:endParaRPr>
          </a:p>
          <a:p>
            <a:pPr eaLnBrk="1" hangingPunct="1">
              <a:buFont typeface="Arial" panose="020B0604020202020204" pitchFamily="34" charset="0"/>
              <a:buNone/>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F1329E8C-055A-4470-8F21-B1B645C0AE5A}"/>
              </a:ext>
            </a:extLst>
          </p:cNvPr>
          <p:cNvSpPr>
            <a:spLocks noGrp="1"/>
          </p:cNvSpPr>
          <p:nvPr>
            <p:ph type="title"/>
          </p:nvPr>
        </p:nvSpPr>
        <p:spPr/>
        <p:txBody>
          <a:bodyPr/>
          <a:lstStyle/>
          <a:p>
            <a:pPr algn="ctr" eaLnBrk="1" hangingPunct="1"/>
            <a:r>
              <a:rPr lang="en-US" altLang="en-US" dirty="0">
                <a:latin typeface="Times New Roman" panose="02020603050405020304" pitchFamily="18" charset="0"/>
                <a:cs typeface="Times New Roman" panose="02020603050405020304" pitchFamily="18" charset="0"/>
              </a:rPr>
              <a:t> Competitive advantage</a:t>
            </a:r>
          </a:p>
        </p:txBody>
      </p:sp>
      <p:sp>
        <p:nvSpPr>
          <p:cNvPr id="16387" name="Content Placeholder 2">
            <a:extLst>
              <a:ext uri="{FF2B5EF4-FFF2-40B4-BE49-F238E27FC236}">
                <a16:creationId xmlns:a16="http://schemas.microsoft.com/office/drawing/2014/main" id="{77389475-8872-46A3-AD02-29A93852050C}"/>
              </a:ext>
            </a:extLst>
          </p:cNvPr>
          <p:cNvSpPr>
            <a:spLocks noGrp="1"/>
          </p:cNvSpPr>
          <p:nvPr>
            <p:ph idx="1"/>
          </p:nvPr>
        </p:nvSpPr>
        <p:spPr/>
        <p:txBody>
          <a:bodyPr/>
          <a:lstStyle/>
          <a:p>
            <a:pPr lvl="1" algn="just"/>
            <a:r>
              <a:rPr lang="en-US" dirty="0">
                <a:latin typeface="Times New Roman" panose="02020603050405020304" pitchFamily="18" charset="0"/>
                <a:cs typeface="Times New Roman" panose="02020603050405020304" pitchFamily="18" charset="0"/>
              </a:rPr>
              <a:t>When firms achieve one or more of these business objectives—operational excellence; new products, services, and business models; customer/supplier intimacy; and improved decision making—chances are they have already achieved a competitive advantage.</a:t>
            </a:r>
          </a:p>
          <a:p>
            <a:pPr lvl="1" algn="just"/>
            <a:endParaRPr lang="en-US" dirty="0">
              <a:latin typeface="Times New Roman" panose="02020603050405020304" pitchFamily="18" charset="0"/>
              <a:cs typeface="Times New Roman" panose="02020603050405020304" pitchFamily="18" charset="0"/>
            </a:endParaRPr>
          </a:p>
          <a:p>
            <a:pPr lvl="1" algn="just"/>
            <a:r>
              <a:rPr lang="en-US" dirty="0">
                <a:latin typeface="Times New Roman" panose="02020603050405020304" pitchFamily="18" charset="0"/>
                <a:cs typeface="Times New Roman" panose="02020603050405020304" pitchFamily="18" charset="0"/>
              </a:rPr>
              <a:t>Doing things better than your competitors, charging less for superior products, and responding to customers and suppliers in real time all add up to higher sales and higher profits that your competitors cannot match.</a:t>
            </a:r>
            <a:endParaRPr lang="en-US" altLang="en-US" dirty="0">
              <a:latin typeface="Times New Roman" panose="02020603050405020304" pitchFamily="18" charset="0"/>
              <a:cs typeface="Times New Roman" panose="02020603050405020304" pitchFamily="18" charset="0"/>
            </a:endParaRPr>
          </a:p>
          <a:p>
            <a:pPr marL="0" indent="0" eaLnBrk="1" hangingPunct="1">
              <a:buNone/>
            </a:pP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8F9FE42-A5D2-415F-B67D-A190A1F864E2}"/>
              </a:ext>
            </a:extLst>
          </p:cNvPr>
          <p:cNvSpPr>
            <a:spLocks noGrp="1"/>
          </p:cNvSpPr>
          <p:nvPr>
            <p:ph type="title"/>
          </p:nvPr>
        </p:nvSpPr>
        <p:spPr/>
        <p:txBody>
          <a:bodyPr/>
          <a:lstStyle/>
          <a:p>
            <a:pPr algn="ctr" eaLnBrk="1" hangingPunct="1"/>
            <a:r>
              <a:rPr lang="en-US" altLang="en-US" dirty="0">
                <a:latin typeface="Times New Roman" panose="02020603050405020304" pitchFamily="18" charset="0"/>
                <a:cs typeface="Times New Roman" panose="02020603050405020304" pitchFamily="18" charset="0"/>
              </a:rPr>
              <a:t> Survival</a:t>
            </a:r>
          </a:p>
        </p:txBody>
      </p:sp>
      <p:sp>
        <p:nvSpPr>
          <p:cNvPr id="17411" name="Content Placeholder 2">
            <a:extLst>
              <a:ext uri="{FF2B5EF4-FFF2-40B4-BE49-F238E27FC236}">
                <a16:creationId xmlns:a16="http://schemas.microsoft.com/office/drawing/2014/main" id="{2B0DB14A-56CF-4272-9406-C912FB621CB0}"/>
              </a:ext>
            </a:extLst>
          </p:cNvPr>
          <p:cNvSpPr>
            <a:spLocks noGrp="1"/>
          </p:cNvSpPr>
          <p:nvPr>
            <p:ph idx="1"/>
          </p:nvPr>
        </p:nvSpPr>
        <p:spPr>
          <a:xfrm>
            <a:off x="649358" y="1690688"/>
            <a:ext cx="10813772" cy="4259538"/>
          </a:xfrm>
        </p:spPr>
        <p:txBody>
          <a:bodyPr>
            <a:normAutofit/>
          </a:bodyPr>
          <a:lstStyle/>
          <a:p>
            <a:pPr algn="just"/>
            <a:r>
              <a:rPr lang="en-US" dirty="0">
                <a:latin typeface="Times New Roman" panose="02020603050405020304" pitchFamily="18" charset="0"/>
                <a:cs typeface="Times New Roman" panose="02020603050405020304" pitchFamily="18" charset="0"/>
              </a:rPr>
              <a:t>Business firms invest in information systems and technologies because they are necessities of doing business. </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Sometimes these “necessities” are driven by industry-level changes. </a:t>
            </a:r>
          </a:p>
          <a:p>
            <a:pPr lvl="1" algn="just"/>
            <a:r>
              <a:rPr lang="en-US" dirty="0">
                <a:latin typeface="Times New Roman" panose="02020603050405020304" pitchFamily="18" charset="0"/>
                <a:cs typeface="Times New Roman" panose="02020603050405020304" pitchFamily="18" charset="0"/>
              </a:rPr>
              <a:t>E.g. Automated Teller Machines (ATMs) which attracts customers through higher service levels.</a:t>
            </a:r>
          </a:p>
          <a:p>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3109</TotalTime>
  <Words>706</Words>
  <Application>Microsoft Office PowerPoint</Application>
  <PresentationFormat>Widescreen</PresentationFormat>
  <Paragraphs>67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Adobe Caslon Pro Bold</vt:lpstr>
      <vt:lpstr>Arial</vt:lpstr>
      <vt:lpstr>Calibri</vt:lpstr>
      <vt:lpstr>Calibri Light</vt:lpstr>
      <vt:lpstr>Times New Roman</vt:lpstr>
      <vt:lpstr>Office Theme</vt:lpstr>
      <vt:lpstr>Management Information Systems  (IS-311)</vt:lpstr>
      <vt:lpstr>Chapter 1</vt:lpstr>
      <vt:lpstr>THE EMERGING DIGITAL FIRM</vt:lpstr>
      <vt:lpstr>PowerPoint Presentation</vt:lpstr>
      <vt:lpstr>STRATEGIC BUSINESS OBJECTIVES OF INFORMATION SYSTEMS</vt:lpstr>
      <vt:lpstr>Operational excellence</vt:lpstr>
      <vt:lpstr>New Products, Services, and Business Models</vt:lpstr>
      <vt:lpstr>Customer and Supplier Intimacy</vt:lpstr>
      <vt:lpstr> Improved decision-making</vt:lpstr>
      <vt:lpstr> Competitive advantage</vt:lpstr>
      <vt:lpstr> Survival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DELL</dc:creator>
  <cp:lastModifiedBy>USER</cp:lastModifiedBy>
  <cp:revision>53</cp:revision>
  <dcterms:created xsi:type="dcterms:W3CDTF">2024-06-03T03:26:12Z</dcterms:created>
  <dcterms:modified xsi:type="dcterms:W3CDTF">2025-12-09T01:51:59Z</dcterms:modified>
</cp:coreProperties>
</file>